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5561" autoAdjust="0"/>
  </p:normalViewPr>
  <p:slideViewPr>
    <p:cSldViewPr snapToGrid="0" snapToObjects="1">
      <p:cViewPr varScale="1">
        <p:scale>
          <a:sx n="79" d="100"/>
          <a:sy n="79" d="100"/>
        </p:scale>
        <p:origin x="81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08983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Facilitator opening: Set the expectation that this is not a product-training session. It is a sales judgment session built around a realistic automation opportunity.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minutes. Keep this brief. The main course value is in the scenario and decision points, not a long objective slide. The outcome row is a static agenda, not an interactive control.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4 minutes. Let learners vote. Do not reveal the best answer immediately. Ask: If we quote immediately, what have we made ourselves comparable 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4 minutes. Ask learners which overlooked component creates the most project risk in their experience. Emphasize total automation scope, not just robot specs.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4 minutes. The point is not “never discuss features.” It is “earn the right to discuss features after the business problem is clear.”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Introduce this as the static structure for the rest of the session. Do not present the stage markers as buttons or progress states.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5 minutes. Frame Challenger-style teaching as helping the customer see hidden decision risks. In this scenario, teach that robot price is only one part of total cell economics, and that tooling choices such as magnet versus finger grippers can change changeover time, supportability, and downstream cost.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5 minutes. Give individuals 60 seconds to rewrite. Pair-share for 90 seconds. Debrief two examples.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4 minutes. Draw the distinction between “what payload do you need?” and “what production target are you missing, and when does the process fall behind?”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4 minutes. Ask learners which category sales teams tend to over-index on and which gets missed.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5 minutes. Have tables rank the five questions. Debrief: discovery is not only question quality, it is question order.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5 minutes. Ask learners which metric they would validate first. Discuss why cycle time alone may not capture shift-change waiting, downtime, quality, or support risk.</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4 minutes. This layout uses equal-width cards so the stakeholder categories align visually. Tailoring changes the message, not the underlying facts.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4 minutes. The five numbers are aligned to equal columns and are not interactive. Stress that a proposal before validation often creates scope churn, discount pressure, and stalled opportunities.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5 minutes. This is not a workbook slide. Ask learners to draft or speak their response, then compare against the model answer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minutes. Reveal this after learners share. Use it as a model, not a script they must memorize.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Close by tying the training back to customer trust and differentiated selling.</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can remain as a facilitator appendix or be removed when exporting a learner-facing version.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rgbClr val="0F172A"/>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slide" Target="slide1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mnt/data/a_wide_industrial_factory_automation_scene_inside_batch_1.png"/>
          <p:cNvPicPr>
            <a:picLocks noChangeAspect="1"/>
          </p:cNvPicPr>
          <p:nvPr/>
        </p:nvPicPr>
        <p:blipFill>
          <a:blip r:embed="rId3"/>
          <a:srcRect t="25" b="25"/>
          <a:stretch/>
        </p:blipFill>
        <p:spPr>
          <a:xfrm>
            <a:off x="0" y="0"/>
            <a:ext cx="12191695" cy="6858000"/>
          </a:xfrm>
          <a:prstGeom prst="rect">
            <a:avLst/>
          </a:prstGeom>
        </p:spPr>
      </p:pic>
      <p:sp>
        <p:nvSpPr>
          <p:cNvPr id="3" name="Shape 0"/>
          <p:cNvSpPr/>
          <p:nvPr/>
        </p:nvSpPr>
        <p:spPr>
          <a:xfrm>
            <a:off x="0" y="0"/>
            <a:ext cx="7071183" cy="6858000"/>
          </a:xfrm>
          <a:prstGeom prst="rect">
            <a:avLst/>
          </a:prstGeom>
          <a:solidFill>
            <a:srgbClr val="0F172A">
              <a:alpha val="95000"/>
            </a:srgbClr>
          </a:solidFill>
          <a:ln w="12700">
            <a:solidFill>
              <a:srgbClr val="0F172A">
                <a:alpha val="0"/>
              </a:srgbClr>
            </a:solidFill>
            <a:prstDash val="solid"/>
          </a:ln>
        </p:spPr>
        <p:txBody>
          <a:bodyPr/>
          <a:lstStyle/>
          <a:p>
            <a:endParaRPr lang="en-US"/>
          </a:p>
        </p:txBody>
      </p:sp>
      <p:sp>
        <p:nvSpPr>
          <p:cNvPr id="4" name="Text 1"/>
          <p:cNvSpPr/>
          <p:nvPr/>
        </p:nvSpPr>
        <p:spPr>
          <a:xfrm>
            <a:off x="713232" y="594360"/>
            <a:ext cx="3108960" cy="310896"/>
          </a:xfrm>
          <a:prstGeom prst="rect">
            <a:avLst/>
          </a:prstGeom>
          <a:solidFill>
            <a:srgbClr val="F97316"/>
          </a:solidFill>
          <a:ln>
            <a:solidFill>
              <a:srgbClr val="F97316"/>
            </a:solidFill>
          </a:ln>
        </p:spPr>
        <p:txBody>
          <a:bodyPr wrap="square" lIns="254" tIns="254" rIns="254" bIns="254" rtlCol="0" anchor="ctr"/>
          <a:lstStyle/>
          <a:p>
            <a:pPr marL="0" indent="0" algn="ctr">
              <a:buNone/>
            </a:pPr>
            <a:r>
              <a:rPr lang="en-US" sz="1050" b="1" dirty="0">
                <a:solidFill>
                  <a:srgbClr val="FFFFFF"/>
                </a:solidFill>
                <a:latin typeface="Aptos" pitchFamily="34" charset="0"/>
                <a:ea typeface="Aptos" pitchFamily="34" charset="-122"/>
                <a:cs typeface="Aptos" pitchFamily="34" charset="-120"/>
              </a:rPr>
              <a:t>45-MINUTE INSTRUCTOR-LED TRAINING</a:t>
            </a:r>
            <a:endParaRPr lang="en-US" sz="1050" dirty="0"/>
          </a:p>
        </p:txBody>
      </p:sp>
      <p:sp>
        <p:nvSpPr>
          <p:cNvPr id="5" name="Text 2"/>
          <p:cNvSpPr/>
          <p:nvPr/>
        </p:nvSpPr>
        <p:spPr>
          <a:xfrm>
            <a:off x="685800" y="1325880"/>
            <a:ext cx="5486400" cy="566928"/>
          </a:xfrm>
          <a:prstGeom prst="rect">
            <a:avLst/>
          </a:prstGeom>
          <a:noFill/>
          <a:ln/>
        </p:spPr>
        <p:txBody>
          <a:bodyPr wrap="square" lIns="127" tIns="127" rIns="127" bIns="127" rtlCol="0" anchor="ctr"/>
          <a:lstStyle/>
          <a:p>
            <a:pPr marL="0" indent="0">
              <a:buNone/>
            </a:pPr>
            <a:r>
              <a:rPr lang="en-US" sz="4200" b="1" dirty="0">
                <a:solidFill>
                  <a:srgbClr val="FFFFFF"/>
                </a:solidFill>
                <a:latin typeface="Aptos Display" pitchFamily="34" charset="0"/>
                <a:ea typeface="Aptos Display" pitchFamily="34" charset="-122"/>
                <a:cs typeface="Aptos Display" pitchFamily="34" charset="-120"/>
              </a:rPr>
              <a:t>Beyond the Robot</a:t>
            </a:r>
            <a:endParaRPr lang="en-US" sz="4200" dirty="0"/>
          </a:p>
        </p:txBody>
      </p:sp>
      <p:sp>
        <p:nvSpPr>
          <p:cNvPr id="6" name="Text 3"/>
          <p:cNvSpPr/>
          <p:nvPr/>
        </p:nvSpPr>
        <p:spPr>
          <a:xfrm>
            <a:off x="713232" y="1993392"/>
            <a:ext cx="5120640" cy="329184"/>
          </a:xfrm>
          <a:prstGeom prst="rect">
            <a:avLst/>
          </a:prstGeom>
          <a:noFill/>
          <a:ln/>
        </p:spPr>
        <p:txBody>
          <a:bodyPr wrap="square" lIns="254" tIns="254" rIns="254" bIns="254" rtlCol="0" anchor="ctr"/>
          <a:lstStyle/>
          <a:p>
            <a:pPr marL="0" indent="0">
              <a:buNone/>
            </a:pPr>
            <a:r>
              <a:rPr lang="en-US" sz="1800" dirty="0">
                <a:solidFill>
                  <a:srgbClr val="CBD5E1"/>
                </a:solidFill>
                <a:latin typeface="Aptos" pitchFamily="34" charset="0"/>
                <a:ea typeface="Aptos" pitchFamily="34" charset="-122"/>
                <a:cs typeface="Aptos" pitchFamily="34" charset="-120"/>
              </a:rPr>
              <a:t>Selling industrial automation as a business outcome</a:t>
            </a:r>
            <a:endParaRPr lang="en-US" sz="1800" dirty="0"/>
          </a:p>
        </p:txBody>
      </p:sp>
      <p:sp>
        <p:nvSpPr>
          <p:cNvPr id="7" name="Shape 4"/>
          <p:cNvSpPr/>
          <p:nvPr/>
        </p:nvSpPr>
        <p:spPr>
          <a:xfrm>
            <a:off x="713232" y="2514600"/>
            <a:ext cx="1143000" cy="82296"/>
          </a:xfrm>
          <a:prstGeom prst="rect">
            <a:avLst/>
          </a:prstGeom>
          <a:solidFill>
            <a:srgbClr val="F97316"/>
          </a:solidFill>
          <a:ln w="12700">
            <a:solidFill>
              <a:srgbClr val="F97316"/>
            </a:solidFill>
            <a:prstDash val="solid"/>
          </a:ln>
        </p:spPr>
        <p:txBody>
          <a:bodyPr/>
          <a:lstStyle/>
          <a:p>
            <a:endParaRPr lang="en-US"/>
          </a:p>
        </p:txBody>
      </p:sp>
      <p:sp>
        <p:nvSpPr>
          <p:cNvPr id="8" name="Text 5"/>
          <p:cNvSpPr/>
          <p:nvPr/>
        </p:nvSpPr>
        <p:spPr>
          <a:xfrm>
            <a:off x="713232" y="5989320"/>
            <a:ext cx="4937760" cy="256032"/>
          </a:xfrm>
          <a:prstGeom prst="rect">
            <a:avLst/>
          </a:prstGeom>
          <a:noFill/>
          <a:ln/>
        </p:spPr>
        <p:txBody>
          <a:bodyPr wrap="square" lIns="254" tIns="254" rIns="254" bIns="254" rtlCol="0" anchor="ctr"/>
          <a:lstStyle/>
          <a:p>
            <a:pPr marL="0" indent="0">
              <a:buNone/>
            </a:pPr>
            <a:r>
              <a:rPr lang="en-US" sz="1100" dirty="0">
                <a:solidFill>
                  <a:srgbClr val="94A3B8"/>
                </a:solidFill>
                <a:latin typeface="Aptos" pitchFamily="34" charset="0"/>
                <a:ea typeface="Aptos" pitchFamily="34" charset="-122"/>
                <a:cs typeface="Aptos" pitchFamily="34" charset="-120"/>
              </a:rPr>
              <a:t>Original course concept informed by Challenger and solution-selling principles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822960" y="594360"/>
            <a:ext cx="5120640" cy="411480"/>
          </a:xfrm>
          <a:prstGeom prst="rect">
            <a:avLst/>
          </a:prstGeom>
          <a:noFill/>
        </p:spPr>
        <p:txBody>
          <a:bodyPr wrap="square" anchor="t">
            <a:spAutoFit/>
          </a:bodyPr>
          <a:lstStyle/>
          <a:p>
            <a:pPr algn="l"/>
            <a:r>
              <a:rPr sz="2500" b="1">
                <a:solidFill>
                  <a:srgbClr val="111827"/>
                </a:solidFill>
                <a:latin typeface="Arial"/>
              </a:rPr>
              <a:t>Session outcomes</a:t>
            </a:r>
          </a:p>
        </p:txBody>
      </p:sp>
      <p:sp>
        <p:nvSpPr>
          <p:cNvPr id="3" name="TextBox 2"/>
          <p:cNvSpPr txBox="1"/>
          <p:nvPr/>
        </p:nvSpPr>
        <p:spPr>
          <a:xfrm>
            <a:off x="822960" y="1097280"/>
            <a:ext cx="7772400" cy="320040"/>
          </a:xfrm>
          <a:prstGeom prst="rect">
            <a:avLst/>
          </a:prstGeom>
          <a:noFill/>
        </p:spPr>
        <p:txBody>
          <a:bodyPr wrap="square" anchor="t">
            <a:spAutoFit/>
          </a:bodyPr>
          <a:lstStyle/>
          <a:p>
            <a:pPr algn="l"/>
            <a:r>
              <a:rPr sz="1150" b="0">
                <a:solidFill>
                  <a:srgbClr val="4A5568"/>
                </a:solidFill>
                <a:latin typeface="Arial"/>
              </a:rPr>
              <a:t>Keep this opening brief. The real value comes from applying the model to one realistic automation sales scenario.</a:t>
            </a:r>
          </a:p>
        </p:txBody>
      </p:sp>
      <p:sp>
        <p:nvSpPr>
          <p:cNvPr id="4" name="Rectangle 3"/>
          <p:cNvSpPr/>
          <p:nvPr/>
        </p:nvSpPr>
        <p:spPr>
          <a:xfrm>
            <a:off x="822960" y="1417320"/>
            <a:ext cx="457200" cy="54864"/>
          </a:xfrm>
          <a:prstGeom prst="rect">
            <a:avLst/>
          </a:prstGeom>
          <a:solidFill>
            <a:srgbClr val="EA78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822960" y="1965960"/>
            <a:ext cx="3301898" cy="1554480"/>
          </a:xfrm>
          <a:prstGeom prst="roundRect">
            <a:avLst/>
          </a:prstGeom>
          <a:solidFill>
            <a:srgbClr val="F3F4F6"/>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24128" y="2130552"/>
            <a:ext cx="2899562" cy="292608"/>
          </a:xfrm>
          <a:prstGeom prst="rect">
            <a:avLst/>
          </a:prstGeom>
          <a:noFill/>
        </p:spPr>
        <p:txBody>
          <a:bodyPr wrap="square" anchor="t">
            <a:spAutoFit/>
          </a:bodyPr>
          <a:lstStyle/>
          <a:p>
            <a:pPr algn="l"/>
            <a:r>
              <a:rPr sz="1600" b="1">
                <a:solidFill>
                  <a:srgbClr val="111827"/>
                </a:solidFill>
                <a:latin typeface="Arial"/>
              </a:rPr>
              <a:t>Mindset</a:t>
            </a:r>
          </a:p>
        </p:txBody>
      </p:sp>
      <p:sp>
        <p:nvSpPr>
          <p:cNvPr id="7" name="TextBox 6"/>
          <p:cNvSpPr txBox="1"/>
          <p:nvPr/>
        </p:nvSpPr>
        <p:spPr>
          <a:xfrm>
            <a:off x="1024128" y="2532888"/>
            <a:ext cx="2899562" cy="685800"/>
          </a:xfrm>
          <a:prstGeom prst="rect">
            <a:avLst/>
          </a:prstGeom>
          <a:noFill/>
        </p:spPr>
        <p:txBody>
          <a:bodyPr wrap="square" anchor="t">
            <a:spAutoFit/>
          </a:bodyPr>
          <a:lstStyle/>
          <a:p>
            <a:pPr algn="l"/>
            <a:r>
              <a:rPr sz="1150" b="0">
                <a:solidFill>
                  <a:srgbClr val="4A5568"/>
                </a:solidFill>
                <a:latin typeface="Arial"/>
              </a:rPr>
              <a:t>Move from a robot request to the business problem underneath it.</a:t>
            </a:r>
          </a:p>
        </p:txBody>
      </p:sp>
      <p:sp>
        <p:nvSpPr>
          <p:cNvPr id="8" name="Rounded Rectangle 7"/>
          <p:cNvSpPr/>
          <p:nvPr/>
        </p:nvSpPr>
        <p:spPr>
          <a:xfrm>
            <a:off x="4444898" y="1965960"/>
            <a:ext cx="3301898" cy="1554480"/>
          </a:xfrm>
          <a:prstGeom prst="roundRect">
            <a:avLst/>
          </a:prstGeom>
          <a:solidFill>
            <a:srgbClr val="F3F4F6"/>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646066" y="2130552"/>
            <a:ext cx="2899562" cy="292608"/>
          </a:xfrm>
          <a:prstGeom prst="rect">
            <a:avLst/>
          </a:prstGeom>
          <a:noFill/>
        </p:spPr>
        <p:txBody>
          <a:bodyPr wrap="square" anchor="t">
            <a:spAutoFit/>
          </a:bodyPr>
          <a:lstStyle/>
          <a:p>
            <a:pPr algn="l"/>
            <a:r>
              <a:rPr sz="1600" b="1">
                <a:solidFill>
                  <a:srgbClr val="111827"/>
                </a:solidFill>
                <a:latin typeface="Arial"/>
              </a:rPr>
              <a:t>Method</a:t>
            </a:r>
          </a:p>
        </p:txBody>
      </p:sp>
      <p:sp>
        <p:nvSpPr>
          <p:cNvPr id="10" name="TextBox 9"/>
          <p:cNvSpPr txBox="1"/>
          <p:nvPr/>
        </p:nvSpPr>
        <p:spPr>
          <a:xfrm>
            <a:off x="4646066" y="2532888"/>
            <a:ext cx="2899562" cy="685800"/>
          </a:xfrm>
          <a:prstGeom prst="rect">
            <a:avLst/>
          </a:prstGeom>
          <a:noFill/>
        </p:spPr>
        <p:txBody>
          <a:bodyPr wrap="square" anchor="t">
            <a:spAutoFit/>
          </a:bodyPr>
          <a:lstStyle/>
          <a:p>
            <a:pPr algn="l"/>
            <a:r>
              <a:rPr sz="1150" b="0">
                <a:solidFill>
                  <a:srgbClr val="4A5568"/>
                </a:solidFill>
                <a:latin typeface="Arial"/>
              </a:rPr>
              <a:t>Use the Insight-to-Impact model to reframe, diagnose, quantify, tailor, and advance.</a:t>
            </a:r>
          </a:p>
        </p:txBody>
      </p:sp>
      <p:sp>
        <p:nvSpPr>
          <p:cNvPr id="11" name="Rounded Rectangle 10"/>
          <p:cNvSpPr/>
          <p:nvPr/>
        </p:nvSpPr>
        <p:spPr>
          <a:xfrm>
            <a:off x="8066836" y="1965960"/>
            <a:ext cx="3301898" cy="1554480"/>
          </a:xfrm>
          <a:prstGeom prst="roundRect">
            <a:avLst/>
          </a:prstGeom>
          <a:solidFill>
            <a:srgbClr val="F3F4F6"/>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68004" y="2130552"/>
            <a:ext cx="2899562" cy="292608"/>
          </a:xfrm>
          <a:prstGeom prst="rect">
            <a:avLst/>
          </a:prstGeom>
          <a:noFill/>
        </p:spPr>
        <p:txBody>
          <a:bodyPr wrap="square" anchor="t">
            <a:spAutoFit/>
          </a:bodyPr>
          <a:lstStyle/>
          <a:p>
            <a:pPr algn="l"/>
            <a:r>
              <a:rPr sz="1600" b="1">
                <a:solidFill>
                  <a:srgbClr val="111827"/>
                </a:solidFill>
                <a:latin typeface="Arial"/>
              </a:rPr>
              <a:t>Application</a:t>
            </a:r>
          </a:p>
        </p:txBody>
      </p:sp>
      <p:sp>
        <p:nvSpPr>
          <p:cNvPr id="13" name="TextBox 12"/>
          <p:cNvSpPr txBox="1"/>
          <p:nvPr/>
        </p:nvSpPr>
        <p:spPr>
          <a:xfrm>
            <a:off x="8268004" y="2532888"/>
            <a:ext cx="2899562" cy="685800"/>
          </a:xfrm>
          <a:prstGeom prst="rect">
            <a:avLst/>
          </a:prstGeom>
          <a:noFill/>
        </p:spPr>
        <p:txBody>
          <a:bodyPr wrap="square" anchor="t">
            <a:spAutoFit/>
          </a:bodyPr>
          <a:lstStyle/>
          <a:p>
            <a:pPr algn="l"/>
            <a:r>
              <a:rPr sz="1150" b="0">
                <a:solidFill>
                  <a:srgbClr val="4A5568"/>
                </a:solidFill>
                <a:latin typeface="Arial"/>
              </a:rPr>
              <a:t>Practice every concept against the same fictional account: Northstar Components.</a:t>
            </a:r>
          </a:p>
        </p:txBody>
      </p:sp>
      <p:sp>
        <p:nvSpPr>
          <p:cNvPr id="14" name="Rounded Rectangle 13"/>
          <p:cNvSpPr/>
          <p:nvPr/>
        </p:nvSpPr>
        <p:spPr>
          <a:xfrm>
            <a:off x="822960" y="3977639"/>
            <a:ext cx="5067147" cy="1554480"/>
          </a:xfrm>
          <a:prstGeom prst="roundRect">
            <a:avLst/>
          </a:prstGeom>
          <a:solidFill>
            <a:srgbClr val="FFFFFF"/>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22960" y="3977639"/>
            <a:ext cx="73152" cy="1554480"/>
          </a:xfrm>
          <a:prstGeom prst="rect">
            <a:avLst/>
          </a:prstGeom>
          <a:solidFill>
            <a:srgbClr val="9CA3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05840" y="4142231"/>
            <a:ext cx="4747107" cy="274320"/>
          </a:xfrm>
          <a:prstGeom prst="rect">
            <a:avLst/>
          </a:prstGeom>
          <a:noFill/>
        </p:spPr>
        <p:txBody>
          <a:bodyPr wrap="square" anchor="t">
            <a:spAutoFit/>
          </a:bodyPr>
          <a:lstStyle/>
          <a:p>
            <a:pPr algn="l"/>
            <a:r>
              <a:rPr sz="1500" b="1">
                <a:solidFill>
                  <a:srgbClr val="111827"/>
                </a:solidFill>
                <a:latin typeface="Arial"/>
              </a:rPr>
              <a:t>Design intent</a:t>
            </a:r>
          </a:p>
        </p:txBody>
      </p:sp>
      <p:sp>
        <p:nvSpPr>
          <p:cNvPr id="17" name="TextBox 16"/>
          <p:cNvSpPr txBox="1"/>
          <p:nvPr/>
        </p:nvSpPr>
        <p:spPr>
          <a:xfrm>
            <a:off x="1005840" y="4544567"/>
            <a:ext cx="4747107" cy="685800"/>
          </a:xfrm>
          <a:prstGeom prst="rect">
            <a:avLst/>
          </a:prstGeom>
          <a:noFill/>
        </p:spPr>
        <p:txBody>
          <a:bodyPr wrap="square" anchor="t">
            <a:spAutoFit/>
          </a:bodyPr>
          <a:lstStyle/>
          <a:p>
            <a:pPr algn="l"/>
            <a:r>
              <a:rPr sz="1150" b="0">
                <a:solidFill>
                  <a:srgbClr val="4A5568"/>
                </a:solidFill>
                <a:latin typeface="Arial"/>
              </a:rPr>
              <a:t>The course uses a single fictional account so each concept is applied immediately instead of staying theoretical.</a:t>
            </a:r>
          </a:p>
        </p:txBody>
      </p:sp>
      <p:sp>
        <p:nvSpPr>
          <p:cNvPr id="18" name="Rounded Rectangle 17"/>
          <p:cNvSpPr/>
          <p:nvPr/>
        </p:nvSpPr>
        <p:spPr>
          <a:xfrm>
            <a:off x="6301587" y="3977639"/>
            <a:ext cx="5067147" cy="1554480"/>
          </a:xfrm>
          <a:prstGeom prst="roundRect">
            <a:avLst/>
          </a:prstGeom>
          <a:solidFill>
            <a:srgbClr val="FFFFFF"/>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301587" y="3977639"/>
            <a:ext cx="73152" cy="1554480"/>
          </a:xfrm>
          <a:prstGeom prst="rect">
            <a:avLst/>
          </a:prstGeom>
          <a:solidFill>
            <a:srgbClr val="9CA3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84467" y="4142231"/>
            <a:ext cx="4747107" cy="274320"/>
          </a:xfrm>
          <a:prstGeom prst="rect">
            <a:avLst/>
          </a:prstGeom>
          <a:noFill/>
        </p:spPr>
        <p:txBody>
          <a:bodyPr wrap="square" anchor="t">
            <a:spAutoFit/>
          </a:bodyPr>
          <a:lstStyle/>
          <a:p>
            <a:pPr algn="l"/>
            <a:r>
              <a:rPr sz="1500" b="1">
                <a:solidFill>
                  <a:srgbClr val="111827"/>
                </a:solidFill>
                <a:latin typeface="Arial"/>
              </a:rPr>
              <a:t>Facilitation pattern</a:t>
            </a:r>
          </a:p>
        </p:txBody>
      </p:sp>
      <p:sp>
        <p:nvSpPr>
          <p:cNvPr id="21" name="TextBox 20"/>
          <p:cNvSpPr txBox="1"/>
          <p:nvPr/>
        </p:nvSpPr>
        <p:spPr>
          <a:xfrm>
            <a:off x="6484467" y="4544567"/>
            <a:ext cx="4747107" cy="685800"/>
          </a:xfrm>
          <a:prstGeom prst="rect">
            <a:avLst/>
          </a:prstGeom>
          <a:noFill/>
        </p:spPr>
        <p:txBody>
          <a:bodyPr wrap="square" anchor="t">
            <a:spAutoFit/>
          </a:bodyPr>
          <a:lstStyle/>
          <a:p>
            <a:pPr algn="l"/>
            <a:r>
              <a:rPr sz="1150" b="0">
                <a:solidFill>
                  <a:srgbClr val="4A5568"/>
                </a:solidFill>
                <a:latin typeface="Arial"/>
              </a:rPr>
              <a:t>Teach briefly, then ask learners to make a sales judgment before revealing the recommended path.</a:t>
            </a:r>
          </a:p>
        </p:txBody>
      </p:sp>
      <p:sp>
        <p:nvSpPr>
          <p:cNvPr id="24" name="Rectangle 23"/>
          <p:cNvSpPr/>
          <p:nvPr/>
        </p:nvSpPr>
        <p:spPr>
          <a:xfrm>
            <a:off x="822960" y="6812280"/>
            <a:ext cx="10545775" cy="9144"/>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22960" y="6876288"/>
            <a:ext cx="2011680" cy="164592"/>
          </a:xfrm>
          <a:prstGeom prst="rect">
            <a:avLst/>
          </a:prstGeom>
          <a:noFill/>
        </p:spPr>
        <p:txBody>
          <a:bodyPr wrap="square" anchor="t">
            <a:spAutoFit/>
          </a:bodyPr>
          <a:lstStyle/>
          <a:p>
            <a:pPr algn="l"/>
            <a:r>
              <a:rPr sz="850" b="0">
                <a:solidFill>
                  <a:srgbClr val="4A5568"/>
                </a:solidFill>
                <a:latin typeface="Arial"/>
              </a:rPr>
              <a:t>Beyond the Robot</a:t>
            </a:r>
          </a:p>
        </p:txBody>
      </p:sp>
      <p:sp>
        <p:nvSpPr>
          <p:cNvPr id="26" name="TextBox 25"/>
          <p:cNvSpPr txBox="1"/>
          <p:nvPr/>
        </p:nvSpPr>
        <p:spPr>
          <a:xfrm>
            <a:off x="11505895" y="6858000"/>
            <a:ext cx="256032" cy="164592"/>
          </a:xfrm>
          <a:prstGeom prst="rect">
            <a:avLst/>
          </a:prstGeom>
          <a:noFill/>
        </p:spPr>
        <p:txBody>
          <a:bodyPr wrap="square" anchor="t">
            <a:spAutoFit/>
          </a:bodyPr>
          <a:lstStyle/>
          <a:p>
            <a:pPr algn="r"/>
            <a:r>
              <a:rPr sz="850" b="0">
                <a:solidFill>
                  <a:srgbClr val="4A5568"/>
                </a:solidFill>
                <a:latin typeface="Arial"/>
              </a:rPr>
              <a:t>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566928" y="329184"/>
            <a:ext cx="8046720" cy="402336"/>
          </a:xfrm>
          <a:prstGeom prst="rect">
            <a:avLst/>
          </a:prstGeom>
          <a:noFill/>
          <a:ln/>
        </p:spPr>
        <p:txBody>
          <a:bodyPr wrap="square" lIns="254" tIns="254" rIns="254" bIns="254" rtlCol="0" anchor="ctr">
            <a:normAutofit/>
          </a:bodyPr>
          <a:lstStyle/>
          <a:p>
            <a:pPr marL="0" indent="0">
              <a:buNone/>
            </a:pPr>
            <a:r>
              <a:rPr lang="en-US" sz="2700" b="1" dirty="0">
                <a:solidFill>
                  <a:srgbClr val="FFFFFF"/>
                </a:solidFill>
                <a:latin typeface="Aptos Display" pitchFamily="34" charset="0"/>
                <a:ea typeface="Aptos Display" pitchFamily="34" charset="-122"/>
                <a:cs typeface="Aptos Display" pitchFamily="34" charset="-120"/>
              </a:rPr>
              <a:t>Opening challenge: “Quote us a cobot”</a:t>
            </a:r>
            <a:endParaRPr lang="en-US" sz="2700" dirty="0"/>
          </a:p>
        </p:txBody>
      </p:sp>
      <p:sp>
        <p:nvSpPr>
          <p:cNvPr id="3" name="Text 1"/>
          <p:cNvSpPr/>
          <p:nvPr/>
        </p:nvSpPr>
        <p:spPr>
          <a:xfrm>
            <a:off x="585216" y="804672"/>
            <a:ext cx="8046720" cy="219456"/>
          </a:xfrm>
          <a:prstGeom prst="rect">
            <a:avLst/>
          </a:prstGeom>
          <a:noFill/>
          <a:ln/>
        </p:spPr>
        <p:txBody>
          <a:bodyPr wrap="square" lIns="127" tIns="127" rIns="127" bIns="127" rtlCol="0" anchor="ctr"/>
          <a:lstStyle/>
          <a:p>
            <a:pPr marL="0" indent="0">
              <a:buNone/>
            </a:pPr>
            <a:r>
              <a:rPr lang="en-US" sz="1150" dirty="0">
                <a:solidFill>
                  <a:srgbClr val="CBD5E1"/>
                </a:solidFill>
                <a:latin typeface="Aptos" pitchFamily="34" charset="0"/>
                <a:ea typeface="Aptos" pitchFamily="34" charset="-122"/>
                <a:cs typeface="Aptos" pitchFamily="34" charset="-120"/>
              </a:rPr>
              <a:t>Northstar Components sends the request below. Three competitors already sent budgetary pricing.</a:t>
            </a:r>
            <a:endParaRPr lang="en-US" sz="1150" dirty="0"/>
          </a:p>
        </p:txBody>
      </p:sp>
      <p:sp>
        <p:nvSpPr>
          <p:cNvPr id="4" name="Shape 2"/>
          <p:cNvSpPr/>
          <p:nvPr/>
        </p:nvSpPr>
        <p:spPr>
          <a:xfrm>
            <a:off x="566928" y="1078992"/>
            <a:ext cx="640080" cy="54864"/>
          </a:xfrm>
          <a:prstGeom prst="rect">
            <a:avLst/>
          </a:prstGeom>
          <a:solidFill>
            <a:srgbClr val="F97316"/>
          </a:solidFill>
          <a:ln w="12700">
            <a:solidFill>
              <a:srgbClr val="F97316"/>
            </a:solidFill>
            <a:prstDash val="solid"/>
          </a:ln>
        </p:spPr>
        <p:txBody>
          <a:bodyPr/>
          <a:lstStyle/>
          <a:p>
            <a:endParaRPr lang="en-US"/>
          </a:p>
        </p:txBody>
      </p:sp>
      <p:sp>
        <p:nvSpPr>
          <p:cNvPr id="5" name="Shape 3"/>
          <p:cNvSpPr/>
          <p:nvPr/>
        </p:nvSpPr>
        <p:spPr>
          <a:xfrm>
            <a:off x="777240" y="1417320"/>
            <a:ext cx="5486400" cy="4160520"/>
          </a:xfrm>
          <a:prstGeom prst="roundRect">
            <a:avLst>
              <a:gd name="adj" fmla="val 3297"/>
            </a:avLst>
          </a:prstGeom>
          <a:solidFill>
            <a:srgbClr val="FFFFFF"/>
          </a:solidFill>
          <a:ln w="12700">
            <a:solidFill>
              <a:srgbClr val="CBD5E1"/>
            </a:solidFill>
            <a:prstDash val="solid"/>
          </a:ln>
        </p:spPr>
        <p:txBody>
          <a:bodyPr/>
          <a:lstStyle/>
          <a:p>
            <a:endParaRPr lang="en-US"/>
          </a:p>
        </p:txBody>
      </p:sp>
      <p:sp>
        <p:nvSpPr>
          <p:cNvPr id="6" name="Text 4"/>
          <p:cNvSpPr/>
          <p:nvPr/>
        </p:nvSpPr>
        <p:spPr>
          <a:xfrm>
            <a:off x="1051560" y="1673352"/>
            <a:ext cx="4937760" cy="457200"/>
          </a:xfrm>
          <a:prstGeom prst="rect">
            <a:avLst/>
          </a:prstGeom>
          <a:noFill/>
          <a:ln/>
        </p:spPr>
        <p:txBody>
          <a:bodyPr wrap="square" lIns="254" tIns="254" rIns="254" bIns="254" rtlCol="0" anchor="ctr"/>
          <a:lstStyle/>
          <a:p>
            <a:pPr marL="0" indent="0">
              <a:buNone/>
            </a:pPr>
            <a:r>
              <a:rPr lang="en-US" sz="1150" b="1" dirty="0">
                <a:solidFill>
                  <a:srgbClr val="334155"/>
                </a:solidFill>
                <a:latin typeface="Aptos" pitchFamily="34" charset="0"/>
                <a:ea typeface="Aptos" pitchFamily="34" charset="-122"/>
                <a:cs typeface="Aptos" pitchFamily="34" charset="-120"/>
              </a:rPr>
              <a:t>From: Manufacturing Engineer, Northstar Components</a:t>
            </a:r>
            <a:endParaRPr lang="en-US" sz="1150" dirty="0"/>
          </a:p>
          <a:p>
            <a:pPr marL="0" indent="0">
              <a:buNone/>
            </a:pPr>
            <a:r>
              <a:rPr lang="en-US" sz="1150" b="1" dirty="0">
                <a:solidFill>
                  <a:srgbClr val="334155"/>
                </a:solidFill>
                <a:latin typeface="Aptos" pitchFamily="34" charset="0"/>
                <a:ea typeface="Aptos" pitchFamily="34" charset="-122"/>
                <a:cs typeface="Aptos" pitchFamily="34" charset="-120"/>
              </a:rPr>
              <a:t>Subject: Cobot for CNC tending</a:t>
            </a:r>
            <a:endParaRPr lang="en-US" sz="1150" dirty="0"/>
          </a:p>
        </p:txBody>
      </p:sp>
      <p:sp>
        <p:nvSpPr>
          <p:cNvPr id="7" name="Text 5"/>
          <p:cNvSpPr/>
          <p:nvPr/>
        </p:nvSpPr>
        <p:spPr>
          <a:xfrm>
            <a:off x="1051560" y="2514600"/>
            <a:ext cx="4937760" cy="1280160"/>
          </a:xfrm>
          <a:prstGeom prst="rect">
            <a:avLst/>
          </a:prstGeom>
          <a:noFill/>
          <a:ln/>
        </p:spPr>
        <p:txBody>
          <a:bodyPr wrap="square" lIns="254" tIns="254" rIns="254" bIns="254" rtlCol="0" anchor="ctr">
            <a:normAutofit/>
          </a:bodyPr>
          <a:lstStyle/>
          <a:p>
            <a:pPr marL="0" indent="0">
              <a:buNone/>
            </a:pPr>
            <a:r>
              <a:rPr lang="en-US" sz="2600" b="1" dirty="0">
                <a:solidFill>
                  <a:srgbClr val="111827"/>
                </a:solidFill>
                <a:latin typeface="Aptos Display" pitchFamily="34" charset="0"/>
                <a:ea typeface="Aptos Display" pitchFamily="34" charset="-122"/>
                <a:cs typeface="Aptos Display" pitchFamily="34" charset="-120"/>
              </a:rPr>
              <a:t>“We are looking for a cobot to load and unload three CNC machines. Please send us a budgetary quote.”</a:t>
            </a:r>
            <a:endParaRPr lang="en-US" sz="2600" dirty="0"/>
          </a:p>
        </p:txBody>
      </p:sp>
      <p:sp>
        <p:nvSpPr>
          <p:cNvPr id="8" name="Text 6"/>
          <p:cNvSpPr/>
          <p:nvPr/>
        </p:nvSpPr>
        <p:spPr>
          <a:xfrm>
            <a:off x="1051560" y="4617720"/>
            <a:ext cx="4937760" cy="457200"/>
          </a:xfrm>
          <a:prstGeom prst="rect">
            <a:avLst/>
          </a:prstGeom>
          <a:noFill/>
          <a:ln/>
        </p:spPr>
        <p:txBody>
          <a:bodyPr wrap="square" lIns="254" tIns="254" rIns="254" bIns="254" rtlCol="0" anchor="ctr">
            <a:normAutofit/>
          </a:bodyPr>
          <a:lstStyle/>
          <a:p>
            <a:pPr marL="0" indent="0">
              <a:buNone/>
            </a:pPr>
            <a:r>
              <a:rPr lang="en-US" sz="1180" dirty="0">
                <a:solidFill>
                  <a:srgbClr val="334155"/>
                </a:solidFill>
                <a:latin typeface="Aptos" pitchFamily="34" charset="0"/>
                <a:ea typeface="Aptos" pitchFamily="34" charset="-122"/>
                <a:cs typeface="Aptos" pitchFamily="34" charset="-120"/>
              </a:rPr>
              <a:t>Known facts: two shifts • six part variants • rising overtime • limited floor space • payback target below 24 months</a:t>
            </a:r>
            <a:endParaRPr lang="en-US" sz="1180" dirty="0"/>
          </a:p>
        </p:txBody>
      </p:sp>
      <p:sp>
        <p:nvSpPr>
          <p:cNvPr id="9" name="Text 7"/>
          <p:cNvSpPr/>
          <p:nvPr/>
        </p:nvSpPr>
        <p:spPr>
          <a:xfrm>
            <a:off x="6766560" y="1554480"/>
            <a:ext cx="4389120" cy="320040"/>
          </a:xfrm>
          <a:prstGeom prst="rect">
            <a:avLst/>
          </a:prstGeom>
          <a:noFill/>
          <a:ln/>
        </p:spPr>
        <p:txBody>
          <a:bodyPr wrap="square" lIns="127" tIns="127" rIns="127" bIns="127" rtlCol="0" anchor="ctr"/>
          <a:lstStyle/>
          <a:p>
            <a:pPr marL="0" indent="0">
              <a:buNone/>
            </a:pPr>
            <a:r>
              <a:rPr lang="en-US" sz="2200" b="1" dirty="0">
                <a:solidFill>
                  <a:srgbClr val="FFFFFF"/>
                </a:solidFill>
                <a:latin typeface="Aptos Display" pitchFamily="34" charset="0"/>
                <a:ea typeface="Aptos Display" pitchFamily="34" charset="-122"/>
                <a:cs typeface="Aptos Display" pitchFamily="34" charset="-120"/>
              </a:rPr>
              <a:t>Learner decision</a:t>
            </a:r>
            <a:endParaRPr lang="en-US" sz="2200" dirty="0"/>
          </a:p>
        </p:txBody>
      </p:sp>
      <p:sp>
        <p:nvSpPr>
          <p:cNvPr id="10" name="Text 8"/>
          <p:cNvSpPr/>
          <p:nvPr/>
        </p:nvSpPr>
        <p:spPr>
          <a:xfrm>
            <a:off x="6903720" y="2148840"/>
            <a:ext cx="4206240" cy="566928"/>
          </a:xfrm>
          <a:prstGeom prst="rect">
            <a:avLst/>
          </a:prstGeom>
          <a:solidFill>
            <a:schemeClr val="accent2"/>
          </a:solidFill>
          <a:ln>
            <a:solidFill>
              <a:srgbClr val="475569"/>
            </a:solidFill>
          </a:ln>
        </p:spPr>
        <p:txBody>
          <a:bodyPr wrap="square" lIns="1016" tIns="1016" rIns="1016" bIns="1016" rtlCol="0" anchor="ctr"/>
          <a:lstStyle/>
          <a:p>
            <a:pPr marL="0" indent="0" algn="ctr">
              <a:buNone/>
            </a:pPr>
            <a:r>
              <a:rPr lang="en-US" sz="1600" b="1" dirty="0">
                <a:solidFill>
                  <a:srgbClr val="CBD5E1"/>
                </a:solidFill>
                <a:latin typeface="Aptos" pitchFamily="34" charset="0"/>
                <a:ea typeface="Aptos" pitchFamily="34" charset="-122"/>
                <a:cs typeface="Aptos" pitchFamily="34" charset="-120"/>
              </a:rPr>
              <a:t>Send pricing now</a:t>
            </a:r>
            <a:endParaRPr lang="en-US" sz="1600" dirty="0"/>
          </a:p>
        </p:txBody>
      </p:sp>
      <p:sp>
        <p:nvSpPr>
          <p:cNvPr id="11" name="Text 9"/>
          <p:cNvSpPr/>
          <p:nvPr/>
        </p:nvSpPr>
        <p:spPr>
          <a:xfrm>
            <a:off x="6903720" y="3108960"/>
            <a:ext cx="4206240" cy="566928"/>
          </a:xfrm>
          <a:prstGeom prst="rect">
            <a:avLst/>
          </a:prstGeom>
          <a:solidFill>
            <a:schemeClr val="accent2"/>
          </a:solidFill>
          <a:ln>
            <a:solidFill>
              <a:srgbClr val="475569"/>
            </a:solidFill>
          </a:ln>
        </p:spPr>
        <p:txBody>
          <a:bodyPr wrap="square" lIns="1016" tIns="1016" rIns="1016" bIns="1016" rtlCol="0" anchor="ctr"/>
          <a:lstStyle/>
          <a:p>
            <a:pPr marL="0" indent="0" algn="ctr">
              <a:buNone/>
            </a:pPr>
            <a:r>
              <a:rPr lang="en-US" sz="1600" b="1" dirty="0">
                <a:solidFill>
                  <a:srgbClr val="CBD5E1"/>
                </a:solidFill>
                <a:latin typeface="Aptos" pitchFamily="34" charset="0"/>
                <a:ea typeface="Aptos" pitchFamily="34" charset="-122"/>
                <a:cs typeface="Aptos" pitchFamily="34" charset="-120"/>
              </a:rPr>
              <a:t>Ask for robot specifications</a:t>
            </a:r>
            <a:endParaRPr lang="en-US" sz="1600" dirty="0"/>
          </a:p>
        </p:txBody>
      </p:sp>
      <p:sp>
        <p:nvSpPr>
          <p:cNvPr id="12" name="Text 10"/>
          <p:cNvSpPr/>
          <p:nvPr/>
        </p:nvSpPr>
        <p:spPr>
          <a:xfrm>
            <a:off x="6903720" y="4069080"/>
            <a:ext cx="4206240" cy="566928"/>
          </a:xfrm>
          <a:prstGeom prst="rect">
            <a:avLst/>
          </a:prstGeom>
          <a:solidFill>
            <a:schemeClr val="accent2"/>
          </a:solidFill>
          <a:ln>
            <a:solidFill>
              <a:srgbClr val="475569"/>
            </a:solidFill>
          </a:ln>
        </p:spPr>
        <p:txBody>
          <a:bodyPr wrap="square" lIns="1016" tIns="1016" rIns="1016" bIns="1016" rtlCol="0" anchor="ctr"/>
          <a:lstStyle/>
          <a:p>
            <a:pPr algn="ctr"/>
            <a:r>
              <a:rPr lang="en-US" sz="1600" b="1" dirty="0">
                <a:solidFill>
                  <a:srgbClr val="CBD5E1"/>
                </a:solidFill>
                <a:latin typeface="Aptos" pitchFamily="34" charset="0"/>
              </a:rPr>
              <a:t>Request brief discovery first</a:t>
            </a:r>
          </a:p>
        </p:txBody>
      </p:sp>
      <p:sp>
        <p:nvSpPr>
          <p:cNvPr id="13" name="Text 11"/>
          <p:cNvSpPr/>
          <p:nvPr/>
        </p:nvSpPr>
        <p:spPr>
          <a:xfrm>
            <a:off x="6903720" y="5257800"/>
            <a:ext cx="4206240" cy="320040"/>
          </a:xfrm>
          <a:prstGeom prst="rect">
            <a:avLst/>
          </a:prstGeom>
          <a:noFill/>
          <a:ln/>
        </p:spPr>
        <p:txBody>
          <a:bodyPr wrap="square" lIns="254" tIns="254" rIns="254" bIns="254" rtlCol="0" anchor="ctr">
            <a:normAutofit/>
          </a:bodyPr>
          <a:lstStyle/>
          <a:p>
            <a:pPr marL="0" indent="0">
              <a:buNone/>
            </a:pPr>
            <a:r>
              <a:rPr lang="en-US" sz="1200" dirty="0">
                <a:solidFill>
                  <a:srgbClr val="94A3B8"/>
                </a:solidFill>
                <a:latin typeface="Aptos" pitchFamily="34" charset="0"/>
                <a:ea typeface="Aptos" pitchFamily="34" charset="-122"/>
                <a:cs typeface="Aptos" pitchFamily="34" charset="-120"/>
              </a:rPr>
              <a:t>Facilitator prompt: What does each choice cause the buyer to compare?</a:t>
            </a:r>
            <a:endParaRPr lang="en-US" sz="1200" dirty="0"/>
          </a:p>
        </p:txBody>
      </p:sp>
      <p:sp>
        <p:nvSpPr>
          <p:cNvPr id="14" name="Shape 12"/>
          <p:cNvSpPr/>
          <p:nvPr/>
        </p:nvSpPr>
        <p:spPr>
          <a:xfrm>
            <a:off x="502920" y="6473952"/>
            <a:ext cx="11155680" cy="0"/>
          </a:xfrm>
          <a:prstGeom prst="line">
            <a:avLst/>
          </a:prstGeom>
          <a:noFill/>
          <a:ln w="9525">
            <a:solidFill>
              <a:srgbClr val="334155">
                <a:alpha val="30000"/>
              </a:srgbClr>
            </a:solidFill>
            <a:prstDash val="solid"/>
          </a:ln>
        </p:spPr>
        <p:txBody>
          <a:bodyPr/>
          <a:lstStyle/>
          <a:p>
            <a:endParaRPr lang="en-US"/>
          </a:p>
        </p:txBody>
      </p:sp>
      <p:sp>
        <p:nvSpPr>
          <p:cNvPr id="15" name="Text 13"/>
          <p:cNvSpPr/>
          <p:nvPr/>
        </p:nvSpPr>
        <p:spPr>
          <a:xfrm>
            <a:off x="502920" y="6565392"/>
            <a:ext cx="5029200" cy="146304"/>
          </a:xfrm>
          <a:prstGeom prst="rect">
            <a:avLst/>
          </a:prstGeom>
          <a:noFill/>
          <a:ln/>
        </p:spPr>
        <p:txBody>
          <a:bodyPr wrap="square" rtlCol="0" anchor="ctr"/>
          <a:lstStyle/>
          <a:p>
            <a:pPr marL="0" indent="0">
              <a:buNone/>
            </a:pPr>
            <a:r>
              <a:rPr lang="en-US" sz="750" dirty="0">
                <a:solidFill>
                  <a:srgbClr val="334155"/>
                </a:solidFill>
                <a:latin typeface="Aptos" pitchFamily="34" charset="0"/>
                <a:ea typeface="Aptos" pitchFamily="34" charset="-122"/>
                <a:cs typeface="Aptos" pitchFamily="34" charset="-120"/>
              </a:rPr>
              <a:t>Opening challenge</a:t>
            </a:r>
            <a:endParaRPr lang="en-US" sz="750" dirty="0"/>
          </a:p>
        </p:txBody>
      </p:sp>
      <p:sp>
        <p:nvSpPr>
          <p:cNvPr id="16" name="Text 14"/>
          <p:cNvSpPr/>
          <p:nvPr/>
        </p:nvSpPr>
        <p:spPr>
          <a:xfrm>
            <a:off x="11018520" y="6565392"/>
            <a:ext cx="640080" cy="146304"/>
          </a:xfrm>
          <a:prstGeom prst="rect">
            <a:avLst/>
          </a:prstGeom>
          <a:noFill/>
          <a:ln/>
        </p:spPr>
        <p:txBody>
          <a:bodyPr wrap="square" rtlCol="0" anchor="ctr"/>
          <a:lstStyle/>
          <a:p>
            <a:pPr marL="0" indent="0" algn="r">
              <a:buNone/>
            </a:pPr>
            <a:r>
              <a:rPr lang="en-US" sz="750" dirty="0">
                <a:solidFill>
                  <a:srgbClr val="334155"/>
                </a:solidFill>
                <a:latin typeface="Aptos" pitchFamily="34" charset="0"/>
                <a:ea typeface="Aptos" pitchFamily="34" charset="-122"/>
                <a:cs typeface="Aptos" pitchFamily="34" charset="-120"/>
              </a:rPr>
              <a:t>03</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8046720" cy="402336"/>
          </a:xfrm>
          <a:prstGeom prst="rect">
            <a:avLst/>
          </a:prstGeom>
          <a:noFill/>
          <a:ln/>
        </p:spPr>
        <p:txBody>
          <a:bodyPr wrap="square" lIns="254" tIns="254" rIns="254" bIns="254" rtlCol="0" anchor="ctr">
            <a:normAutofit/>
          </a:bodyPr>
          <a:lstStyle/>
          <a:p>
            <a:pPr marL="0" indent="0">
              <a:buNone/>
            </a:pPr>
            <a:r>
              <a:rPr lang="en-US" sz="2700" b="1" dirty="0">
                <a:solidFill>
                  <a:srgbClr val="111827"/>
                </a:solidFill>
                <a:latin typeface="Aptos Display" pitchFamily="34" charset="0"/>
                <a:ea typeface="Aptos Display" pitchFamily="34" charset="-122"/>
                <a:cs typeface="Aptos Display" pitchFamily="34" charset="-120"/>
              </a:rPr>
              <a:t>What are we really selling?</a:t>
            </a:r>
            <a:endParaRPr lang="en-US" sz="2700" dirty="0"/>
          </a:p>
        </p:txBody>
      </p:sp>
      <p:sp>
        <p:nvSpPr>
          <p:cNvPr id="3" name="Text 1"/>
          <p:cNvSpPr/>
          <p:nvPr/>
        </p:nvSpPr>
        <p:spPr>
          <a:xfrm>
            <a:off x="585216" y="804672"/>
            <a:ext cx="8046720" cy="219456"/>
          </a:xfrm>
          <a:prstGeom prst="rect">
            <a:avLst/>
          </a:prstGeom>
          <a:noFill/>
          <a:ln/>
        </p:spPr>
        <p:txBody>
          <a:bodyPr wrap="square" lIns="127" tIns="127" rIns="127" bIns="127" rtlCol="0" anchor="ctr"/>
          <a:lstStyle/>
          <a:p>
            <a:pPr marL="0" indent="0">
              <a:buNone/>
            </a:pPr>
            <a:r>
              <a:rPr lang="en-US" sz="1150" dirty="0">
                <a:solidFill>
                  <a:srgbClr val="334155"/>
                </a:solidFill>
                <a:latin typeface="Aptos" pitchFamily="34" charset="0"/>
                <a:ea typeface="Aptos" pitchFamily="34" charset="-122"/>
                <a:cs typeface="Aptos" pitchFamily="34" charset="-120"/>
              </a:rPr>
              <a:t>A robot arm is only one visible part of the business outcome.</a:t>
            </a:r>
            <a:endParaRPr lang="en-US" sz="1150" dirty="0"/>
          </a:p>
        </p:txBody>
      </p:sp>
      <p:sp>
        <p:nvSpPr>
          <p:cNvPr id="4" name="Shape 2"/>
          <p:cNvSpPr/>
          <p:nvPr/>
        </p:nvSpPr>
        <p:spPr>
          <a:xfrm>
            <a:off x="566928" y="1078992"/>
            <a:ext cx="640080" cy="54864"/>
          </a:xfrm>
          <a:prstGeom prst="rect">
            <a:avLst/>
          </a:prstGeom>
          <a:solidFill>
            <a:srgbClr val="F97316"/>
          </a:solidFill>
          <a:ln w="12700">
            <a:solidFill>
              <a:srgbClr val="F97316"/>
            </a:solidFill>
            <a:prstDash val="solid"/>
          </a:ln>
        </p:spPr>
        <p:txBody>
          <a:bodyPr/>
          <a:lstStyle/>
          <a:p>
            <a:endParaRPr lang="en-US"/>
          </a:p>
        </p:txBody>
      </p:sp>
      <p:pic>
        <p:nvPicPr>
          <p:cNvPr id="5" name="Image 0" descr="/mnt/data/a_close_up_industrial_manufacturing_scene_inside_a_batch_3.png"/>
          <p:cNvPicPr>
            <a:picLocks noChangeAspect="1"/>
          </p:cNvPicPr>
          <p:nvPr/>
        </p:nvPicPr>
        <p:blipFill>
          <a:blip r:embed="rId3"/>
          <a:srcRect l="12000" t="2000" r="32511" b="2000"/>
          <a:stretch/>
        </p:blipFill>
        <p:spPr>
          <a:xfrm>
            <a:off x="6492240" y="1143000"/>
            <a:ext cx="5212080" cy="5074920"/>
          </a:xfrm>
          <a:prstGeom prst="rect">
            <a:avLst/>
          </a:prstGeom>
        </p:spPr>
      </p:pic>
      <p:sp>
        <p:nvSpPr>
          <p:cNvPr id="6" name="Text 3"/>
          <p:cNvSpPr/>
          <p:nvPr/>
        </p:nvSpPr>
        <p:spPr>
          <a:xfrm>
            <a:off x="2743200" y="3383280"/>
            <a:ext cx="1508760" cy="512064"/>
          </a:xfrm>
          <a:prstGeom prst="rect">
            <a:avLst/>
          </a:prstGeom>
          <a:solidFill>
            <a:srgbClr val="0F172A"/>
          </a:solidFill>
          <a:ln>
            <a:solidFill>
              <a:srgbClr val="0F172A"/>
            </a:solidFill>
          </a:ln>
        </p:spPr>
        <p:txBody>
          <a:bodyPr wrap="square" lIns="381" tIns="381" rIns="381" bIns="381"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Robot arm</a:t>
            </a:r>
            <a:endParaRPr lang="en-US" sz="1400" dirty="0"/>
          </a:p>
        </p:txBody>
      </p:sp>
      <p:sp>
        <p:nvSpPr>
          <p:cNvPr id="7" name="Text 4"/>
          <p:cNvSpPr/>
          <p:nvPr/>
        </p:nvSpPr>
        <p:spPr>
          <a:xfrm>
            <a:off x="914400" y="1965960"/>
            <a:ext cx="1508760" cy="512064"/>
          </a:xfrm>
          <a:prstGeom prst="rect">
            <a:avLst/>
          </a:prstGeom>
          <a:solidFill>
            <a:srgbClr val="F3F4F6"/>
          </a:solidFill>
          <a:ln>
            <a:solidFill>
              <a:srgbClr val="CBD5E1"/>
            </a:solidFill>
          </a:ln>
        </p:spPr>
        <p:txBody>
          <a:bodyPr wrap="square" lIns="381" tIns="381" rIns="381" bIns="381" rtlCol="0" anchor="ctr">
            <a:normAutofit/>
          </a:bodyPr>
          <a:lstStyle/>
          <a:p>
            <a:pPr marL="0" indent="0" algn="ctr">
              <a:buNone/>
            </a:pPr>
            <a:r>
              <a:rPr lang="en-US" sz="1150" b="1" dirty="0">
                <a:solidFill>
                  <a:srgbClr val="111827"/>
                </a:solidFill>
                <a:latin typeface="Aptos" pitchFamily="34" charset="0"/>
                <a:ea typeface="Aptos" pitchFamily="34" charset="-122"/>
                <a:cs typeface="Aptos" pitchFamily="34" charset="-120"/>
              </a:rPr>
              <a:t>Tooling</a:t>
            </a:r>
            <a:endParaRPr lang="en-US" sz="1150" dirty="0"/>
          </a:p>
        </p:txBody>
      </p:sp>
      <p:sp>
        <p:nvSpPr>
          <p:cNvPr id="8" name="Text 5"/>
          <p:cNvSpPr/>
          <p:nvPr/>
        </p:nvSpPr>
        <p:spPr>
          <a:xfrm>
            <a:off x="4754880" y="1965960"/>
            <a:ext cx="1508760" cy="512064"/>
          </a:xfrm>
          <a:prstGeom prst="rect">
            <a:avLst/>
          </a:prstGeom>
          <a:solidFill>
            <a:srgbClr val="F3F4F6"/>
          </a:solidFill>
          <a:ln>
            <a:solidFill>
              <a:srgbClr val="CBD5E1"/>
            </a:solidFill>
          </a:ln>
        </p:spPr>
        <p:txBody>
          <a:bodyPr wrap="square" lIns="381" tIns="381" rIns="381" bIns="381" rtlCol="0" anchor="ctr">
            <a:normAutofit/>
          </a:bodyPr>
          <a:lstStyle/>
          <a:p>
            <a:pPr marL="0" indent="0" algn="ctr">
              <a:buNone/>
            </a:pPr>
            <a:r>
              <a:rPr lang="en-US" sz="1150" b="1" dirty="0">
                <a:solidFill>
                  <a:srgbClr val="111827"/>
                </a:solidFill>
                <a:latin typeface="Aptos" pitchFamily="34" charset="0"/>
                <a:ea typeface="Aptos" pitchFamily="34" charset="-122"/>
                <a:cs typeface="Aptos" pitchFamily="34" charset="-120"/>
              </a:rPr>
              <a:t>Controls</a:t>
            </a:r>
            <a:endParaRPr lang="en-US" sz="1150" dirty="0"/>
          </a:p>
        </p:txBody>
      </p:sp>
      <p:sp>
        <p:nvSpPr>
          <p:cNvPr id="9" name="Text 6"/>
          <p:cNvSpPr/>
          <p:nvPr/>
        </p:nvSpPr>
        <p:spPr>
          <a:xfrm>
            <a:off x="914400" y="4617720"/>
            <a:ext cx="1508760" cy="512064"/>
          </a:xfrm>
          <a:prstGeom prst="rect">
            <a:avLst/>
          </a:prstGeom>
          <a:solidFill>
            <a:srgbClr val="F3F4F6"/>
          </a:solidFill>
          <a:ln>
            <a:solidFill>
              <a:srgbClr val="CBD5E1"/>
            </a:solidFill>
          </a:ln>
        </p:spPr>
        <p:txBody>
          <a:bodyPr wrap="square" lIns="381" tIns="381" rIns="381" bIns="381" rtlCol="0" anchor="ctr">
            <a:normAutofit/>
          </a:bodyPr>
          <a:lstStyle/>
          <a:p>
            <a:pPr marL="0" indent="0" algn="ctr">
              <a:buNone/>
            </a:pPr>
            <a:r>
              <a:rPr lang="en-US" sz="1150" b="1" dirty="0">
                <a:solidFill>
                  <a:srgbClr val="111827"/>
                </a:solidFill>
                <a:latin typeface="Aptos" pitchFamily="34" charset="0"/>
                <a:ea typeface="Aptos" pitchFamily="34" charset="-122"/>
                <a:cs typeface="Aptos" pitchFamily="34" charset="-120"/>
              </a:rPr>
              <a:t>Safety</a:t>
            </a:r>
            <a:endParaRPr lang="en-US" sz="1150" dirty="0"/>
          </a:p>
        </p:txBody>
      </p:sp>
      <p:sp>
        <p:nvSpPr>
          <p:cNvPr id="10" name="Text 7"/>
          <p:cNvSpPr/>
          <p:nvPr/>
        </p:nvSpPr>
        <p:spPr>
          <a:xfrm>
            <a:off x="4754880" y="4617720"/>
            <a:ext cx="1508760" cy="512064"/>
          </a:xfrm>
          <a:prstGeom prst="rect">
            <a:avLst/>
          </a:prstGeom>
          <a:solidFill>
            <a:srgbClr val="F3F4F6"/>
          </a:solidFill>
          <a:ln>
            <a:solidFill>
              <a:srgbClr val="CBD5E1"/>
            </a:solidFill>
          </a:ln>
        </p:spPr>
        <p:txBody>
          <a:bodyPr wrap="square" lIns="381" tIns="381" rIns="381" bIns="381" rtlCol="0" anchor="ctr">
            <a:normAutofit/>
          </a:bodyPr>
          <a:lstStyle/>
          <a:p>
            <a:pPr marL="0" indent="0" algn="ctr">
              <a:buNone/>
            </a:pPr>
            <a:r>
              <a:rPr lang="en-US" sz="1150" b="1" dirty="0">
                <a:solidFill>
                  <a:srgbClr val="111827"/>
                </a:solidFill>
                <a:latin typeface="Aptos" pitchFamily="34" charset="0"/>
                <a:ea typeface="Aptos" pitchFamily="34" charset="-122"/>
                <a:cs typeface="Aptos" pitchFamily="34" charset="-120"/>
              </a:rPr>
              <a:t>Training</a:t>
            </a:r>
            <a:endParaRPr lang="en-US" sz="1150" dirty="0"/>
          </a:p>
        </p:txBody>
      </p:sp>
      <p:sp>
        <p:nvSpPr>
          <p:cNvPr id="11" name="Text 8"/>
          <p:cNvSpPr/>
          <p:nvPr/>
        </p:nvSpPr>
        <p:spPr>
          <a:xfrm>
            <a:off x="2743200" y="1325880"/>
            <a:ext cx="1508760" cy="512064"/>
          </a:xfrm>
          <a:prstGeom prst="rect">
            <a:avLst/>
          </a:prstGeom>
          <a:solidFill>
            <a:srgbClr val="F3F4F6"/>
          </a:solidFill>
          <a:ln>
            <a:solidFill>
              <a:srgbClr val="CBD5E1"/>
            </a:solidFill>
          </a:ln>
        </p:spPr>
        <p:txBody>
          <a:bodyPr wrap="square" lIns="381" tIns="381" rIns="381" bIns="381" rtlCol="0" anchor="ctr">
            <a:normAutofit/>
          </a:bodyPr>
          <a:lstStyle/>
          <a:p>
            <a:pPr marL="0" indent="0" algn="ctr">
              <a:buNone/>
            </a:pPr>
            <a:r>
              <a:rPr lang="en-US" sz="1150" b="1" dirty="0">
                <a:solidFill>
                  <a:srgbClr val="111827"/>
                </a:solidFill>
                <a:latin typeface="Aptos" pitchFamily="34" charset="0"/>
                <a:ea typeface="Aptos" pitchFamily="34" charset="-122"/>
                <a:cs typeface="Aptos" pitchFamily="34" charset="-120"/>
              </a:rPr>
              <a:t>Integration</a:t>
            </a:r>
            <a:endParaRPr lang="en-US" sz="1150" dirty="0"/>
          </a:p>
        </p:txBody>
      </p:sp>
      <p:sp>
        <p:nvSpPr>
          <p:cNvPr id="12" name="Text 9"/>
          <p:cNvSpPr/>
          <p:nvPr/>
        </p:nvSpPr>
        <p:spPr>
          <a:xfrm>
            <a:off x="2743200" y="5486400"/>
            <a:ext cx="1508760" cy="512064"/>
          </a:xfrm>
          <a:prstGeom prst="rect">
            <a:avLst/>
          </a:prstGeom>
          <a:solidFill>
            <a:srgbClr val="F3F4F6"/>
          </a:solidFill>
          <a:ln>
            <a:solidFill>
              <a:srgbClr val="CBD5E1"/>
            </a:solidFill>
          </a:ln>
        </p:spPr>
        <p:txBody>
          <a:bodyPr wrap="square" lIns="381" tIns="381" rIns="381" bIns="381" rtlCol="0" anchor="ctr">
            <a:normAutofit/>
          </a:bodyPr>
          <a:lstStyle/>
          <a:p>
            <a:pPr marL="0" indent="0" algn="ctr">
              <a:buNone/>
            </a:pPr>
            <a:r>
              <a:rPr lang="en-US" sz="1150" b="1" dirty="0">
                <a:solidFill>
                  <a:srgbClr val="111827"/>
                </a:solidFill>
                <a:latin typeface="Aptos" pitchFamily="34" charset="0"/>
                <a:ea typeface="Aptos" pitchFamily="34" charset="-122"/>
                <a:cs typeface="Aptos" pitchFamily="34" charset="-120"/>
              </a:rPr>
              <a:t>Maintenance</a:t>
            </a:r>
            <a:endParaRPr lang="en-US" sz="1150" dirty="0"/>
          </a:p>
        </p:txBody>
      </p:sp>
      <p:sp>
        <p:nvSpPr>
          <p:cNvPr id="13" name="Text 10"/>
          <p:cNvSpPr/>
          <p:nvPr/>
        </p:nvSpPr>
        <p:spPr>
          <a:xfrm>
            <a:off x="6967728" y="5193792"/>
            <a:ext cx="4297680" cy="658368"/>
          </a:xfrm>
          <a:prstGeom prst="rect">
            <a:avLst/>
          </a:prstGeom>
          <a:noFill/>
          <a:ln/>
        </p:spPr>
        <p:txBody>
          <a:bodyPr wrap="square" lIns="254" tIns="254" rIns="254" bIns="254" rtlCol="0" anchor="ctr">
            <a:normAutofit/>
          </a:bodyPr>
          <a:lstStyle/>
          <a:p>
            <a:pPr marL="0" indent="0">
              <a:buNone/>
            </a:pPr>
            <a:r>
              <a:rPr lang="en-US" sz="2200" b="1" dirty="0">
                <a:solidFill>
                  <a:srgbClr val="FFFFFF"/>
                </a:solidFill>
                <a:latin typeface="Aptos Display" pitchFamily="34" charset="0"/>
                <a:ea typeface="Aptos Display" pitchFamily="34" charset="-122"/>
                <a:cs typeface="Aptos Display" pitchFamily="34" charset="-120"/>
              </a:rPr>
              <a:t>Price comparison starts with the arm.</a:t>
            </a:r>
            <a:endParaRPr lang="en-US" sz="2200" dirty="0"/>
          </a:p>
          <a:p>
            <a:pPr marL="0" indent="0">
              <a:buNone/>
            </a:pPr>
            <a:r>
              <a:rPr lang="en-US" sz="2200" b="1" dirty="0">
                <a:solidFill>
                  <a:srgbClr val="FFFFFF"/>
                </a:solidFill>
                <a:latin typeface="Aptos Display" pitchFamily="34" charset="0"/>
                <a:ea typeface="Aptos Display" pitchFamily="34" charset="-122"/>
                <a:cs typeface="Aptos Display" pitchFamily="34" charset="-120"/>
              </a:rPr>
              <a:t>Value comparison starts with the system.</a:t>
            </a:r>
            <a:endParaRPr lang="en-US" sz="2200" dirty="0"/>
          </a:p>
        </p:txBody>
      </p:sp>
      <p:sp>
        <p:nvSpPr>
          <p:cNvPr id="14" name="Shape 11"/>
          <p:cNvSpPr/>
          <p:nvPr/>
        </p:nvSpPr>
        <p:spPr>
          <a:xfrm>
            <a:off x="502920" y="6473952"/>
            <a:ext cx="11155680" cy="0"/>
          </a:xfrm>
          <a:prstGeom prst="line">
            <a:avLst/>
          </a:prstGeom>
          <a:noFill/>
          <a:ln w="9525">
            <a:solidFill>
              <a:srgbClr val="334155">
                <a:alpha val="30000"/>
              </a:srgbClr>
            </a:solidFill>
            <a:prstDash val="solid"/>
          </a:ln>
        </p:spPr>
        <p:txBody>
          <a:bodyPr/>
          <a:lstStyle/>
          <a:p>
            <a:endParaRPr lang="en-US"/>
          </a:p>
        </p:txBody>
      </p:sp>
      <p:sp>
        <p:nvSpPr>
          <p:cNvPr id="15" name="Text 12"/>
          <p:cNvSpPr/>
          <p:nvPr/>
        </p:nvSpPr>
        <p:spPr>
          <a:xfrm>
            <a:off x="502920" y="6565392"/>
            <a:ext cx="5029200" cy="146304"/>
          </a:xfrm>
          <a:prstGeom prst="rect">
            <a:avLst/>
          </a:prstGeom>
          <a:noFill/>
          <a:ln/>
        </p:spPr>
        <p:txBody>
          <a:bodyPr wrap="square" rtlCol="0" anchor="ctr"/>
          <a:lstStyle/>
          <a:p>
            <a:pPr marL="0" indent="0">
              <a:buNone/>
            </a:pPr>
            <a:r>
              <a:rPr lang="en-US" sz="750" dirty="0">
                <a:solidFill>
                  <a:srgbClr val="334155"/>
                </a:solidFill>
                <a:latin typeface="Aptos" pitchFamily="34" charset="0"/>
                <a:ea typeface="Aptos" pitchFamily="34" charset="-122"/>
                <a:cs typeface="Aptos" pitchFamily="34" charset="-120"/>
              </a:rPr>
              <a:t>Beyond the Robot</a:t>
            </a:r>
            <a:endParaRPr lang="en-US" sz="750" dirty="0"/>
          </a:p>
        </p:txBody>
      </p:sp>
      <p:sp>
        <p:nvSpPr>
          <p:cNvPr id="16" name="Text 13"/>
          <p:cNvSpPr/>
          <p:nvPr/>
        </p:nvSpPr>
        <p:spPr>
          <a:xfrm>
            <a:off x="11018520" y="6565392"/>
            <a:ext cx="640080" cy="146304"/>
          </a:xfrm>
          <a:prstGeom prst="rect">
            <a:avLst/>
          </a:prstGeom>
          <a:noFill/>
          <a:ln/>
        </p:spPr>
        <p:txBody>
          <a:bodyPr wrap="square" rtlCol="0" anchor="ctr"/>
          <a:lstStyle/>
          <a:p>
            <a:pPr marL="0" indent="0" algn="r">
              <a:buNone/>
            </a:pPr>
            <a:r>
              <a:rPr lang="en-US" sz="750" dirty="0">
                <a:solidFill>
                  <a:srgbClr val="334155"/>
                </a:solidFill>
                <a:latin typeface="Aptos" pitchFamily="34" charset="0"/>
                <a:ea typeface="Aptos" pitchFamily="34" charset="-122"/>
                <a:cs typeface="Aptos" pitchFamily="34" charset="-120"/>
              </a:rPr>
              <a:t>04</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8046720" cy="402336"/>
          </a:xfrm>
          <a:prstGeom prst="rect">
            <a:avLst/>
          </a:prstGeom>
          <a:noFill/>
          <a:ln/>
        </p:spPr>
        <p:txBody>
          <a:bodyPr wrap="square" lIns="254" tIns="254" rIns="254" bIns="254" rtlCol="0" anchor="ctr">
            <a:normAutofit/>
          </a:bodyPr>
          <a:lstStyle/>
          <a:p>
            <a:pPr marL="0" indent="0">
              <a:buNone/>
            </a:pPr>
            <a:r>
              <a:rPr lang="en-US" sz="2700" b="1" dirty="0">
                <a:solidFill>
                  <a:srgbClr val="111827"/>
                </a:solidFill>
                <a:latin typeface="Aptos Display" pitchFamily="34" charset="0"/>
                <a:ea typeface="Aptos Display" pitchFamily="34" charset="-122"/>
                <a:cs typeface="Aptos Display" pitchFamily="34" charset="-120"/>
              </a:rPr>
              <a:t>Feature selling vs. outcome selling</a:t>
            </a:r>
            <a:endParaRPr lang="en-US" sz="2700" dirty="0"/>
          </a:p>
        </p:txBody>
      </p:sp>
      <p:sp>
        <p:nvSpPr>
          <p:cNvPr id="3" name="Text 1"/>
          <p:cNvSpPr/>
          <p:nvPr/>
        </p:nvSpPr>
        <p:spPr>
          <a:xfrm>
            <a:off x="585216" y="804672"/>
            <a:ext cx="8046720" cy="219456"/>
          </a:xfrm>
          <a:prstGeom prst="rect">
            <a:avLst/>
          </a:prstGeom>
          <a:noFill/>
          <a:ln/>
        </p:spPr>
        <p:txBody>
          <a:bodyPr wrap="square" lIns="127" tIns="127" rIns="127" bIns="127" rtlCol="0" anchor="ctr"/>
          <a:lstStyle/>
          <a:p>
            <a:pPr marL="0" indent="0">
              <a:buNone/>
            </a:pPr>
            <a:r>
              <a:rPr lang="en-US" sz="1150" dirty="0">
                <a:solidFill>
                  <a:srgbClr val="334155"/>
                </a:solidFill>
                <a:latin typeface="Aptos" pitchFamily="34" charset="0"/>
                <a:ea typeface="Aptos" pitchFamily="34" charset="-122"/>
                <a:cs typeface="Aptos" pitchFamily="34" charset="-120"/>
              </a:rPr>
              <a:t>Both are useful. The sequence determines whether the buyer compares specs or business impact.</a:t>
            </a:r>
            <a:endParaRPr lang="en-US" sz="1150" dirty="0"/>
          </a:p>
        </p:txBody>
      </p:sp>
      <p:sp>
        <p:nvSpPr>
          <p:cNvPr id="4" name="Shape 2"/>
          <p:cNvSpPr/>
          <p:nvPr/>
        </p:nvSpPr>
        <p:spPr>
          <a:xfrm>
            <a:off x="566928" y="1078992"/>
            <a:ext cx="640080" cy="54864"/>
          </a:xfrm>
          <a:prstGeom prst="rect">
            <a:avLst/>
          </a:prstGeom>
          <a:solidFill>
            <a:srgbClr val="F97316"/>
          </a:solidFill>
          <a:ln w="12700">
            <a:solidFill>
              <a:srgbClr val="F97316"/>
            </a:solidFill>
            <a:prstDash val="solid"/>
          </a:ln>
        </p:spPr>
        <p:txBody>
          <a:bodyPr/>
          <a:lstStyle/>
          <a:p>
            <a:endParaRPr lang="en-US"/>
          </a:p>
        </p:txBody>
      </p:sp>
      <p:sp>
        <p:nvSpPr>
          <p:cNvPr id="5" name="Text 3"/>
          <p:cNvSpPr/>
          <p:nvPr/>
        </p:nvSpPr>
        <p:spPr>
          <a:xfrm>
            <a:off x="731520" y="1417320"/>
            <a:ext cx="4846320" cy="320040"/>
          </a:xfrm>
          <a:prstGeom prst="rect">
            <a:avLst/>
          </a:prstGeom>
          <a:noFill/>
          <a:ln/>
        </p:spPr>
        <p:txBody>
          <a:bodyPr wrap="square" lIns="127" tIns="127" rIns="127" bIns="127" rtlCol="0" anchor="ctr"/>
          <a:lstStyle/>
          <a:p>
            <a:pPr marL="0" indent="0">
              <a:buNone/>
            </a:pPr>
            <a:r>
              <a:rPr lang="en-US" sz="2200" b="1" dirty="0">
                <a:solidFill>
                  <a:srgbClr val="111827"/>
                </a:solidFill>
                <a:latin typeface="Aptos Display" pitchFamily="34" charset="0"/>
                <a:ea typeface="Aptos Display" pitchFamily="34" charset="-122"/>
                <a:cs typeface="Aptos Display" pitchFamily="34" charset="-120"/>
              </a:rPr>
              <a:t>Product-first opening</a:t>
            </a:r>
            <a:endParaRPr lang="en-US" sz="2200" dirty="0"/>
          </a:p>
        </p:txBody>
      </p:sp>
      <p:sp>
        <p:nvSpPr>
          <p:cNvPr id="6" name="Text 4"/>
          <p:cNvSpPr/>
          <p:nvPr/>
        </p:nvSpPr>
        <p:spPr>
          <a:xfrm>
            <a:off x="868680" y="1965960"/>
            <a:ext cx="4480560" cy="822960"/>
          </a:xfrm>
          <a:prstGeom prst="rect">
            <a:avLst/>
          </a:prstGeom>
          <a:noFill/>
          <a:ln/>
        </p:spPr>
        <p:txBody>
          <a:bodyPr wrap="square" lIns="254" tIns="254" rIns="254" bIns="254" rtlCol="0" anchor="ctr">
            <a:normAutofit/>
          </a:bodyPr>
          <a:lstStyle/>
          <a:p>
            <a:pPr marL="0" indent="0">
              <a:buNone/>
            </a:pPr>
            <a:r>
              <a:rPr lang="en-US" sz="2000" i="1" dirty="0">
                <a:solidFill>
                  <a:srgbClr val="334155"/>
                </a:solidFill>
                <a:latin typeface="Aptos" pitchFamily="34" charset="0"/>
                <a:ea typeface="Aptos" pitchFamily="34" charset="-122"/>
                <a:cs typeface="Aptos" pitchFamily="34" charset="-120"/>
              </a:rPr>
              <a:t>“Our cobot has strong payload, easy programming, and fast deployment.”</a:t>
            </a:r>
            <a:endParaRPr lang="en-US" sz="2000" dirty="0"/>
          </a:p>
        </p:txBody>
      </p:sp>
      <p:sp>
        <p:nvSpPr>
          <p:cNvPr id="7" name="Shape 5"/>
          <p:cNvSpPr/>
          <p:nvPr/>
        </p:nvSpPr>
        <p:spPr>
          <a:xfrm>
            <a:off x="2834640" y="3017520"/>
            <a:ext cx="0" cy="960120"/>
          </a:xfrm>
          <a:prstGeom prst="line">
            <a:avLst/>
          </a:prstGeom>
          <a:noFill/>
          <a:ln w="19050">
            <a:solidFill>
              <a:srgbClr val="334155"/>
            </a:solidFill>
            <a:prstDash val="solid"/>
            <a:headEnd type="none"/>
            <a:tailEnd type="triangle"/>
          </a:ln>
        </p:spPr>
        <p:txBody>
          <a:bodyPr/>
          <a:lstStyle/>
          <a:p>
            <a:endParaRPr lang="en-US"/>
          </a:p>
        </p:txBody>
      </p:sp>
      <p:sp>
        <p:nvSpPr>
          <p:cNvPr id="8" name="Text 6"/>
          <p:cNvSpPr/>
          <p:nvPr/>
        </p:nvSpPr>
        <p:spPr>
          <a:xfrm>
            <a:off x="1234440" y="4224528"/>
            <a:ext cx="3200400" cy="228600"/>
          </a:xfrm>
          <a:prstGeom prst="rect">
            <a:avLst/>
          </a:prstGeom>
          <a:noFill/>
          <a:ln/>
        </p:spPr>
        <p:txBody>
          <a:bodyPr wrap="square" lIns="127" tIns="127" rIns="127" bIns="127" rtlCol="0" anchor="ctr"/>
          <a:lstStyle/>
          <a:p>
            <a:pPr marL="0" indent="0" algn="ctr">
              <a:buNone/>
            </a:pPr>
            <a:r>
              <a:rPr lang="en-US" sz="1300" b="1" dirty="0">
                <a:solidFill>
                  <a:srgbClr val="111827"/>
                </a:solidFill>
                <a:latin typeface="Aptos" pitchFamily="34" charset="0"/>
                <a:ea typeface="Aptos" pitchFamily="34" charset="-122"/>
                <a:cs typeface="Aptos" pitchFamily="34" charset="-120"/>
              </a:rPr>
              <a:t>Buyer compares:</a:t>
            </a:r>
            <a:endParaRPr lang="en-US" sz="1300" dirty="0"/>
          </a:p>
        </p:txBody>
      </p:sp>
      <p:sp>
        <p:nvSpPr>
          <p:cNvPr id="9" name="Text 7"/>
          <p:cNvSpPr/>
          <p:nvPr/>
        </p:nvSpPr>
        <p:spPr>
          <a:xfrm>
            <a:off x="914400" y="4617720"/>
            <a:ext cx="914400" cy="310896"/>
          </a:xfrm>
          <a:prstGeom prst="rect">
            <a:avLst/>
          </a:prstGeom>
          <a:solidFill>
            <a:srgbClr val="F3F4F6"/>
          </a:solidFill>
          <a:ln>
            <a:solidFill>
              <a:srgbClr val="F3F4F6"/>
            </a:solidFill>
          </a:ln>
        </p:spPr>
        <p:txBody>
          <a:bodyPr wrap="square" lIns="254" tIns="254" rIns="254" bIns="254" rtlCol="0" anchor="ctr"/>
          <a:lstStyle/>
          <a:p>
            <a:pPr marL="0" indent="0" algn="ctr">
              <a:buNone/>
            </a:pPr>
            <a:r>
              <a:rPr lang="en-US" sz="1050" b="1" dirty="0">
                <a:solidFill>
                  <a:srgbClr val="111827"/>
                </a:solidFill>
                <a:latin typeface="Aptos" pitchFamily="34" charset="0"/>
                <a:ea typeface="Aptos" pitchFamily="34" charset="-122"/>
                <a:cs typeface="Aptos" pitchFamily="34" charset="-120"/>
              </a:rPr>
              <a:t>Price</a:t>
            </a:r>
            <a:endParaRPr lang="en-US" sz="1050" dirty="0"/>
          </a:p>
        </p:txBody>
      </p:sp>
      <p:sp>
        <p:nvSpPr>
          <p:cNvPr id="10" name="Text 8"/>
          <p:cNvSpPr/>
          <p:nvPr/>
        </p:nvSpPr>
        <p:spPr>
          <a:xfrm>
            <a:off x="1993392" y="4617720"/>
            <a:ext cx="914400" cy="310896"/>
          </a:xfrm>
          <a:prstGeom prst="rect">
            <a:avLst/>
          </a:prstGeom>
          <a:solidFill>
            <a:srgbClr val="F3F4F6"/>
          </a:solidFill>
          <a:ln>
            <a:solidFill>
              <a:srgbClr val="F3F4F6"/>
            </a:solidFill>
          </a:ln>
        </p:spPr>
        <p:txBody>
          <a:bodyPr wrap="square" lIns="254" tIns="254" rIns="254" bIns="254" rtlCol="0" anchor="ctr"/>
          <a:lstStyle/>
          <a:p>
            <a:pPr marL="0" indent="0" algn="ctr">
              <a:buNone/>
            </a:pPr>
            <a:r>
              <a:rPr lang="en-US" sz="1050" b="1" dirty="0">
                <a:solidFill>
                  <a:srgbClr val="111827"/>
                </a:solidFill>
                <a:latin typeface="Aptos" pitchFamily="34" charset="0"/>
                <a:ea typeface="Aptos" pitchFamily="34" charset="-122"/>
                <a:cs typeface="Aptos" pitchFamily="34" charset="-120"/>
              </a:rPr>
              <a:t>Specs</a:t>
            </a:r>
            <a:endParaRPr lang="en-US" sz="1050" dirty="0"/>
          </a:p>
        </p:txBody>
      </p:sp>
      <p:sp>
        <p:nvSpPr>
          <p:cNvPr id="11" name="Text 9"/>
          <p:cNvSpPr/>
          <p:nvPr/>
        </p:nvSpPr>
        <p:spPr>
          <a:xfrm>
            <a:off x="3072384" y="4617720"/>
            <a:ext cx="914400" cy="310896"/>
          </a:xfrm>
          <a:prstGeom prst="rect">
            <a:avLst/>
          </a:prstGeom>
          <a:solidFill>
            <a:srgbClr val="F3F4F6"/>
          </a:solidFill>
          <a:ln>
            <a:solidFill>
              <a:srgbClr val="F3F4F6"/>
            </a:solidFill>
          </a:ln>
        </p:spPr>
        <p:txBody>
          <a:bodyPr wrap="square" lIns="254" tIns="254" rIns="254" bIns="254" rtlCol="0" anchor="ctr"/>
          <a:lstStyle/>
          <a:p>
            <a:pPr marL="0" indent="0" algn="ctr">
              <a:buNone/>
            </a:pPr>
            <a:r>
              <a:rPr lang="en-US" sz="1050" b="1" dirty="0">
                <a:solidFill>
                  <a:srgbClr val="111827"/>
                </a:solidFill>
                <a:latin typeface="Aptos" pitchFamily="34" charset="0"/>
                <a:ea typeface="Aptos" pitchFamily="34" charset="-122"/>
                <a:cs typeface="Aptos" pitchFamily="34" charset="-120"/>
              </a:rPr>
              <a:t>Brand</a:t>
            </a:r>
            <a:endParaRPr lang="en-US" sz="1050" dirty="0"/>
          </a:p>
        </p:txBody>
      </p:sp>
      <p:sp>
        <p:nvSpPr>
          <p:cNvPr id="12" name="Text 10"/>
          <p:cNvSpPr/>
          <p:nvPr/>
        </p:nvSpPr>
        <p:spPr>
          <a:xfrm>
            <a:off x="4151376" y="4617720"/>
            <a:ext cx="914400" cy="310896"/>
          </a:xfrm>
          <a:prstGeom prst="rect">
            <a:avLst/>
          </a:prstGeom>
          <a:solidFill>
            <a:srgbClr val="F3F4F6"/>
          </a:solidFill>
          <a:ln>
            <a:solidFill>
              <a:srgbClr val="F3F4F6"/>
            </a:solidFill>
          </a:ln>
        </p:spPr>
        <p:txBody>
          <a:bodyPr wrap="square" lIns="254" tIns="254" rIns="254" bIns="254" rtlCol="0" anchor="ctr"/>
          <a:lstStyle/>
          <a:p>
            <a:pPr marL="0" indent="0" algn="ctr">
              <a:buNone/>
            </a:pPr>
            <a:r>
              <a:rPr lang="en-US" sz="1050" b="1" dirty="0">
                <a:solidFill>
                  <a:srgbClr val="111827"/>
                </a:solidFill>
                <a:latin typeface="Aptos" pitchFamily="34" charset="0"/>
                <a:ea typeface="Aptos" pitchFamily="34" charset="-122"/>
                <a:cs typeface="Aptos" pitchFamily="34" charset="-120"/>
              </a:rPr>
              <a:t>Lead time</a:t>
            </a:r>
            <a:endParaRPr lang="en-US" sz="1050" dirty="0"/>
          </a:p>
        </p:txBody>
      </p:sp>
      <p:sp>
        <p:nvSpPr>
          <p:cNvPr id="13" name="Shape 11"/>
          <p:cNvSpPr/>
          <p:nvPr/>
        </p:nvSpPr>
        <p:spPr>
          <a:xfrm>
            <a:off x="6080760" y="1371600"/>
            <a:ext cx="0" cy="4389120"/>
          </a:xfrm>
          <a:prstGeom prst="line">
            <a:avLst/>
          </a:prstGeom>
          <a:noFill/>
          <a:ln w="12700">
            <a:solidFill>
              <a:srgbClr val="CBD5E1"/>
            </a:solidFill>
            <a:prstDash val="solid"/>
          </a:ln>
        </p:spPr>
        <p:txBody>
          <a:bodyPr/>
          <a:lstStyle/>
          <a:p>
            <a:endParaRPr lang="en-US"/>
          </a:p>
        </p:txBody>
      </p:sp>
      <p:sp>
        <p:nvSpPr>
          <p:cNvPr id="14" name="Text 12"/>
          <p:cNvSpPr/>
          <p:nvPr/>
        </p:nvSpPr>
        <p:spPr>
          <a:xfrm>
            <a:off x="6629400" y="1417320"/>
            <a:ext cx="4754880" cy="320040"/>
          </a:xfrm>
          <a:prstGeom prst="rect">
            <a:avLst/>
          </a:prstGeom>
          <a:noFill/>
          <a:ln/>
        </p:spPr>
        <p:txBody>
          <a:bodyPr wrap="square" lIns="127" tIns="127" rIns="127" bIns="127" rtlCol="0" anchor="ctr"/>
          <a:lstStyle/>
          <a:p>
            <a:pPr marL="0" indent="0">
              <a:buNone/>
            </a:pPr>
            <a:r>
              <a:rPr lang="en-US" sz="2200" b="1" dirty="0">
                <a:solidFill>
                  <a:srgbClr val="111827"/>
                </a:solidFill>
                <a:latin typeface="Aptos Display" pitchFamily="34" charset="0"/>
                <a:ea typeface="Aptos Display" pitchFamily="34" charset="-122"/>
                <a:cs typeface="Aptos Display" pitchFamily="34" charset="-120"/>
              </a:rPr>
              <a:t>Outcome-led opening</a:t>
            </a:r>
            <a:endParaRPr lang="en-US" sz="2200" dirty="0"/>
          </a:p>
        </p:txBody>
      </p:sp>
      <p:sp>
        <p:nvSpPr>
          <p:cNvPr id="15" name="Text 13"/>
          <p:cNvSpPr/>
          <p:nvPr/>
        </p:nvSpPr>
        <p:spPr>
          <a:xfrm>
            <a:off x="6766560" y="1965960"/>
            <a:ext cx="4480560" cy="822960"/>
          </a:xfrm>
          <a:prstGeom prst="rect">
            <a:avLst/>
          </a:prstGeom>
          <a:noFill/>
          <a:ln/>
        </p:spPr>
        <p:txBody>
          <a:bodyPr wrap="square" lIns="254" tIns="254" rIns="254" bIns="254" rtlCol="0" anchor="ctr">
            <a:normAutofit/>
          </a:bodyPr>
          <a:lstStyle/>
          <a:p>
            <a:pPr marL="0" indent="0">
              <a:buNone/>
            </a:pPr>
            <a:r>
              <a:rPr lang="en-US" sz="2000" i="1" dirty="0">
                <a:solidFill>
                  <a:srgbClr val="334155"/>
                </a:solidFill>
                <a:latin typeface="Aptos" pitchFamily="34" charset="0"/>
                <a:ea typeface="Aptos" pitchFamily="34" charset="-122"/>
                <a:cs typeface="Aptos" pitchFamily="34" charset="-120"/>
              </a:rPr>
              <a:t>“Before selecting the arm, let’s find where capacity is actually being lost.”</a:t>
            </a:r>
            <a:endParaRPr lang="en-US" sz="2000" dirty="0"/>
          </a:p>
        </p:txBody>
      </p:sp>
      <p:sp>
        <p:nvSpPr>
          <p:cNvPr id="16" name="Shape 14"/>
          <p:cNvSpPr/>
          <p:nvPr/>
        </p:nvSpPr>
        <p:spPr>
          <a:xfrm>
            <a:off x="8732520" y="3017520"/>
            <a:ext cx="0" cy="960120"/>
          </a:xfrm>
          <a:prstGeom prst="line">
            <a:avLst/>
          </a:prstGeom>
          <a:noFill/>
          <a:ln w="19050">
            <a:solidFill>
              <a:srgbClr val="334155"/>
            </a:solidFill>
            <a:prstDash val="solid"/>
            <a:headEnd type="none"/>
            <a:tailEnd type="triangle"/>
          </a:ln>
        </p:spPr>
        <p:txBody>
          <a:bodyPr/>
          <a:lstStyle/>
          <a:p>
            <a:endParaRPr lang="en-US"/>
          </a:p>
        </p:txBody>
      </p:sp>
      <p:sp>
        <p:nvSpPr>
          <p:cNvPr id="17" name="Text 15"/>
          <p:cNvSpPr/>
          <p:nvPr/>
        </p:nvSpPr>
        <p:spPr>
          <a:xfrm>
            <a:off x="7178040" y="4224528"/>
            <a:ext cx="3200400" cy="228600"/>
          </a:xfrm>
          <a:prstGeom prst="rect">
            <a:avLst/>
          </a:prstGeom>
          <a:noFill/>
          <a:ln/>
        </p:spPr>
        <p:txBody>
          <a:bodyPr wrap="square" lIns="127" tIns="127" rIns="127" bIns="127" rtlCol="0" anchor="ctr"/>
          <a:lstStyle/>
          <a:p>
            <a:pPr marL="0" indent="0" algn="ctr">
              <a:buNone/>
            </a:pPr>
            <a:r>
              <a:rPr lang="en-US" sz="1300" b="1" dirty="0">
                <a:solidFill>
                  <a:srgbClr val="111827"/>
                </a:solidFill>
                <a:latin typeface="Aptos" pitchFamily="34" charset="0"/>
                <a:ea typeface="Aptos" pitchFamily="34" charset="-122"/>
                <a:cs typeface="Aptos" pitchFamily="34" charset="-120"/>
              </a:rPr>
              <a:t>Buyer compares:</a:t>
            </a:r>
            <a:endParaRPr lang="en-US" sz="1300" dirty="0"/>
          </a:p>
        </p:txBody>
      </p:sp>
      <p:sp>
        <p:nvSpPr>
          <p:cNvPr id="18" name="Text 16"/>
          <p:cNvSpPr/>
          <p:nvPr/>
        </p:nvSpPr>
        <p:spPr>
          <a:xfrm>
            <a:off x="6766560" y="4617720"/>
            <a:ext cx="914400" cy="310896"/>
          </a:xfrm>
          <a:prstGeom prst="rect">
            <a:avLst/>
          </a:prstGeom>
          <a:solidFill>
            <a:srgbClr val="F3F4F6"/>
          </a:solidFill>
          <a:ln>
            <a:solidFill>
              <a:srgbClr val="F3F4F6"/>
            </a:solidFill>
          </a:ln>
        </p:spPr>
        <p:txBody>
          <a:bodyPr wrap="square" lIns="254" tIns="254" rIns="254" bIns="254" rtlCol="0" anchor="ctr"/>
          <a:lstStyle/>
          <a:p>
            <a:pPr marL="0" indent="0" algn="ctr">
              <a:buNone/>
            </a:pPr>
            <a:r>
              <a:rPr lang="en-US" sz="1050" b="1" dirty="0">
                <a:solidFill>
                  <a:srgbClr val="111827"/>
                </a:solidFill>
                <a:latin typeface="Aptos" pitchFamily="34" charset="0"/>
                <a:ea typeface="Aptos" pitchFamily="34" charset="-122"/>
                <a:cs typeface="Aptos" pitchFamily="34" charset="-120"/>
              </a:rPr>
              <a:t>Capacity</a:t>
            </a:r>
            <a:endParaRPr lang="en-US" sz="1050" dirty="0"/>
          </a:p>
        </p:txBody>
      </p:sp>
      <p:sp>
        <p:nvSpPr>
          <p:cNvPr id="19" name="Text 17"/>
          <p:cNvSpPr/>
          <p:nvPr/>
        </p:nvSpPr>
        <p:spPr>
          <a:xfrm>
            <a:off x="7845552" y="4617720"/>
            <a:ext cx="914400" cy="310896"/>
          </a:xfrm>
          <a:prstGeom prst="rect">
            <a:avLst/>
          </a:prstGeom>
          <a:solidFill>
            <a:srgbClr val="F3F4F6"/>
          </a:solidFill>
          <a:ln>
            <a:solidFill>
              <a:srgbClr val="F3F4F6"/>
            </a:solidFill>
          </a:ln>
        </p:spPr>
        <p:txBody>
          <a:bodyPr wrap="square" lIns="254" tIns="254" rIns="254" bIns="254" rtlCol="0" anchor="ctr"/>
          <a:lstStyle/>
          <a:p>
            <a:pPr marL="0" indent="0" algn="ctr">
              <a:buNone/>
            </a:pPr>
            <a:r>
              <a:rPr lang="en-US" sz="1050" b="1" dirty="0">
                <a:solidFill>
                  <a:srgbClr val="111827"/>
                </a:solidFill>
                <a:latin typeface="Aptos" pitchFamily="34" charset="0"/>
                <a:ea typeface="Aptos" pitchFamily="34" charset="-122"/>
                <a:cs typeface="Aptos" pitchFamily="34" charset="-120"/>
              </a:rPr>
              <a:t>Risk</a:t>
            </a:r>
            <a:endParaRPr lang="en-US" sz="1050" dirty="0"/>
          </a:p>
        </p:txBody>
      </p:sp>
      <p:sp>
        <p:nvSpPr>
          <p:cNvPr id="20" name="Text 18"/>
          <p:cNvSpPr/>
          <p:nvPr/>
        </p:nvSpPr>
        <p:spPr>
          <a:xfrm>
            <a:off x="8924544" y="4617720"/>
            <a:ext cx="914400" cy="310896"/>
          </a:xfrm>
          <a:prstGeom prst="rect">
            <a:avLst/>
          </a:prstGeom>
          <a:solidFill>
            <a:srgbClr val="F3F4F6"/>
          </a:solidFill>
          <a:ln>
            <a:solidFill>
              <a:srgbClr val="F3F4F6"/>
            </a:solidFill>
          </a:ln>
        </p:spPr>
        <p:txBody>
          <a:bodyPr wrap="square" lIns="254" tIns="254" rIns="254" bIns="254" rtlCol="0" anchor="ctr"/>
          <a:lstStyle/>
          <a:p>
            <a:pPr marL="0" indent="0" algn="ctr">
              <a:buNone/>
            </a:pPr>
            <a:r>
              <a:rPr lang="en-US" sz="1050" b="1" dirty="0">
                <a:solidFill>
                  <a:srgbClr val="111827"/>
                </a:solidFill>
                <a:latin typeface="Aptos" pitchFamily="34" charset="0"/>
                <a:ea typeface="Aptos" pitchFamily="34" charset="-122"/>
                <a:cs typeface="Aptos" pitchFamily="34" charset="-120"/>
              </a:rPr>
              <a:t>Payback</a:t>
            </a:r>
            <a:endParaRPr lang="en-US" sz="1050" dirty="0"/>
          </a:p>
        </p:txBody>
      </p:sp>
      <p:sp>
        <p:nvSpPr>
          <p:cNvPr id="21" name="Text 19"/>
          <p:cNvSpPr/>
          <p:nvPr/>
        </p:nvSpPr>
        <p:spPr>
          <a:xfrm>
            <a:off x="10003536" y="4617720"/>
            <a:ext cx="914400" cy="310896"/>
          </a:xfrm>
          <a:prstGeom prst="rect">
            <a:avLst/>
          </a:prstGeom>
          <a:solidFill>
            <a:srgbClr val="F3F4F6"/>
          </a:solidFill>
          <a:ln>
            <a:solidFill>
              <a:srgbClr val="F3F4F6"/>
            </a:solidFill>
          </a:ln>
        </p:spPr>
        <p:txBody>
          <a:bodyPr wrap="square" lIns="254" tIns="254" rIns="254" bIns="254" rtlCol="0" anchor="ctr"/>
          <a:lstStyle/>
          <a:p>
            <a:pPr marL="0" indent="0" algn="ctr">
              <a:buNone/>
            </a:pPr>
            <a:r>
              <a:rPr lang="en-US" sz="1050" b="1" dirty="0">
                <a:solidFill>
                  <a:srgbClr val="111827"/>
                </a:solidFill>
                <a:latin typeface="Aptos" pitchFamily="34" charset="0"/>
                <a:ea typeface="Aptos" pitchFamily="34" charset="-122"/>
                <a:cs typeface="Aptos" pitchFamily="34" charset="-120"/>
              </a:rPr>
              <a:t>Confidence</a:t>
            </a:r>
            <a:endParaRPr lang="en-US" sz="1050" dirty="0"/>
          </a:p>
        </p:txBody>
      </p:sp>
      <p:sp>
        <p:nvSpPr>
          <p:cNvPr id="22" name="Shape 20"/>
          <p:cNvSpPr/>
          <p:nvPr/>
        </p:nvSpPr>
        <p:spPr>
          <a:xfrm>
            <a:off x="502920" y="6473952"/>
            <a:ext cx="11155680" cy="0"/>
          </a:xfrm>
          <a:prstGeom prst="line">
            <a:avLst/>
          </a:prstGeom>
          <a:noFill/>
          <a:ln w="9525">
            <a:solidFill>
              <a:srgbClr val="334155">
                <a:alpha val="30000"/>
              </a:srgbClr>
            </a:solidFill>
            <a:prstDash val="solid"/>
          </a:ln>
        </p:spPr>
        <p:txBody>
          <a:bodyPr/>
          <a:lstStyle/>
          <a:p>
            <a:endParaRPr lang="en-US"/>
          </a:p>
        </p:txBody>
      </p:sp>
      <p:sp>
        <p:nvSpPr>
          <p:cNvPr id="23" name="Text 21"/>
          <p:cNvSpPr/>
          <p:nvPr/>
        </p:nvSpPr>
        <p:spPr>
          <a:xfrm>
            <a:off x="502920" y="6565392"/>
            <a:ext cx="5029200" cy="146304"/>
          </a:xfrm>
          <a:prstGeom prst="rect">
            <a:avLst/>
          </a:prstGeom>
          <a:noFill/>
          <a:ln/>
        </p:spPr>
        <p:txBody>
          <a:bodyPr wrap="square" rtlCol="0" anchor="ctr"/>
          <a:lstStyle/>
          <a:p>
            <a:pPr marL="0" indent="0">
              <a:buNone/>
            </a:pPr>
            <a:r>
              <a:rPr lang="en-US" sz="750" dirty="0">
                <a:solidFill>
                  <a:srgbClr val="334155"/>
                </a:solidFill>
                <a:latin typeface="Aptos" pitchFamily="34" charset="0"/>
                <a:ea typeface="Aptos" pitchFamily="34" charset="-122"/>
                <a:cs typeface="Aptos" pitchFamily="34" charset="-120"/>
              </a:rPr>
              <a:t>Beyond the Robot</a:t>
            </a:r>
            <a:endParaRPr lang="en-US" sz="750" dirty="0"/>
          </a:p>
        </p:txBody>
      </p:sp>
      <p:sp>
        <p:nvSpPr>
          <p:cNvPr id="24" name="Text 22"/>
          <p:cNvSpPr/>
          <p:nvPr/>
        </p:nvSpPr>
        <p:spPr>
          <a:xfrm>
            <a:off x="11018520" y="6565392"/>
            <a:ext cx="640080" cy="146304"/>
          </a:xfrm>
          <a:prstGeom prst="rect">
            <a:avLst/>
          </a:prstGeom>
          <a:noFill/>
          <a:ln/>
        </p:spPr>
        <p:txBody>
          <a:bodyPr wrap="square" rtlCol="0" anchor="ctr"/>
          <a:lstStyle/>
          <a:p>
            <a:pPr marL="0" indent="0" algn="r">
              <a:buNone/>
            </a:pPr>
            <a:r>
              <a:rPr lang="en-US" sz="750" dirty="0">
                <a:solidFill>
                  <a:srgbClr val="334155"/>
                </a:solidFill>
                <a:latin typeface="Aptos" pitchFamily="34" charset="0"/>
                <a:ea typeface="Aptos" pitchFamily="34" charset="-122"/>
                <a:cs typeface="Aptos" pitchFamily="34" charset="-120"/>
              </a:rPr>
              <a:t>05</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566928" y="329184"/>
            <a:ext cx="8046720" cy="402336"/>
          </a:xfrm>
          <a:prstGeom prst="rect">
            <a:avLst/>
          </a:prstGeom>
          <a:noFill/>
          <a:ln/>
        </p:spPr>
        <p:txBody>
          <a:bodyPr wrap="square" lIns="254" tIns="254" rIns="254" bIns="254" rtlCol="0" anchor="ctr">
            <a:normAutofit/>
          </a:bodyPr>
          <a:lstStyle/>
          <a:p>
            <a:pPr marL="0" indent="0">
              <a:buNone/>
            </a:pPr>
            <a:r>
              <a:rPr lang="en-US" sz="2700" b="1" dirty="0">
                <a:solidFill>
                  <a:srgbClr val="FFFFFF"/>
                </a:solidFill>
                <a:latin typeface="Aptos Display" pitchFamily="34" charset="0"/>
                <a:ea typeface="Aptos Display" pitchFamily="34" charset="-122"/>
                <a:cs typeface="Aptos Display" pitchFamily="34" charset="-120"/>
              </a:rPr>
              <a:t>The Insight-to-Impact model</a:t>
            </a:r>
            <a:endParaRPr lang="en-US" sz="2700" dirty="0"/>
          </a:p>
        </p:txBody>
      </p:sp>
      <p:sp>
        <p:nvSpPr>
          <p:cNvPr id="3" name="Text 1"/>
          <p:cNvSpPr/>
          <p:nvPr/>
        </p:nvSpPr>
        <p:spPr>
          <a:xfrm>
            <a:off x="585216" y="804672"/>
            <a:ext cx="8046720" cy="219456"/>
          </a:xfrm>
          <a:prstGeom prst="rect">
            <a:avLst/>
          </a:prstGeom>
          <a:noFill/>
          <a:ln/>
        </p:spPr>
        <p:txBody>
          <a:bodyPr wrap="square" lIns="127" tIns="127" rIns="127" bIns="127" rtlCol="0" anchor="ctr"/>
          <a:lstStyle/>
          <a:p>
            <a:pPr marL="0" indent="0">
              <a:buNone/>
            </a:pPr>
            <a:r>
              <a:rPr lang="en-US" sz="1150" dirty="0">
                <a:solidFill>
                  <a:srgbClr val="CBD5E1"/>
                </a:solidFill>
                <a:latin typeface="Aptos" pitchFamily="34" charset="0"/>
                <a:ea typeface="Aptos" pitchFamily="34" charset="-122"/>
                <a:cs typeface="Aptos" pitchFamily="34" charset="-120"/>
              </a:rPr>
              <a:t>A practical sequence for automation sales conversations.</a:t>
            </a:r>
            <a:endParaRPr lang="en-US" sz="1150" dirty="0"/>
          </a:p>
        </p:txBody>
      </p:sp>
      <p:sp>
        <p:nvSpPr>
          <p:cNvPr id="4" name="Shape 2"/>
          <p:cNvSpPr/>
          <p:nvPr/>
        </p:nvSpPr>
        <p:spPr>
          <a:xfrm>
            <a:off x="566928" y="1078992"/>
            <a:ext cx="640080" cy="54864"/>
          </a:xfrm>
          <a:prstGeom prst="rect">
            <a:avLst/>
          </a:prstGeom>
          <a:solidFill>
            <a:srgbClr val="F97316"/>
          </a:solidFill>
          <a:ln w="12700">
            <a:solidFill>
              <a:srgbClr val="F97316"/>
            </a:solidFill>
            <a:prstDash val="solid"/>
          </a:ln>
        </p:spPr>
        <p:txBody>
          <a:bodyPr/>
          <a:lstStyle/>
          <a:p>
            <a:endParaRPr lang="en-US"/>
          </a:p>
        </p:txBody>
      </p:sp>
      <p:sp>
        <p:nvSpPr>
          <p:cNvPr id="5" name="Shape 3"/>
          <p:cNvSpPr/>
          <p:nvPr/>
        </p:nvSpPr>
        <p:spPr>
          <a:xfrm>
            <a:off x="1816608" y="2534911"/>
            <a:ext cx="8558784" cy="0"/>
          </a:xfrm>
          <a:prstGeom prst="line">
            <a:avLst/>
          </a:prstGeom>
          <a:noFill/>
          <a:ln w="13970">
            <a:solidFill>
              <a:srgbClr val="64748B"/>
            </a:solidFill>
            <a:prstDash val="solid"/>
          </a:ln>
        </p:spPr>
        <p:txBody>
          <a:bodyPr/>
          <a:lstStyle/>
          <a:p>
            <a:endParaRPr lang="en-US"/>
          </a:p>
        </p:txBody>
      </p:sp>
      <p:sp>
        <p:nvSpPr>
          <p:cNvPr id="6" name="Text 4"/>
          <p:cNvSpPr/>
          <p:nvPr/>
        </p:nvSpPr>
        <p:spPr>
          <a:xfrm>
            <a:off x="1536192" y="2212848"/>
            <a:ext cx="566928" cy="566928"/>
          </a:xfrm>
          <a:prstGeom prst="rect">
            <a:avLst/>
          </a:prstGeom>
          <a:solidFill>
            <a:srgbClr val="FFFFFF"/>
          </a:solidFill>
          <a:ln>
            <a:solidFill>
              <a:srgbClr val="FFFFFF"/>
            </a:solidFill>
          </a:ln>
        </p:spPr>
        <p:txBody>
          <a:bodyPr wrap="square" lIns="127" tIns="127" rIns="127" bIns="127" rtlCol="0" anchor="ctr"/>
          <a:lstStyle/>
          <a:p>
            <a:pPr marL="0" indent="0" algn="ctr">
              <a:buNone/>
            </a:pPr>
            <a:r>
              <a:rPr lang="en-US" sz="2200" b="1" dirty="0">
                <a:solidFill>
                  <a:srgbClr val="0F172A"/>
                </a:solidFill>
                <a:latin typeface="Aptos Display" pitchFamily="34" charset="0"/>
                <a:ea typeface="Aptos Display" pitchFamily="34" charset="-122"/>
                <a:cs typeface="Aptos Display" pitchFamily="34" charset="-120"/>
              </a:rPr>
              <a:t>1</a:t>
            </a:r>
            <a:endParaRPr lang="en-US" sz="2200" dirty="0"/>
          </a:p>
        </p:txBody>
      </p:sp>
      <p:sp>
        <p:nvSpPr>
          <p:cNvPr id="7" name="Text 5"/>
          <p:cNvSpPr/>
          <p:nvPr/>
        </p:nvSpPr>
        <p:spPr>
          <a:xfrm>
            <a:off x="841248" y="3054096"/>
            <a:ext cx="1956816" cy="310896"/>
          </a:xfrm>
          <a:prstGeom prst="rect">
            <a:avLst/>
          </a:prstGeom>
          <a:noFill/>
          <a:ln/>
        </p:spPr>
        <p:txBody>
          <a:bodyPr wrap="square" lIns="127" tIns="127" rIns="127" bIns="127" rtlCol="0" anchor="ctr">
            <a:normAutofit/>
          </a:bodyPr>
          <a:lstStyle/>
          <a:p>
            <a:pPr marL="0" indent="0" algn="ctr">
              <a:buNone/>
            </a:pPr>
            <a:r>
              <a:rPr lang="en-US" sz="1600" b="1" dirty="0">
                <a:solidFill>
                  <a:srgbClr val="FFFFFF"/>
                </a:solidFill>
                <a:latin typeface="Aptos" pitchFamily="34" charset="0"/>
                <a:ea typeface="Aptos" pitchFamily="34" charset="-122"/>
                <a:cs typeface="Aptos" pitchFamily="34" charset="-120"/>
              </a:rPr>
              <a:t>Reframe</a:t>
            </a:r>
            <a:endParaRPr lang="en-US" sz="1600" dirty="0"/>
          </a:p>
        </p:txBody>
      </p:sp>
      <p:sp>
        <p:nvSpPr>
          <p:cNvPr id="8" name="Text 6"/>
          <p:cNvSpPr/>
          <p:nvPr/>
        </p:nvSpPr>
        <p:spPr>
          <a:xfrm>
            <a:off x="795528" y="3474720"/>
            <a:ext cx="2048256" cy="566928"/>
          </a:xfrm>
          <a:prstGeom prst="rect">
            <a:avLst/>
          </a:prstGeom>
          <a:noFill/>
          <a:ln/>
        </p:spPr>
        <p:txBody>
          <a:bodyPr wrap="square" lIns="254" tIns="254" rIns="254" bIns="254" rtlCol="0" anchor="ctr">
            <a:normAutofit/>
          </a:bodyPr>
          <a:lstStyle/>
          <a:p>
            <a:pPr marL="0" indent="0" algn="ctr">
              <a:buNone/>
            </a:pPr>
            <a:r>
              <a:rPr lang="en-US" sz="1020" dirty="0">
                <a:solidFill>
                  <a:srgbClr val="CBD5E1"/>
                </a:solidFill>
                <a:latin typeface="Aptos" pitchFamily="34" charset="0"/>
                <a:ea typeface="Aptos" pitchFamily="34" charset="-122"/>
                <a:cs typeface="Aptos" pitchFamily="34" charset="-120"/>
              </a:rPr>
              <a:t>Challenge the product-first assumption</a:t>
            </a:r>
            <a:endParaRPr lang="en-US" sz="1020" dirty="0"/>
          </a:p>
        </p:txBody>
      </p:sp>
      <p:sp>
        <p:nvSpPr>
          <p:cNvPr id="9" name="Text 7"/>
          <p:cNvSpPr/>
          <p:nvPr/>
        </p:nvSpPr>
        <p:spPr>
          <a:xfrm>
            <a:off x="3675888" y="2212848"/>
            <a:ext cx="566928" cy="566928"/>
          </a:xfrm>
          <a:prstGeom prst="rect">
            <a:avLst/>
          </a:prstGeom>
          <a:solidFill>
            <a:srgbClr val="FFFFFF"/>
          </a:solidFill>
          <a:ln>
            <a:solidFill>
              <a:srgbClr val="FFFFFF"/>
            </a:solidFill>
          </a:ln>
        </p:spPr>
        <p:txBody>
          <a:bodyPr wrap="square" lIns="127" tIns="127" rIns="127" bIns="127" rtlCol="0" anchor="ctr"/>
          <a:lstStyle/>
          <a:p>
            <a:pPr marL="0" indent="0" algn="ctr">
              <a:buNone/>
            </a:pPr>
            <a:r>
              <a:rPr lang="en-US" sz="2200" b="1" dirty="0">
                <a:solidFill>
                  <a:srgbClr val="0F172A"/>
                </a:solidFill>
                <a:latin typeface="Aptos Display" pitchFamily="34" charset="0"/>
                <a:ea typeface="Aptos Display" pitchFamily="34" charset="-122"/>
                <a:cs typeface="Aptos Display" pitchFamily="34" charset="-120"/>
              </a:rPr>
              <a:t>2</a:t>
            </a:r>
            <a:endParaRPr lang="en-US" sz="2200" dirty="0"/>
          </a:p>
        </p:txBody>
      </p:sp>
      <p:sp>
        <p:nvSpPr>
          <p:cNvPr id="10" name="Text 8"/>
          <p:cNvSpPr/>
          <p:nvPr/>
        </p:nvSpPr>
        <p:spPr>
          <a:xfrm>
            <a:off x="2980944" y="3054096"/>
            <a:ext cx="1956816" cy="310896"/>
          </a:xfrm>
          <a:prstGeom prst="rect">
            <a:avLst/>
          </a:prstGeom>
          <a:noFill/>
          <a:ln/>
        </p:spPr>
        <p:txBody>
          <a:bodyPr wrap="square" lIns="127" tIns="127" rIns="127" bIns="127" rtlCol="0" anchor="ctr">
            <a:normAutofit/>
          </a:bodyPr>
          <a:lstStyle/>
          <a:p>
            <a:pPr marL="0" indent="0" algn="ctr">
              <a:buNone/>
            </a:pPr>
            <a:r>
              <a:rPr lang="en-US" sz="1600" b="1" dirty="0">
                <a:solidFill>
                  <a:srgbClr val="FFFFFF"/>
                </a:solidFill>
                <a:latin typeface="Aptos" pitchFamily="34" charset="0"/>
                <a:ea typeface="Aptos" pitchFamily="34" charset="-122"/>
                <a:cs typeface="Aptos" pitchFamily="34" charset="-120"/>
              </a:rPr>
              <a:t>Diagnose</a:t>
            </a:r>
            <a:endParaRPr lang="en-US" sz="1600" dirty="0"/>
          </a:p>
        </p:txBody>
      </p:sp>
      <p:sp>
        <p:nvSpPr>
          <p:cNvPr id="11" name="Text 9"/>
          <p:cNvSpPr/>
          <p:nvPr/>
        </p:nvSpPr>
        <p:spPr>
          <a:xfrm>
            <a:off x="2935224" y="3474720"/>
            <a:ext cx="2048256" cy="566928"/>
          </a:xfrm>
          <a:prstGeom prst="rect">
            <a:avLst/>
          </a:prstGeom>
          <a:noFill/>
          <a:ln/>
        </p:spPr>
        <p:txBody>
          <a:bodyPr wrap="square" lIns="254" tIns="254" rIns="254" bIns="254" rtlCol="0" anchor="ctr">
            <a:normAutofit/>
          </a:bodyPr>
          <a:lstStyle/>
          <a:p>
            <a:pPr marL="0" indent="0" algn="ctr">
              <a:buNone/>
            </a:pPr>
            <a:r>
              <a:rPr lang="en-US" sz="1020" dirty="0">
                <a:solidFill>
                  <a:srgbClr val="CBD5E1"/>
                </a:solidFill>
                <a:latin typeface="Aptos" pitchFamily="34" charset="0"/>
                <a:ea typeface="Aptos" pitchFamily="34" charset="-122"/>
                <a:cs typeface="Aptos" pitchFamily="34" charset="-120"/>
              </a:rPr>
              <a:t>Find causes, constraints, and decision criteria</a:t>
            </a:r>
            <a:endParaRPr lang="en-US" sz="1020" dirty="0"/>
          </a:p>
        </p:txBody>
      </p:sp>
      <p:sp>
        <p:nvSpPr>
          <p:cNvPr id="12" name="Text 10"/>
          <p:cNvSpPr/>
          <p:nvPr/>
        </p:nvSpPr>
        <p:spPr>
          <a:xfrm>
            <a:off x="5815584" y="2212848"/>
            <a:ext cx="566928" cy="566928"/>
          </a:xfrm>
          <a:prstGeom prst="rect">
            <a:avLst/>
          </a:prstGeom>
          <a:solidFill>
            <a:srgbClr val="FFFFFF"/>
          </a:solidFill>
          <a:ln>
            <a:solidFill>
              <a:srgbClr val="FFFFFF"/>
            </a:solidFill>
          </a:ln>
        </p:spPr>
        <p:txBody>
          <a:bodyPr wrap="square" lIns="127" tIns="127" rIns="127" bIns="127" rtlCol="0" anchor="ctr"/>
          <a:lstStyle/>
          <a:p>
            <a:pPr marL="0" indent="0" algn="ctr">
              <a:buNone/>
            </a:pPr>
            <a:r>
              <a:rPr lang="en-US" sz="2200" b="1" dirty="0">
                <a:solidFill>
                  <a:srgbClr val="0F172A"/>
                </a:solidFill>
                <a:latin typeface="Aptos Display" pitchFamily="34" charset="0"/>
                <a:ea typeface="Aptos Display" pitchFamily="34" charset="-122"/>
                <a:cs typeface="Aptos Display" pitchFamily="34" charset="-120"/>
              </a:rPr>
              <a:t>3</a:t>
            </a:r>
            <a:endParaRPr lang="en-US" sz="2200" dirty="0"/>
          </a:p>
        </p:txBody>
      </p:sp>
      <p:sp>
        <p:nvSpPr>
          <p:cNvPr id="13" name="Text 11"/>
          <p:cNvSpPr/>
          <p:nvPr/>
        </p:nvSpPr>
        <p:spPr>
          <a:xfrm>
            <a:off x="5120640" y="3054096"/>
            <a:ext cx="1956816" cy="310896"/>
          </a:xfrm>
          <a:prstGeom prst="rect">
            <a:avLst/>
          </a:prstGeom>
          <a:noFill/>
          <a:ln/>
        </p:spPr>
        <p:txBody>
          <a:bodyPr wrap="square" lIns="127" tIns="127" rIns="127" bIns="127" rtlCol="0" anchor="ctr">
            <a:normAutofit/>
          </a:bodyPr>
          <a:lstStyle/>
          <a:p>
            <a:pPr marL="0" indent="0" algn="ctr">
              <a:buNone/>
            </a:pPr>
            <a:r>
              <a:rPr lang="en-US" sz="1600" b="1" dirty="0">
                <a:solidFill>
                  <a:srgbClr val="FFFFFF"/>
                </a:solidFill>
                <a:latin typeface="Aptos" pitchFamily="34" charset="0"/>
                <a:ea typeface="Aptos" pitchFamily="34" charset="-122"/>
                <a:cs typeface="Aptos" pitchFamily="34" charset="-120"/>
              </a:rPr>
              <a:t>Quantify</a:t>
            </a:r>
            <a:endParaRPr lang="en-US" sz="1600" dirty="0"/>
          </a:p>
        </p:txBody>
      </p:sp>
      <p:sp>
        <p:nvSpPr>
          <p:cNvPr id="14" name="Text 12"/>
          <p:cNvSpPr/>
          <p:nvPr/>
        </p:nvSpPr>
        <p:spPr>
          <a:xfrm>
            <a:off x="5074920" y="3474720"/>
            <a:ext cx="2048256" cy="566928"/>
          </a:xfrm>
          <a:prstGeom prst="rect">
            <a:avLst/>
          </a:prstGeom>
          <a:noFill/>
          <a:ln/>
        </p:spPr>
        <p:txBody>
          <a:bodyPr wrap="square" lIns="254" tIns="254" rIns="254" bIns="254" rtlCol="0" anchor="ctr">
            <a:normAutofit/>
          </a:bodyPr>
          <a:lstStyle/>
          <a:p>
            <a:pPr marL="0" indent="0" algn="ctr">
              <a:buNone/>
            </a:pPr>
            <a:r>
              <a:rPr lang="en-US" sz="1020" dirty="0">
                <a:solidFill>
                  <a:srgbClr val="CBD5E1"/>
                </a:solidFill>
                <a:latin typeface="Aptos" pitchFamily="34" charset="0"/>
                <a:ea typeface="Aptos" pitchFamily="34" charset="-122"/>
                <a:cs typeface="Aptos" pitchFamily="34" charset="-120"/>
              </a:rPr>
              <a:t>Connect evidence to business impact</a:t>
            </a:r>
            <a:endParaRPr lang="en-US" sz="1020" dirty="0"/>
          </a:p>
        </p:txBody>
      </p:sp>
      <p:sp>
        <p:nvSpPr>
          <p:cNvPr id="15" name="Text 13"/>
          <p:cNvSpPr/>
          <p:nvPr/>
        </p:nvSpPr>
        <p:spPr>
          <a:xfrm>
            <a:off x="7955280" y="2212848"/>
            <a:ext cx="566928" cy="566928"/>
          </a:xfrm>
          <a:prstGeom prst="rect">
            <a:avLst/>
          </a:prstGeom>
          <a:solidFill>
            <a:srgbClr val="FFFFFF"/>
          </a:solidFill>
          <a:ln>
            <a:solidFill>
              <a:srgbClr val="FFFFFF"/>
            </a:solidFill>
          </a:ln>
        </p:spPr>
        <p:txBody>
          <a:bodyPr wrap="square" lIns="127" tIns="127" rIns="127" bIns="127" rtlCol="0" anchor="ctr"/>
          <a:lstStyle/>
          <a:p>
            <a:pPr marL="0" indent="0" algn="ctr">
              <a:buNone/>
            </a:pPr>
            <a:r>
              <a:rPr lang="en-US" sz="2200" b="1" dirty="0">
                <a:solidFill>
                  <a:srgbClr val="0F172A"/>
                </a:solidFill>
                <a:latin typeface="Aptos Display" pitchFamily="34" charset="0"/>
                <a:ea typeface="Aptos Display" pitchFamily="34" charset="-122"/>
                <a:cs typeface="Aptos Display" pitchFamily="34" charset="-120"/>
              </a:rPr>
              <a:t>4</a:t>
            </a:r>
            <a:endParaRPr lang="en-US" sz="2200" dirty="0"/>
          </a:p>
        </p:txBody>
      </p:sp>
      <p:sp>
        <p:nvSpPr>
          <p:cNvPr id="16" name="Text 14"/>
          <p:cNvSpPr/>
          <p:nvPr/>
        </p:nvSpPr>
        <p:spPr>
          <a:xfrm>
            <a:off x="7260336" y="3054096"/>
            <a:ext cx="1956816" cy="310896"/>
          </a:xfrm>
          <a:prstGeom prst="rect">
            <a:avLst/>
          </a:prstGeom>
          <a:noFill/>
          <a:ln/>
        </p:spPr>
        <p:txBody>
          <a:bodyPr wrap="square" lIns="127" tIns="127" rIns="127" bIns="127" rtlCol="0" anchor="ctr">
            <a:normAutofit/>
          </a:bodyPr>
          <a:lstStyle/>
          <a:p>
            <a:pPr marL="0" indent="0" algn="ctr">
              <a:buNone/>
            </a:pPr>
            <a:r>
              <a:rPr lang="en-US" sz="1600" b="1" dirty="0">
                <a:solidFill>
                  <a:srgbClr val="FFFFFF"/>
                </a:solidFill>
                <a:latin typeface="Aptos" pitchFamily="34" charset="0"/>
                <a:ea typeface="Aptos" pitchFamily="34" charset="-122"/>
                <a:cs typeface="Aptos" pitchFamily="34" charset="-120"/>
              </a:rPr>
              <a:t>Tailor</a:t>
            </a:r>
            <a:endParaRPr lang="en-US" sz="1600" dirty="0"/>
          </a:p>
        </p:txBody>
      </p:sp>
      <p:sp>
        <p:nvSpPr>
          <p:cNvPr id="17" name="Text 15"/>
          <p:cNvSpPr/>
          <p:nvPr/>
        </p:nvSpPr>
        <p:spPr>
          <a:xfrm>
            <a:off x="7214616" y="3474720"/>
            <a:ext cx="2048256" cy="566928"/>
          </a:xfrm>
          <a:prstGeom prst="rect">
            <a:avLst/>
          </a:prstGeom>
          <a:noFill/>
          <a:ln/>
        </p:spPr>
        <p:txBody>
          <a:bodyPr wrap="square" lIns="254" tIns="254" rIns="254" bIns="254" rtlCol="0" anchor="ctr">
            <a:normAutofit/>
          </a:bodyPr>
          <a:lstStyle/>
          <a:p>
            <a:pPr marL="0" indent="0" algn="ctr">
              <a:buNone/>
            </a:pPr>
            <a:r>
              <a:rPr lang="en-US" sz="1020" dirty="0">
                <a:solidFill>
                  <a:srgbClr val="CBD5E1"/>
                </a:solidFill>
                <a:latin typeface="Aptos" pitchFamily="34" charset="0"/>
                <a:ea typeface="Aptos" pitchFamily="34" charset="-122"/>
                <a:cs typeface="Aptos" pitchFamily="34" charset="-120"/>
              </a:rPr>
              <a:t>Align message to stakeholder priorities</a:t>
            </a:r>
            <a:endParaRPr lang="en-US" sz="1020" dirty="0"/>
          </a:p>
        </p:txBody>
      </p:sp>
      <p:sp>
        <p:nvSpPr>
          <p:cNvPr id="18" name="Text 16"/>
          <p:cNvSpPr/>
          <p:nvPr/>
        </p:nvSpPr>
        <p:spPr>
          <a:xfrm>
            <a:off x="10094976" y="2212848"/>
            <a:ext cx="566928" cy="566928"/>
          </a:xfrm>
          <a:prstGeom prst="rect">
            <a:avLst/>
          </a:prstGeom>
          <a:solidFill>
            <a:srgbClr val="FFFFFF"/>
          </a:solidFill>
          <a:ln>
            <a:solidFill>
              <a:srgbClr val="FFFFFF"/>
            </a:solidFill>
          </a:ln>
        </p:spPr>
        <p:txBody>
          <a:bodyPr wrap="square" lIns="127" tIns="127" rIns="127" bIns="127" rtlCol="0" anchor="ctr"/>
          <a:lstStyle/>
          <a:p>
            <a:pPr marL="0" indent="0" algn="ctr">
              <a:buNone/>
            </a:pPr>
            <a:r>
              <a:rPr lang="en-US" sz="2200" b="1" dirty="0">
                <a:solidFill>
                  <a:srgbClr val="0F172A"/>
                </a:solidFill>
                <a:latin typeface="Aptos Display" pitchFamily="34" charset="0"/>
                <a:ea typeface="Aptos Display" pitchFamily="34" charset="-122"/>
                <a:cs typeface="Aptos Display" pitchFamily="34" charset="-120"/>
              </a:rPr>
              <a:t>5</a:t>
            </a:r>
            <a:endParaRPr lang="en-US" sz="2200" dirty="0"/>
          </a:p>
        </p:txBody>
      </p:sp>
      <p:sp>
        <p:nvSpPr>
          <p:cNvPr id="19" name="Text 17"/>
          <p:cNvSpPr/>
          <p:nvPr/>
        </p:nvSpPr>
        <p:spPr>
          <a:xfrm>
            <a:off x="9400032" y="3054096"/>
            <a:ext cx="1956816" cy="310896"/>
          </a:xfrm>
          <a:prstGeom prst="rect">
            <a:avLst/>
          </a:prstGeom>
          <a:noFill/>
          <a:ln/>
        </p:spPr>
        <p:txBody>
          <a:bodyPr wrap="square" lIns="127" tIns="127" rIns="127" bIns="127" rtlCol="0" anchor="ctr">
            <a:normAutofit/>
          </a:bodyPr>
          <a:lstStyle/>
          <a:p>
            <a:pPr marL="0" indent="0" algn="ctr">
              <a:buNone/>
            </a:pPr>
            <a:r>
              <a:rPr lang="en-US" sz="1600" b="1" dirty="0">
                <a:solidFill>
                  <a:srgbClr val="FFFFFF"/>
                </a:solidFill>
                <a:latin typeface="Aptos" pitchFamily="34" charset="0"/>
                <a:ea typeface="Aptos" pitchFamily="34" charset="-122"/>
                <a:cs typeface="Aptos" pitchFamily="34" charset="-120"/>
              </a:rPr>
              <a:t>Advance</a:t>
            </a:r>
            <a:endParaRPr lang="en-US" sz="1600" dirty="0"/>
          </a:p>
        </p:txBody>
      </p:sp>
      <p:sp>
        <p:nvSpPr>
          <p:cNvPr id="20" name="Text 18"/>
          <p:cNvSpPr/>
          <p:nvPr/>
        </p:nvSpPr>
        <p:spPr>
          <a:xfrm>
            <a:off x="9354312" y="3474720"/>
            <a:ext cx="2048256" cy="566928"/>
          </a:xfrm>
          <a:prstGeom prst="rect">
            <a:avLst/>
          </a:prstGeom>
          <a:noFill/>
          <a:ln/>
        </p:spPr>
        <p:txBody>
          <a:bodyPr wrap="square" lIns="254" tIns="254" rIns="254" bIns="254" rtlCol="0" anchor="ctr">
            <a:normAutofit/>
          </a:bodyPr>
          <a:lstStyle/>
          <a:p>
            <a:pPr marL="0" indent="0" algn="ctr">
              <a:buNone/>
            </a:pPr>
            <a:r>
              <a:rPr lang="en-US" sz="1020" dirty="0">
                <a:solidFill>
                  <a:srgbClr val="CBD5E1"/>
                </a:solidFill>
                <a:latin typeface="Aptos" pitchFamily="34" charset="0"/>
                <a:ea typeface="Aptos" pitchFamily="34" charset="-122"/>
                <a:cs typeface="Aptos" pitchFamily="34" charset="-120"/>
              </a:rPr>
              <a:t>Secure the right validation step</a:t>
            </a:r>
            <a:endParaRPr lang="en-US" sz="1020" dirty="0"/>
          </a:p>
        </p:txBody>
      </p:sp>
      <p:sp>
        <p:nvSpPr>
          <p:cNvPr id="21" name="Text 19"/>
          <p:cNvSpPr/>
          <p:nvPr/>
        </p:nvSpPr>
        <p:spPr>
          <a:xfrm>
            <a:off x="1234440" y="4983480"/>
            <a:ext cx="9692640" cy="475488"/>
          </a:xfrm>
          <a:prstGeom prst="rect">
            <a:avLst/>
          </a:prstGeom>
          <a:noFill/>
          <a:ln/>
        </p:spPr>
        <p:txBody>
          <a:bodyPr wrap="square" lIns="127" tIns="127" rIns="127" bIns="127" rtlCol="0" anchor="ctr"/>
          <a:lstStyle/>
          <a:p>
            <a:pPr marL="0" indent="0" algn="ctr">
              <a:buNone/>
            </a:pPr>
            <a:r>
              <a:rPr lang="en-US" sz="2400" b="1" dirty="0">
                <a:solidFill>
                  <a:srgbClr val="FFFFFF"/>
                </a:solidFill>
                <a:latin typeface="Aptos Display" pitchFamily="34" charset="0"/>
                <a:ea typeface="Aptos Display" pitchFamily="34" charset="-122"/>
                <a:cs typeface="Aptos Display" pitchFamily="34" charset="-120"/>
              </a:rPr>
              <a:t>Core behavior: enter with a credible hypothesis, then test it through discovery.</a:t>
            </a:r>
            <a:endParaRPr lang="en-US" sz="2400" dirty="0"/>
          </a:p>
        </p:txBody>
      </p:sp>
      <p:sp>
        <p:nvSpPr>
          <p:cNvPr id="22" name="Shape 20"/>
          <p:cNvSpPr/>
          <p:nvPr/>
        </p:nvSpPr>
        <p:spPr>
          <a:xfrm>
            <a:off x="502920" y="6473952"/>
            <a:ext cx="11155680" cy="0"/>
          </a:xfrm>
          <a:prstGeom prst="line">
            <a:avLst/>
          </a:prstGeom>
          <a:noFill/>
          <a:ln w="9525">
            <a:solidFill>
              <a:srgbClr val="334155">
                <a:alpha val="30000"/>
              </a:srgbClr>
            </a:solidFill>
            <a:prstDash val="solid"/>
          </a:ln>
        </p:spPr>
        <p:txBody>
          <a:bodyPr/>
          <a:lstStyle/>
          <a:p>
            <a:endParaRPr lang="en-US"/>
          </a:p>
        </p:txBody>
      </p:sp>
      <p:sp>
        <p:nvSpPr>
          <p:cNvPr id="23" name="Text 21"/>
          <p:cNvSpPr/>
          <p:nvPr/>
        </p:nvSpPr>
        <p:spPr>
          <a:xfrm>
            <a:off x="502920" y="6565392"/>
            <a:ext cx="5029200" cy="146304"/>
          </a:xfrm>
          <a:prstGeom prst="rect">
            <a:avLst/>
          </a:prstGeom>
          <a:noFill/>
          <a:ln/>
        </p:spPr>
        <p:txBody>
          <a:bodyPr wrap="square" rtlCol="0" anchor="ctr"/>
          <a:lstStyle/>
          <a:p>
            <a:pPr marL="0" indent="0">
              <a:buNone/>
            </a:pPr>
            <a:r>
              <a:rPr lang="en-US" sz="750" dirty="0">
                <a:solidFill>
                  <a:srgbClr val="334155"/>
                </a:solidFill>
                <a:latin typeface="Aptos" pitchFamily="34" charset="0"/>
                <a:ea typeface="Aptos" pitchFamily="34" charset="-122"/>
                <a:cs typeface="Aptos" pitchFamily="34" charset="-120"/>
              </a:rPr>
              <a:t>Insight-to-Impact</a:t>
            </a:r>
            <a:endParaRPr lang="en-US" sz="750" dirty="0"/>
          </a:p>
        </p:txBody>
      </p:sp>
      <p:sp>
        <p:nvSpPr>
          <p:cNvPr id="24" name="Text 22"/>
          <p:cNvSpPr/>
          <p:nvPr/>
        </p:nvSpPr>
        <p:spPr>
          <a:xfrm>
            <a:off x="11018520" y="6565392"/>
            <a:ext cx="640080" cy="146304"/>
          </a:xfrm>
          <a:prstGeom prst="rect">
            <a:avLst/>
          </a:prstGeom>
          <a:noFill/>
          <a:ln/>
        </p:spPr>
        <p:txBody>
          <a:bodyPr wrap="square" rtlCol="0" anchor="ctr"/>
          <a:lstStyle/>
          <a:p>
            <a:pPr marL="0" indent="0" algn="r">
              <a:buNone/>
            </a:pPr>
            <a:r>
              <a:rPr lang="en-US" sz="750" dirty="0">
                <a:solidFill>
                  <a:srgbClr val="334155"/>
                </a:solidFill>
                <a:latin typeface="Aptos" pitchFamily="34" charset="0"/>
                <a:ea typeface="Aptos" pitchFamily="34" charset="-122"/>
                <a:cs typeface="Aptos" pitchFamily="34" charset="-120"/>
              </a:rPr>
              <a:t>06</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8046720" cy="402336"/>
          </a:xfrm>
          <a:prstGeom prst="rect">
            <a:avLst/>
          </a:prstGeom>
          <a:noFill/>
          <a:ln/>
        </p:spPr>
        <p:txBody>
          <a:bodyPr wrap="square" lIns="254" tIns="254" rIns="254" bIns="254" rtlCol="0" anchor="ctr">
            <a:normAutofit/>
          </a:bodyPr>
          <a:lstStyle/>
          <a:p>
            <a:pPr marL="0" indent="0">
              <a:buNone/>
            </a:pPr>
            <a:r>
              <a:rPr lang="en-US" sz="2700" b="1" dirty="0">
                <a:solidFill>
                  <a:srgbClr val="111827"/>
                </a:solidFill>
                <a:latin typeface="Aptos Display" pitchFamily="34" charset="0"/>
                <a:ea typeface="Aptos Display" pitchFamily="34" charset="-122"/>
                <a:cs typeface="Aptos Display" pitchFamily="34" charset="-120"/>
              </a:rPr>
              <a:t>Stage 1: Reframe</a:t>
            </a:r>
            <a:endParaRPr lang="en-US" sz="2700" dirty="0"/>
          </a:p>
        </p:txBody>
      </p:sp>
      <p:sp>
        <p:nvSpPr>
          <p:cNvPr id="3" name="Text 1"/>
          <p:cNvSpPr/>
          <p:nvPr/>
        </p:nvSpPr>
        <p:spPr>
          <a:xfrm>
            <a:off x="585216" y="804672"/>
            <a:ext cx="8046720" cy="219456"/>
          </a:xfrm>
          <a:prstGeom prst="rect">
            <a:avLst/>
          </a:prstGeom>
          <a:noFill/>
          <a:ln/>
        </p:spPr>
        <p:txBody>
          <a:bodyPr wrap="square" lIns="127" tIns="127" rIns="127" bIns="127" rtlCol="0" anchor="ctr"/>
          <a:lstStyle/>
          <a:p>
            <a:pPr marL="0" indent="0">
              <a:buNone/>
            </a:pPr>
            <a:r>
              <a:rPr lang="en-US" sz="1150" dirty="0">
                <a:solidFill>
                  <a:srgbClr val="334155"/>
                </a:solidFill>
                <a:latin typeface="Aptos" pitchFamily="34" charset="0"/>
                <a:ea typeface="Aptos" pitchFamily="34" charset="-122"/>
                <a:cs typeface="Aptos" pitchFamily="34" charset="-120"/>
              </a:rPr>
              <a:t>Teach the customer something useful before you ask them to choose equipment.</a:t>
            </a:r>
            <a:endParaRPr lang="en-US" sz="1150" dirty="0"/>
          </a:p>
        </p:txBody>
      </p:sp>
      <p:sp>
        <p:nvSpPr>
          <p:cNvPr id="4" name="Shape 2"/>
          <p:cNvSpPr/>
          <p:nvPr/>
        </p:nvSpPr>
        <p:spPr>
          <a:xfrm>
            <a:off x="566928" y="1078992"/>
            <a:ext cx="640080" cy="54864"/>
          </a:xfrm>
          <a:prstGeom prst="rect">
            <a:avLst/>
          </a:prstGeom>
          <a:solidFill>
            <a:srgbClr val="F97316"/>
          </a:solidFill>
          <a:ln w="12700">
            <a:solidFill>
              <a:srgbClr val="F97316"/>
            </a:solidFill>
            <a:prstDash val="solid"/>
          </a:ln>
        </p:spPr>
        <p:txBody>
          <a:bodyPr/>
          <a:lstStyle/>
          <a:p>
            <a:endParaRPr lang="en-US"/>
          </a:p>
        </p:txBody>
      </p:sp>
      <p:sp>
        <p:nvSpPr>
          <p:cNvPr id="5" name="Text 3"/>
          <p:cNvSpPr/>
          <p:nvPr/>
        </p:nvSpPr>
        <p:spPr>
          <a:xfrm>
            <a:off x="1609344" y="1216152"/>
            <a:ext cx="438912" cy="438912"/>
          </a:xfrm>
          <a:prstGeom prst="rect">
            <a:avLst/>
          </a:prstGeom>
          <a:solidFill>
            <a:schemeClr val="accent2"/>
          </a:solidFill>
          <a:ln>
            <a:solidFill>
              <a:srgbClr val="CBD5E1"/>
            </a:solidFill>
          </a:ln>
        </p:spPr>
        <p:txBody>
          <a:bodyPr wrap="square" lIns="127" tIns="127" rIns="127" bIns="127" rtlCol="0" anchor="ctr">
            <a:normAutofit/>
          </a:bodyPr>
          <a:lstStyle/>
          <a:p>
            <a:pPr marL="0" indent="0" algn="ctr">
              <a:buNone/>
            </a:pPr>
            <a:r>
              <a:rPr lang="en-US" sz="1500" b="1" dirty="0">
                <a:solidFill>
                  <a:srgbClr val="111827"/>
                </a:solidFill>
                <a:latin typeface="Aptos" pitchFamily="34" charset="0"/>
                <a:ea typeface="Aptos" pitchFamily="34" charset="-122"/>
                <a:cs typeface="Aptos" pitchFamily="34" charset="-120"/>
              </a:rPr>
              <a:t>1</a:t>
            </a:r>
            <a:endParaRPr lang="en-US" sz="1500" dirty="0"/>
          </a:p>
        </p:txBody>
      </p:sp>
      <p:sp>
        <p:nvSpPr>
          <p:cNvPr id="6" name="Text 4"/>
          <p:cNvSpPr/>
          <p:nvPr/>
        </p:nvSpPr>
        <p:spPr>
          <a:xfrm>
            <a:off x="777240" y="1783080"/>
            <a:ext cx="2103120" cy="219456"/>
          </a:xfrm>
          <a:prstGeom prst="rect">
            <a:avLst/>
          </a:prstGeom>
          <a:noFill/>
          <a:ln/>
        </p:spPr>
        <p:txBody>
          <a:bodyPr wrap="square" lIns="127" tIns="127" rIns="127" bIns="127" rtlCol="0" anchor="ctr">
            <a:normAutofit/>
          </a:bodyPr>
          <a:lstStyle/>
          <a:p>
            <a:pPr marL="0" indent="0" algn="ctr">
              <a:buNone/>
            </a:pPr>
            <a:r>
              <a:rPr lang="en-US" sz="1250" b="1" dirty="0">
                <a:solidFill>
                  <a:srgbClr val="111827"/>
                </a:solidFill>
                <a:latin typeface="Aptos" pitchFamily="34" charset="0"/>
                <a:ea typeface="Aptos" pitchFamily="34" charset="-122"/>
                <a:cs typeface="Aptos" pitchFamily="34" charset="-120"/>
              </a:rPr>
              <a:t>Reframe</a:t>
            </a:r>
            <a:endParaRPr lang="en-US" sz="1250" dirty="0"/>
          </a:p>
        </p:txBody>
      </p:sp>
      <p:sp>
        <p:nvSpPr>
          <p:cNvPr id="7" name="Text 5"/>
          <p:cNvSpPr/>
          <p:nvPr/>
        </p:nvSpPr>
        <p:spPr>
          <a:xfrm>
            <a:off x="777240" y="2084832"/>
            <a:ext cx="2103120" cy="329184"/>
          </a:xfrm>
          <a:prstGeom prst="rect">
            <a:avLst/>
          </a:prstGeom>
          <a:noFill/>
          <a:ln/>
        </p:spPr>
        <p:txBody>
          <a:bodyPr wrap="square" lIns="127" tIns="127" rIns="127" bIns="127" rtlCol="0" anchor="ctr">
            <a:normAutofit/>
          </a:bodyPr>
          <a:lstStyle/>
          <a:p>
            <a:pPr marL="0" indent="0" algn="ctr">
              <a:buNone/>
            </a:pPr>
            <a:r>
              <a:rPr lang="en-US" sz="880" dirty="0">
                <a:solidFill>
                  <a:srgbClr val="334155"/>
                </a:solidFill>
                <a:latin typeface="Aptos" pitchFamily="34" charset="0"/>
                <a:ea typeface="Aptos" pitchFamily="34" charset="-122"/>
                <a:cs typeface="Aptos" pitchFamily="34" charset="-120"/>
              </a:rPr>
              <a:t>teach a better decision frame</a:t>
            </a:r>
            <a:endParaRPr lang="en-US" sz="880" dirty="0"/>
          </a:p>
        </p:txBody>
      </p:sp>
      <p:sp>
        <p:nvSpPr>
          <p:cNvPr id="8" name="Text 6"/>
          <p:cNvSpPr/>
          <p:nvPr/>
        </p:nvSpPr>
        <p:spPr>
          <a:xfrm>
            <a:off x="3712464" y="1216152"/>
            <a:ext cx="438912" cy="438912"/>
          </a:xfrm>
          <a:prstGeom prst="rect">
            <a:avLst/>
          </a:prstGeom>
          <a:solidFill>
            <a:srgbClr val="F3F4F6"/>
          </a:solidFill>
          <a:ln>
            <a:solidFill>
              <a:srgbClr val="CBD5E1"/>
            </a:solidFill>
          </a:ln>
        </p:spPr>
        <p:txBody>
          <a:bodyPr wrap="square" lIns="127" tIns="127" rIns="127" bIns="127" rtlCol="0" anchor="ctr">
            <a:normAutofit/>
          </a:bodyPr>
          <a:lstStyle/>
          <a:p>
            <a:pPr marL="0" indent="0" algn="ctr">
              <a:buNone/>
            </a:pPr>
            <a:r>
              <a:rPr lang="en-US" sz="1500" b="1" dirty="0">
                <a:solidFill>
                  <a:srgbClr val="111827"/>
                </a:solidFill>
                <a:latin typeface="Aptos" pitchFamily="34" charset="0"/>
                <a:ea typeface="Aptos" pitchFamily="34" charset="-122"/>
                <a:cs typeface="Aptos" pitchFamily="34" charset="-120"/>
              </a:rPr>
              <a:t>2</a:t>
            </a:r>
            <a:endParaRPr lang="en-US" sz="1500" dirty="0"/>
          </a:p>
        </p:txBody>
      </p:sp>
      <p:sp>
        <p:nvSpPr>
          <p:cNvPr id="9" name="Text 7"/>
          <p:cNvSpPr/>
          <p:nvPr/>
        </p:nvSpPr>
        <p:spPr>
          <a:xfrm>
            <a:off x="2880360" y="1783080"/>
            <a:ext cx="2103120" cy="219456"/>
          </a:xfrm>
          <a:prstGeom prst="rect">
            <a:avLst/>
          </a:prstGeom>
          <a:noFill/>
          <a:ln/>
        </p:spPr>
        <p:txBody>
          <a:bodyPr wrap="square" lIns="127" tIns="127" rIns="127" bIns="127" rtlCol="0" anchor="ctr">
            <a:normAutofit/>
          </a:bodyPr>
          <a:lstStyle/>
          <a:p>
            <a:pPr marL="0" indent="0" algn="ctr">
              <a:buNone/>
            </a:pPr>
            <a:r>
              <a:rPr lang="en-US" sz="1250" b="1" dirty="0">
                <a:solidFill>
                  <a:srgbClr val="111827"/>
                </a:solidFill>
                <a:latin typeface="Aptos" pitchFamily="34" charset="0"/>
                <a:ea typeface="Aptos" pitchFamily="34" charset="-122"/>
                <a:cs typeface="Aptos" pitchFamily="34" charset="-120"/>
              </a:rPr>
              <a:t>Diagnose</a:t>
            </a:r>
            <a:endParaRPr lang="en-US" sz="1250" dirty="0"/>
          </a:p>
        </p:txBody>
      </p:sp>
      <p:sp>
        <p:nvSpPr>
          <p:cNvPr id="10" name="Text 8"/>
          <p:cNvSpPr/>
          <p:nvPr/>
        </p:nvSpPr>
        <p:spPr>
          <a:xfrm>
            <a:off x="2880360" y="2084832"/>
            <a:ext cx="2103120" cy="329184"/>
          </a:xfrm>
          <a:prstGeom prst="rect">
            <a:avLst/>
          </a:prstGeom>
          <a:noFill/>
          <a:ln/>
        </p:spPr>
        <p:txBody>
          <a:bodyPr wrap="square" lIns="127" tIns="127" rIns="127" bIns="127" rtlCol="0" anchor="ctr">
            <a:normAutofit/>
          </a:bodyPr>
          <a:lstStyle/>
          <a:p>
            <a:pPr marL="0" indent="0" algn="ctr">
              <a:buNone/>
            </a:pPr>
            <a:r>
              <a:rPr lang="en-US" sz="880" dirty="0">
                <a:solidFill>
                  <a:srgbClr val="334155"/>
                </a:solidFill>
                <a:latin typeface="Aptos" pitchFamily="34" charset="0"/>
                <a:ea typeface="Aptos" pitchFamily="34" charset="-122"/>
                <a:cs typeface="Aptos" pitchFamily="34" charset="-120"/>
              </a:rPr>
              <a:t>discover causes and constraints</a:t>
            </a:r>
            <a:endParaRPr lang="en-US" sz="880" dirty="0"/>
          </a:p>
        </p:txBody>
      </p:sp>
      <p:sp>
        <p:nvSpPr>
          <p:cNvPr id="11" name="Text 9"/>
          <p:cNvSpPr/>
          <p:nvPr/>
        </p:nvSpPr>
        <p:spPr>
          <a:xfrm>
            <a:off x="5815584" y="1216152"/>
            <a:ext cx="438912" cy="438912"/>
          </a:xfrm>
          <a:prstGeom prst="rect">
            <a:avLst/>
          </a:prstGeom>
          <a:solidFill>
            <a:srgbClr val="F3F4F6"/>
          </a:solidFill>
          <a:ln>
            <a:solidFill>
              <a:srgbClr val="CBD5E1"/>
            </a:solidFill>
          </a:ln>
        </p:spPr>
        <p:txBody>
          <a:bodyPr wrap="square" lIns="127" tIns="127" rIns="127" bIns="127" rtlCol="0" anchor="ctr">
            <a:normAutofit/>
          </a:bodyPr>
          <a:lstStyle/>
          <a:p>
            <a:pPr marL="0" indent="0" algn="ctr">
              <a:buNone/>
            </a:pPr>
            <a:r>
              <a:rPr lang="en-US" sz="1500" b="1" dirty="0">
                <a:solidFill>
                  <a:srgbClr val="111827"/>
                </a:solidFill>
                <a:latin typeface="Aptos" pitchFamily="34" charset="0"/>
                <a:ea typeface="Aptos" pitchFamily="34" charset="-122"/>
                <a:cs typeface="Aptos" pitchFamily="34" charset="-120"/>
              </a:rPr>
              <a:t>3</a:t>
            </a:r>
            <a:endParaRPr lang="en-US" sz="1500" dirty="0"/>
          </a:p>
        </p:txBody>
      </p:sp>
      <p:sp>
        <p:nvSpPr>
          <p:cNvPr id="12" name="Text 10"/>
          <p:cNvSpPr/>
          <p:nvPr/>
        </p:nvSpPr>
        <p:spPr>
          <a:xfrm>
            <a:off x="4983480" y="1783080"/>
            <a:ext cx="2103120" cy="219456"/>
          </a:xfrm>
          <a:prstGeom prst="rect">
            <a:avLst/>
          </a:prstGeom>
          <a:noFill/>
          <a:ln/>
        </p:spPr>
        <p:txBody>
          <a:bodyPr wrap="square" lIns="127" tIns="127" rIns="127" bIns="127" rtlCol="0" anchor="ctr">
            <a:normAutofit/>
          </a:bodyPr>
          <a:lstStyle/>
          <a:p>
            <a:pPr marL="0" indent="0" algn="ctr">
              <a:buNone/>
            </a:pPr>
            <a:r>
              <a:rPr lang="en-US" sz="1250" b="1" dirty="0">
                <a:solidFill>
                  <a:srgbClr val="111827"/>
                </a:solidFill>
                <a:latin typeface="Aptos" pitchFamily="34" charset="0"/>
                <a:ea typeface="Aptos" pitchFamily="34" charset="-122"/>
                <a:cs typeface="Aptos" pitchFamily="34" charset="-120"/>
              </a:rPr>
              <a:t>Quantify</a:t>
            </a:r>
            <a:endParaRPr lang="en-US" sz="1250" dirty="0"/>
          </a:p>
        </p:txBody>
      </p:sp>
      <p:sp>
        <p:nvSpPr>
          <p:cNvPr id="13" name="Text 11"/>
          <p:cNvSpPr/>
          <p:nvPr/>
        </p:nvSpPr>
        <p:spPr>
          <a:xfrm>
            <a:off x="4983480" y="2084832"/>
            <a:ext cx="2103120" cy="329184"/>
          </a:xfrm>
          <a:prstGeom prst="rect">
            <a:avLst/>
          </a:prstGeom>
          <a:noFill/>
          <a:ln/>
        </p:spPr>
        <p:txBody>
          <a:bodyPr wrap="square" lIns="127" tIns="127" rIns="127" bIns="127" rtlCol="0" anchor="ctr">
            <a:normAutofit/>
          </a:bodyPr>
          <a:lstStyle/>
          <a:p>
            <a:pPr marL="0" indent="0" algn="ctr">
              <a:buNone/>
            </a:pPr>
            <a:r>
              <a:rPr lang="en-US" sz="880" dirty="0">
                <a:solidFill>
                  <a:srgbClr val="334155"/>
                </a:solidFill>
                <a:latin typeface="Aptos" pitchFamily="34" charset="0"/>
                <a:ea typeface="Aptos" pitchFamily="34" charset="-122"/>
                <a:cs typeface="Aptos" pitchFamily="34" charset="-120"/>
              </a:rPr>
              <a:t>connect evidence to impact</a:t>
            </a:r>
            <a:endParaRPr lang="en-US" sz="880" dirty="0"/>
          </a:p>
        </p:txBody>
      </p:sp>
      <p:sp>
        <p:nvSpPr>
          <p:cNvPr id="14" name="Text 12"/>
          <p:cNvSpPr/>
          <p:nvPr/>
        </p:nvSpPr>
        <p:spPr>
          <a:xfrm>
            <a:off x="7918704" y="1216152"/>
            <a:ext cx="438912" cy="438912"/>
          </a:xfrm>
          <a:prstGeom prst="rect">
            <a:avLst/>
          </a:prstGeom>
          <a:solidFill>
            <a:srgbClr val="F3F4F6"/>
          </a:solidFill>
          <a:ln>
            <a:solidFill>
              <a:srgbClr val="CBD5E1"/>
            </a:solidFill>
          </a:ln>
        </p:spPr>
        <p:txBody>
          <a:bodyPr wrap="square" lIns="127" tIns="127" rIns="127" bIns="127" rtlCol="0" anchor="ctr">
            <a:normAutofit/>
          </a:bodyPr>
          <a:lstStyle/>
          <a:p>
            <a:pPr marL="0" indent="0" algn="ctr">
              <a:buNone/>
            </a:pPr>
            <a:r>
              <a:rPr lang="en-US" sz="1500" b="1" dirty="0">
                <a:solidFill>
                  <a:srgbClr val="111827"/>
                </a:solidFill>
                <a:latin typeface="Aptos" pitchFamily="34" charset="0"/>
                <a:ea typeface="Aptos" pitchFamily="34" charset="-122"/>
                <a:cs typeface="Aptos" pitchFamily="34" charset="-120"/>
              </a:rPr>
              <a:t>4</a:t>
            </a:r>
            <a:endParaRPr lang="en-US" sz="1500" dirty="0"/>
          </a:p>
        </p:txBody>
      </p:sp>
      <p:sp>
        <p:nvSpPr>
          <p:cNvPr id="15" name="Text 13"/>
          <p:cNvSpPr/>
          <p:nvPr/>
        </p:nvSpPr>
        <p:spPr>
          <a:xfrm>
            <a:off x="7086600" y="1783080"/>
            <a:ext cx="2103120" cy="219456"/>
          </a:xfrm>
          <a:prstGeom prst="rect">
            <a:avLst/>
          </a:prstGeom>
          <a:noFill/>
          <a:ln/>
        </p:spPr>
        <p:txBody>
          <a:bodyPr wrap="square" lIns="127" tIns="127" rIns="127" bIns="127" rtlCol="0" anchor="ctr">
            <a:normAutofit/>
          </a:bodyPr>
          <a:lstStyle/>
          <a:p>
            <a:pPr marL="0" indent="0" algn="ctr">
              <a:buNone/>
            </a:pPr>
            <a:r>
              <a:rPr lang="en-US" sz="1250" b="1" dirty="0">
                <a:solidFill>
                  <a:srgbClr val="111827"/>
                </a:solidFill>
                <a:latin typeface="Aptos" pitchFamily="34" charset="0"/>
                <a:ea typeface="Aptos" pitchFamily="34" charset="-122"/>
                <a:cs typeface="Aptos" pitchFamily="34" charset="-120"/>
              </a:rPr>
              <a:t>Tailor</a:t>
            </a:r>
            <a:endParaRPr lang="en-US" sz="1250" dirty="0"/>
          </a:p>
        </p:txBody>
      </p:sp>
      <p:sp>
        <p:nvSpPr>
          <p:cNvPr id="16" name="Text 14"/>
          <p:cNvSpPr/>
          <p:nvPr/>
        </p:nvSpPr>
        <p:spPr>
          <a:xfrm>
            <a:off x="7086600" y="2084832"/>
            <a:ext cx="2103120" cy="329184"/>
          </a:xfrm>
          <a:prstGeom prst="rect">
            <a:avLst/>
          </a:prstGeom>
          <a:noFill/>
          <a:ln/>
        </p:spPr>
        <p:txBody>
          <a:bodyPr wrap="square" lIns="127" tIns="127" rIns="127" bIns="127" rtlCol="0" anchor="ctr">
            <a:normAutofit/>
          </a:bodyPr>
          <a:lstStyle/>
          <a:p>
            <a:pPr marL="0" indent="0" algn="ctr">
              <a:buNone/>
            </a:pPr>
            <a:r>
              <a:rPr lang="en-US" sz="880" dirty="0">
                <a:solidFill>
                  <a:srgbClr val="334155"/>
                </a:solidFill>
                <a:latin typeface="Aptos" pitchFamily="34" charset="0"/>
                <a:ea typeface="Aptos" pitchFamily="34" charset="-122"/>
                <a:cs typeface="Aptos" pitchFamily="34" charset="-120"/>
              </a:rPr>
              <a:t>align to stakeholders</a:t>
            </a:r>
            <a:endParaRPr lang="en-US" sz="880" dirty="0"/>
          </a:p>
        </p:txBody>
      </p:sp>
      <p:sp>
        <p:nvSpPr>
          <p:cNvPr id="17" name="Text 15"/>
          <p:cNvSpPr/>
          <p:nvPr/>
        </p:nvSpPr>
        <p:spPr>
          <a:xfrm>
            <a:off x="10021824" y="1216152"/>
            <a:ext cx="438912" cy="438912"/>
          </a:xfrm>
          <a:prstGeom prst="rect">
            <a:avLst/>
          </a:prstGeom>
          <a:solidFill>
            <a:srgbClr val="F3F4F6"/>
          </a:solidFill>
          <a:ln>
            <a:solidFill>
              <a:srgbClr val="CBD5E1"/>
            </a:solidFill>
          </a:ln>
        </p:spPr>
        <p:txBody>
          <a:bodyPr wrap="square" lIns="127" tIns="127" rIns="127" bIns="127" rtlCol="0" anchor="ctr">
            <a:normAutofit/>
          </a:bodyPr>
          <a:lstStyle/>
          <a:p>
            <a:pPr marL="0" indent="0" algn="ctr">
              <a:buNone/>
            </a:pPr>
            <a:r>
              <a:rPr lang="en-US" sz="1500" b="1" dirty="0">
                <a:solidFill>
                  <a:srgbClr val="111827"/>
                </a:solidFill>
                <a:latin typeface="Aptos" pitchFamily="34" charset="0"/>
                <a:ea typeface="Aptos" pitchFamily="34" charset="-122"/>
                <a:cs typeface="Aptos" pitchFamily="34" charset="-120"/>
              </a:rPr>
              <a:t>5</a:t>
            </a:r>
            <a:endParaRPr lang="en-US" sz="1500" dirty="0"/>
          </a:p>
        </p:txBody>
      </p:sp>
      <p:sp>
        <p:nvSpPr>
          <p:cNvPr id="18" name="Text 16"/>
          <p:cNvSpPr/>
          <p:nvPr/>
        </p:nvSpPr>
        <p:spPr>
          <a:xfrm>
            <a:off x="9189720" y="1783080"/>
            <a:ext cx="2103120" cy="219456"/>
          </a:xfrm>
          <a:prstGeom prst="rect">
            <a:avLst/>
          </a:prstGeom>
          <a:noFill/>
          <a:ln/>
        </p:spPr>
        <p:txBody>
          <a:bodyPr wrap="square" lIns="127" tIns="127" rIns="127" bIns="127" rtlCol="0" anchor="ctr">
            <a:normAutofit/>
          </a:bodyPr>
          <a:lstStyle/>
          <a:p>
            <a:pPr marL="0" indent="0" algn="ctr">
              <a:buNone/>
            </a:pPr>
            <a:r>
              <a:rPr lang="en-US" sz="1250" b="1" dirty="0">
                <a:solidFill>
                  <a:srgbClr val="111827"/>
                </a:solidFill>
                <a:latin typeface="Aptos" pitchFamily="34" charset="0"/>
                <a:ea typeface="Aptos" pitchFamily="34" charset="-122"/>
                <a:cs typeface="Aptos" pitchFamily="34" charset="-120"/>
              </a:rPr>
              <a:t>Advance</a:t>
            </a:r>
            <a:endParaRPr lang="en-US" sz="1250" dirty="0"/>
          </a:p>
        </p:txBody>
      </p:sp>
      <p:sp>
        <p:nvSpPr>
          <p:cNvPr id="19" name="Text 17"/>
          <p:cNvSpPr/>
          <p:nvPr/>
        </p:nvSpPr>
        <p:spPr>
          <a:xfrm>
            <a:off x="9189720" y="2084832"/>
            <a:ext cx="2103120" cy="329184"/>
          </a:xfrm>
          <a:prstGeom prst="rect">
            <a:avLst/>
          </a:prstGeom>
          <a:noFill/>
          <a:ln/>
        </p:spPr>
        <p:txBody>
          <a:bodyPr wrap="square" lIns="127" tIns="127" rIns="127" bIns="127" rtlCol="0" anchor="ctr">
            <a:normAutofit/>
          </a:bodyPr>
          <a:lstStyle/>
          <a:p>
            <a:pPr marL="0" indent="0" algn="ctr">
              <a:buNone/>
            </a:pPr>
            <a:r>
              <a:rPr lang="en-US" sz="880" dirty="0">
                <a:solidFill>
                  <a:srgbClr val="334155"/>
                </a:solidFill>
                <a:latin typeface="Aptos" pitchFamily="34" charset="0"/>
                <a:ea typeface="Aptos" pitchFamily="34" charset="-122"/>
                <a:cs typeface="Aptos" pitchFamily="34" charset="-120"/>
              </a:rPr>
              <a:t>secure the next step</a:t>
            </a:r>
            <a:endParaRPr lang="en-US" sz="880" dirty="0"/>
          </a:p>
        </p:txBody>
      </p:sp>
      <p:sp>
        <p:nvSpPr>
          <p:cNvPr id="20" name="Text 18"/>
          <p:cNvSpPr/>
          <p:nvPr/>
        </p:nvSpPr>
        <p:spPr>
          <a:xfrm>
            <a:off x="822960" y="2788920"/>
            <a:ext cx="3657600" cy="329184"/>
          </a:xfrm>
          <a:prstGeom prst="rect">
            <a:avLst/>
          </a:prstGeom>
          <a:noFill/>
          <a:ln/>
        </p:spPr>
        <p:txBody>
          <a:bodyPr wrap="square" lIns="127" tIns="127" rIns="127" bIns="127" rtlCol="0" anchor="ctr"/>
          <a:lstStyle/>
          <a:p>
            <a:pPr marL="0" indent="0">
              <a:buNone/>
            </a:pPr>
            <a:r>
              <a:rPr lang="en-US" sz="2300" b="1" dirty="0">
                <a:solidFill>
                  <a:srgbClr val="111827"/>
                </a:solidFill>
                <a:latin typeface="Aptos Display" pitchFamily="34" charset="0"/>
                <a:ea typeface="Aptos Display" pitchFamily="34" charset="-122"/>
                <a:cs typeface="Aptos Display" pitchFamily="34" charset="-120"/>
              </a:rPr>
              <a:t>Customers only know what they know.</a:t>
            </a:r>
            <a:endParaRPr lang="en-US" sz="2300" dirty="0"/>
          </a:p>
        </p:txBody>
      </p:sp>
      <p:sp>
        <p:nvSpPr>
          <p:cNvPr id="21" name="Text 19"/>
          <p:cNvSpPr/>
          <p:nvPr/>
        </p:nvSpPr>
        <p:spPr>
          <a:xfrm>
            <a:off x="905256" y="3374136"/>
            <a:ext cx="4023360" cy="658368"/>
          </a:xfrm>
          <a:prstGeom prst="rect">
            <a:avLst/>
          </a:prstGeom>
          <a:noFill/>
          <a:ln/>
        </p:spPr>
        <p:txBody>
          <a:bodyPr wrap="square" lIns="254" tIns="254" rIns="254" bIns="254" rtlCol="0" anchor="ctr">
            <a:normAutofit lnSpcReduction="10000"/>
          </a:bodyPr>
          <a:lstStyle/>
          <a:p>
            <a:pPr marL="0" indent="0">
              <a:buNone/>
            </a:pPr>
            <a:r>
              <a:rPr lang="en-US" sz="1450" dirty="0">
                <a:solidFill>
                  <a:srgbClr val="334155"/>
                </a:solidFill>
                <a:latin typeface="Aptos" pitchFamily="34" charset="0"/>
                <a:ea typeface="Aptos" pitchFamily="34" charset="-122"/>
                <a:cs typeface="Aptos" pitchFamily="34" charset="-120"/>
              </a:rPr>
              <a:t>The seller’s job is to help them see the full automation decision — not just compare robot prices.</a:t>
            </a:r>
            <a:endParaRPr lang="en-US" sz="1450" dirty="0"/>
          </a:p>
        </p:txBody>
      </p:sp>
      <p:sp>
        <p:nvSpPr>
          <p:cNvPr id="22" name="Shape 20"/>
          <p:cNvSpPr/>
          <p:nvPr/>
        </p:nvSpPr>
        <p:spPr>
          <a:xfrm>
            <a:off x="5065776" y="2825982"/>
            <a:ext cx="1417320" cy="566928"/>
          </a:xfrm>
          <a:prstGeom prst="roundRect">
            <a:avLst>
              <a:gd name="adj" fmla="val 19355"/>
            </a:avLst>
          </a:prstGeom>
          <a:solidFill>
            <a:srgbClr val="0F172A"/>
          </a:solidFill>
          <a:ln w="12700">
            <a:solidFill>
              <a:srgbClr val="0F172A"/>
            </a:solidFill>
            <a:prstDash val="solid"/>
          </a:ln>
        </p:spPr>
        <p:txBody>
          <a:bodyPr/>
          <a:lstStyle/>
          <a:p>
            <a:endParaRPr lang="en-US"/>
          </a:p>
        </p:txBody>
      </p:sp>
      <p:sp>
        <p:nvSpPr>
          <p:cNvPr id="23" name="Text 21"/>
          <p:cNvSpPr/>
          <p:nvPr/>
        </p:nvSpPr>
        <p:spPr>
          <a:xfrm>
            <a:off x="5221224" y="2935710"/>
            <a:ext cx="1097280" cy="310896"/>
          </a:xfrm>
          <a:prstGeom prst="rect">
            <a:avLst/>
          </a:prstGeom>
          <a:noFill/>
          <a:ln/>
        </p:spPr>
        <p:txBody>
          <a:bodyPr wrap="square" lIns="127" tIns="127" rIns="127" bIns="127" rtlCol="0" anchor="ctr">
            <a:normAutofit fontScale="92500" lnSpcReduction="10000"/>
          </a:bodyPr>
          <a:lstStyle/>
          <a:p>
            <a:pPr marL="0" indent="0" algn="ctr">
              <a:buNone/>
            </a:pPr>
            <a:r>
              <a:rPr lang="en-US" sz="1200" b="1" dirty="0">
                <a:solidFill>
                  <a:srgbClr val="FFFFFF"/>
                </a:solidFill>
                <a:latin typeface="Aptos" pitchFamily="34" charset="0"/>
                <a:ea typeface="Aptos" pitchFamily="34" charset="-122"/>
                <a:cs typeface="Aptos" pitchFamily="34" charset="-120"/>
              </a:rPr>
              <a:t>Robot arm</a:t>
            </a:r>
            <a:endParaRPr lang="en-US" sz="1200" dirty="0"/>
          </a:p>
          <a:p>
            <a:pPr marL="0" indent="0" algn="ctr">
              <a:buNone/>
            </a:pPr>
            <a:r>
              <a:rPr lang="en-US" sz="1200" b="1" dirty="0">
                <a:solidFill>
                  <a:srgbClr val="FFFFFF"/>
                </a:solidFill>
                <a:latin typeface="Aptos" pitchFamily="34" charset="0"/>
                <a:ea typeface="Aptos" pitchFamily="34" charset="-122"/>
                <a:cs typeface="Aptos" pitchFamily="34" charset="-120"/>
              </a:rPr>
              <a:t>price</a:t>
            </a:r>
            <a:endParaRPr lang="en-US" sz="1200" dirty="0"/>
          </a:p>
        </p:txBody>
      </p:sp>
      <p:sp>
        <p:nvSpPr>
          <p:cNvPr id="24" name="Shape 22"/>
          <p:cNvSpPr/>
          <p:nvPr/>
        </p:nvSpPr>
        <p:spPr>
          <a:xfrm>
            <a:off x="6620256" y="3100302"/>
            <a:ext cx="685800" cy="0"/>
          </a:xfrm>
          <a:prstGeom prst="line">
            <a:avLst/>
          </a:prstGeom>
          <a:noFill/>
          <a:ln w="16510">
            <a:solidFill>
              <a:srgbClr val="334155"/>
            </a:solidFill>
            <a:prstDash val="solid"/>
            <a:headEnd type="none"/>
            <a:tailEnd type="triangle"/>
          </a:ln>
        </p:spPr>
        <p:txBody>
          <a:bodyPr/>
          <a:lstStyle/>
          <a:p>
            <a:endParaRPr lang="en-US"/>
          </a:p>
        </p:txBody>
      </p:sp>
      <p:sp>
        <p:nvSpPr>
          <p:cNvPr id="25" name="Shape 23"/>
          <p:cNvSpPr/>
          <p:nvPr/>
        </p:nvSpPr>
        <p:spPr>
          <a:xfrm>
            <a:off x="7443216" y="2597382"/>
            <a:ext cx="2697480" cy="1024128"/>
          </a:xfrm>
          <a:prstGeom prst="roundRect">
            <a:avLst>
              <a:gd name="adj" fmla="val 10714"/>
            </a:avLst>
          </a:prstGeom>
          <a:solidFill>
            <a:srgbClr val="F3F4F6"/>
          </a:solidFill>
          <a:ln w="12700">
            <a:solidFill>
              <a:srgbClr val="CBD5E1"/>
            </a:solidFill>
            <a:prstDash val="solid"/>
          </a:ln>
        </p:spPr>
        <p:txBody>
          <a:bodyPr/>
          <a:lstStyle/>
          <a:p>
            <a:endParaRPr lang="en-US"/>
          </a:p>
        </p:txBody>
      </p:sp>
      <p:sp>
        <p:nvSpPr>
          <p:cNvPr id="26" name="Text 24"/>
          <p:cNvSpPr/>
          <p:nvPr/>
        </p:nvSpPr>
        <p:spPr>
          <a:xfrm>
            <a:off x="7708392" y="2807694"/>
            <a:ext cx="2148840" cy="256032"/>
          </a:xfrm>
          <a:prstGeom prst="rect">
            <a:avLst/>
          </a:prstGeom>
          <a:noFill/>
          <a:ln/>
        </p:spPr>
        <p:txBody>
          <a:bodyPr wrap="square" lIns="127" tIns="127" rIns="127" bIns="127" rtlCol="0" anchor="ctr"/>
          <a:lstStyle/>
          <a:p>
            <a:pPr marL="0" indent="0" algn="ctr">
              <a:buNone/>
            </a:pPr>
            <a:r>
              <a:rPr lang="en-US" sz="1500" b="1" dirty="0">
                <a:solidFill>
                  <a:srgbClr val="111827"/>
                </a:solidFill>
                <a:latin typeface="Aptos" pitchFamily="34" charset="0"/>
                <a:ea typeface="Aptos" pitchFamily="34" charset="-122"/>
                <a:cs typeface="Aptos" pitchFamily="34" charset="-120"/>
              </a:rPr>
              <a:t>Total cell economics</a:t>
            </a:r>
            <a:endParaRPr lang="en-US" sz="1500" dirty="0"/>
          </a:p>
        </p:txBody>
      </p:sp>
      <p:sp>
        <p:nvSpPr>
          <p:cNvPr id="27" name="Text 25"/>
          <p:cNvSpPr/>
          <p:nvPr/>
        </p:nvSpPr>
        <p:spPr>
          <a:xfrm>
            <a:off x="7607808" y="3136878"/>
            <a:ext cx="2331720" cy="201168"/>
          </a:xfrm>
          <a:prstGeom prst="rect">
            <a:avLst/>
          </a:prstGeom>
          <a:noFill/>
          <a:ln/>
        </p:spPr>
        <p:txBody>
          <a:bodyPr wrap="square" lIns="127" tIns="127" rIns="127" bIns="127" rtlCol="0" anchor="ctr">
            <a:normAutofit/>
          </a:bodyPr>
          <a:lstStyle/>
          <a:p>
            <a:pPr marL="0" indent="0" algn="ctr">
              <a:buNone/>
            </a:pPr>
            <a:r>
              <a:rPr lang="en-US" sz="880" dirty="0">
                <a:solidFill>
                  <a:srgbClr val="334155"/>
                </a:solidFill>
                <a:latin typeface="Aptos" pitchFamily="34" charset="0"/>
                <a:ea typeface="Aptos" pitchFamily="34" charset="-122"/>
                <a:cs typeface="Aptos" pitchFamily="34" charset="-120"/>
              </a:rPr>
              <a:t>tooling • safety • changeover • support • uptime</a:t>
            </a:r>
            <a:endParaRPr lang="en-US" sz="880" dirty="0"/>
          </a:p>
        </p:txBody>
      </p:sp>
      <p:sp>
        <p:nvSpPr>
          <p:cNvPr id="28" name="Shape 26"/>
          <p:cNvSpPr/>
          <p:nvPr/>
        </p:nvSpPr>
        <p:spPr>
          <a:xfrm>
            <a:off x="5413248" y="3951180"/>
            <a:ext cx="1874520" cy="713232"/>
          </a:xfrm>
          <a:prstGeom prst="roundRect">
            <a:avLst>
              <a:gd name="adj" fmla="val 15385"/>
            </a:avLst>
          </a:prstGeom>
          <a:solidFill>
            <a:srgbClr val="FFFFFF"/>
          </a:solidFill>
          <a:ln w="12700">
            <a:solidFill>
              <a:srgbClr val="CBD5E1"/>
            </a:solidFill>
            <a:prstDash val="solid"/>
          </a:ln>
        </p:spPr>
        <p:txBody>
          <a:bodyPr/>
          <a:lstStyle/>
          <a:p>
            <a:endParaRPr lang="en-US"/>
          </a:p>
        </p:txBody>
      </p:sp>
      <p:sp>
        <p:nvSpPr>
          <p:cNvPr id="29" name="Text 27"/>
          <p:cNvSpPr/>
          <p:nvPr/>
        </p:nvSpPr>
        <p:spPr>
          <a:xfrm>
            <a:off x="5522976" y="4060908"/>
            <a:ext cx="1645920" cy="201168"/>
          </a:xfrm>
          <a:prstGeom prst="rect">
            <a:avLst/>
          </a:prstGeom>
          <a:noFill/>
          <a:ln/>
        </p:spPr>
        <p:txBody>
          <a:bodyPr wrap="square" lIns="127" tIns="127" rIns="127" bIns="127" rtlCol="0" anchor="ctr">
            <a:normAutofit/>
          </a:bodyPr>
          <a:lstStyle/>
          <a:p>
            <a:pPr marL="0" indent="0" algn="ctr">
              <a:buNone/>
            </a:pPr>
            <a:r>
              <a:rPr lang="en-US" sz="1130" b="1" dirty="0">
                <a:solidFill>
                  <a:srgbClr val="111827"/>
                </a:solidFill>
                <a:latin typeface="Aptos" pitchFamily="34" charset="0"/>
                <a:ea typeface="Aptos" pitchFamily="34" charset="-122"/>
                <a:cs typeface="Aptos" pitchFamily="34" charset="-120"/>
              </a:rPr>
              <a:t>Magnet gripper</a:t>
            </a:r>
            <a:endParaRPr lang="en-US" sz="1130" dirty="0"/>
          </a:p>
        </p:txBody>
      </p:sp>
      <p:sp>
        <p:nvSpPr>
          <p:cNvPr id="30" name="Text 28"/>
          <p:cNvSpPr/>
          <p:nvPr/>
        </p:nvSpPr>
        <p:spPr>
          <a:xfrm>
            <a:off x="5522976" y="4316940"/>
            <a:ext cx="1645920" cy="228600"/>
          </a:xfrm>
          <a:prstGeom prst="rect">
            <a:avLst/>
          </a:prstGeom>
          <a:noFill/>
          <a:ln/>
        </p:spPr>
        <p:txBody>
          <a:bodyPr wrap="square" lIns="127" tIns="127" rIns="127" bIns="127" rtlCol="0" anchor="ctr">
            <a:normAutofit/>
          </a:bodyPr>
          <a:lstStyle/>
          <a:p>
            <a:pPr marL="0" indent="0" algn="ctr">
              <a:buNone/>
            </a:pPr>
            <a:r>
              <a:rPr lang="en-US" sz="880" dirty="0">
                <a:solidFill>
                  <a:srgbClr val="334155"/>
                </a:solidFill>
                <a:latin typeface="Aptos" pitchFamily="34" charset="0"/>
                <a:ea typeface="Aptos" pitchFamily="34" charset="-122"/>
                <a:cs typeface="Aptos" pitchFamily="34" charset="-120"/>
              </a:rPr>
              <a:t>fast handling, less accurate grip</a:t>
            </a:r>
            <a:endParaRPr lang="en-US" sz="880" dirty="0"/>
          </a:p>
        </p:txBody>
      </p:sp>
      <p:sp>
        <p:nvSpPr>
          <p:cNvPr id="31" name="Shape 29"/>
          <p:cNvSpPr/>
          <p:nvPr/>
        </p:nvSpPr>
        <p:spPr>
          <a:xfrm>
            <a:off x="7653528" y="3951180"/>
            <a:ext cx="1874520" cy="713232"/>
          </a:xfrm>
          <a:prstGeom prst="roundRect">
            <a:avLst>
              <a:gd name="adj" fmla="val 15385"/>
            </a:avLst>
          </a:prstGeom>
          <a:solidFill>
            <a:srgbClr val="FFFFFF"/>
          </a:solidFill>
          <a:ln w="12700">
            <a:solidFill>
              <a:srgbClr val="CBD5E1"/>
            </a:solidFill>
            <a:prstDash val="solid"/>
          </a:ln>
        </p:spPr>
        <p:txBody>
          <a:bodyPr/>
          <a:lstStyle/>
          <a:p>
            <a:endParaRPr lang="en-US"/>
          </a:p>
        </p:txBody>
      </p:sp>
      <p:sp>
        <p:nvSpPr>
          <p:cNvPr id="32" name="Text 30"/>
          <p:cNvSpPr/>
          <p:nvPr/>
        </p:nvSpPr>
        <p:spPr>
          <a:xfrm>
            <a:off x="7763256" y="4060908"/>
            <a:ext cx="1645920" cy="201168"/>
          </a:xfrm>
          <a:prstGeom prst="rect">
            <a:avLst/>
          </a:prstGeom>
          <a:noFill/>
          <a:ln/>
        </p:spPr>
        <p:txBody>
          <a:bodyPr wrap="square" lIns="127" tIns="127" rIns="127" bIns="127" rtlCol="0" anchor="ctr">
            <a:normAutofit/>
          </a:bodyPr>
          <a:lstStyle/>
          <a:p>
            <a:pPr marL="0" indent="0" algn="ctr">
              <a:buNone/>
            </a:pPr>
            <a:r>
              <a:rPr lang="en-US" sz="1130" b="1" dirty="0">
                <a:solidFill>
                  <a:srgbClr val="111827"/>
                </a:solidFill>
                <a:latin typeface="Aptos" pitchFamily="34" charset="0"/>
                <a:ea typeface="Aptos" pitchFamily="34" charset="-122"/>
                <a:cs typeface="Aptos" pitchFamily="34" charset="-120"/>
              </a:rPr>
              <a:t>Finger gripper</a:t>
            </a:r>
            <a:endParaRPr lang="en-US" sz="1130" dirty="0"/>
          </a:p>
        </p:txBody>
      </p:sp>
      <p:sp>
        <p:nvSpPr>
          <p:cNvPr id="33" name="Text 31"/>
          <p:cNvSpPr/>
          <p:nvPr/>
        </p:nvSpPr>
        <p:spPr>
          <a:xfrm>
            <a:off x="7763256" y="4316940"/>
            <a:ext cx="1645920" cy="228600"/>
          </a:xfrm>
          <a:prstGeom prst="rect">
            <a:avLst/>
          </a:prstGeom>
          <a:noFill/>
          <a:ln/>
        </p:spPr>
        <p:txBody>
          <a:bodyPr wrap="square" lIns="127" tIns="127" rIns="127" bIns="127" rtlCol="0" anchor="ctr">
            <a:normAutofit fontScale="92500"/>
          </a:bodyPr>
          <a:lstStyle/>
          <a:p>
            <a:pPr marL="0" indent="0" algn="ctr">
              <a:buNone/>
            </a:pPr>
            <a:r>
              <a:rPr lang="en-US" sz="880" dirty="0">
                <a:solidFill>
                  <a:srgbClr val="334155"/>
                </a:solidFill>
                <a:latin typeface="Aptos" pitchFamily="34" charset="0"/>
                <a:ea typeface="Aptos" pitchFamily="34" charset="-122"/>
                <a:cs typeface="Aptos" pitchFamily="34" charset="-120"/>
              </a:rPr>
              <a:t>precise gripping – addition cycle time</a:t>
            </a:r>
            <a:endParaRPr lang="en-US" sz="880" dirty="0"/>
          </a:p>
        </p:txBody>
      </p:sp>
      <p:sp>
        <p:nvSpPr>
          <p:cNvPr id="34" name="Shape 32"/>
          <p:cNvSpPr/>
          <p:nvPr/>
        </p:nvSpPr>
        <p:spPr>
          <a:xfrm>
            <a:off x="6505956" y="4991007"/>
            <a:ext cx="1874520" cy="713232"/>
          </a:xfrm>
          <a:prstGeom prst="roundRect">
            <a:avLst>
              <a:gd name="adj" fmla="val 15385"/>
            </a:avLst>
          </a:prstGeom>
          <a:solidFill>
            <a:srgbClr val="0F172A"/>
          </a:solidFill>
          <a:ln w="12700">
            <a:solidFill>
              <a:srgbClr val="0F172A"/>
            </a:solidFill>
            <a:prstDash val="solid"/>
          </a:ln>
        </p:spPr>
        <p:txBody>
          <a:bodyPr/>
          <a:lstStyle/>
          <a:p>
            <a:endParaRPr lang="en-US"/>
          </a:p>
        </p:txBody>
      </p:sp>
      <p:sp>
        <p:nvSpPr>
          <p:cNvPr id="35" name="Text 33"/>
          <p:cNvSpPr/>
          <p:nvPr/>
        </p:nvSpPr>
        <p:spPr>
          <a:xfrm>
            <a:off x="6601968" y="5100735"/>
            <a:ext cx="1645920" cy="201168"/>
          </a:xfrm>
          <a:prstGeom prst="rect">
            <a:avLst/>
          </a:prstGeom>
          <a:noFill/>
          <a:ln/>
        </p:spPr>
        <p:txBody>
          <a:bodyPr wrap="square" lIns="127" tIns="127" rIns="127" bIns="127" rtlCol="0" anchor="ctr">
            <a:normAutofit/>
          </a:bodyPr>
          <a:lstStyle/>
          <a:p>
            <a:pPr marL="0" indent="0" algn="ctr">
              <a:buNone/>
            </a:pPr>
            <a:r>
              <a:rPr lang="en-US" sz="1130" b="1" dirty="0">
                <a:solidFill>
                  <a:srgbClr val="FFFFFF"/>
                </a:solidFill>
                <a:latin typeface="Aptos" pitchFamily="34" charset="0"/>
                <a:ea typeface="Aptos" pitchFamily="34" charset="-122"/>
                <a:cs typeface="Aptos" pitchFamily="34" charset="-120"/>
              </a:rPr>
              <a:t>Right lesson</a:t>
            </a:r>
            <a:endParaRPr lang="en-US" sz="1130" dirty="0"/>
          </a:p>
        </p:txBody>
      </p:sp>
      <p:sp>
        <p:nvSpPr>
          <p:cNvPr id="36" name="Text 34"/>
          <p:cNvSpPr/>
          <p:nvPr/>
        </p:nvSpPr>
        <p:spPr>
          <a:xfrm>
            <a:off x="6601968" y="5356767"/>
            <a:ext cx="1645920" cy="228600"/>
          </a:xfrm>
          <a:prstGeom prst="rect">
            <a:avLst/>
          </a:prstGeom>
          <a:noFill/>
          <a:ln/>
        </p:spPr>
        <p:txBody>
          <a:bodyPr wrap="square" lIns="127" tIns="127" rIns="127" bIns="127" rtlCol="0" anchor="ctr">
            <a:normAutofit fontScale="92500" lnSpcReduction="10000"/>
          </a:bodyPr>
          <a:lstStyle/>
          <a:p>
            <a:pPr marL="0" indent="0" algn="ctr">
              <a:buNone/>
            </a:pPr>
            <a:r>
              <a:rPr lang="en-US" sz="880" dirty="0">
                <a:solidFill>
                  <a:srgbClr val="CBD5E1"/>
                </a:solidFill>
                <a:latin typeface="Aptos" pitchFamily="34" charset="0"/>
                <a:ea typeface="Aptos" pitchFamily="34" charset="-122"/>
                <a:cs typeface="Aptos" pitchFamily="34" charset="-120"/>
              </a:rPr>
              <a:t>tool choice can change downstream cost</a:t>
            </a:r>
            <a:endParaRPr lang="en-US" sz="880" dirty="0"/>
          </a:p>
        </p:txBody>
      </p:sp>
      <p:sp>
        <p:nvSpPr>
          <p:cNvPr id="37" name="Text 35"/>
          <p:cNvSpPr/>
          <p:nvPr/>
        </p:nvSpPr>
        <p:spPr>
          <a:xfrm>
            <a:off x="1135380" y="6062472"/>
            <a:ext cx="9921240" cy="292608"/>
          </a:xfrm>
          <a:prstGeom prst="rect">
            <a:avLst/>
          </a:prstGeom>
          <a:noFill/>
          <a:ln/>
        </p:spPr>
        <p:txBody>
          <a:bodyPr wrap="square" lIns="127" tIns="127" rIns="127" bIns="127" rtlCol="0" anchor="ctr"/>
          <a:lstStyle/>
          <a:p>
            <a:pPr marL="0" indent="0" algn="ctr">
              <a:buNone/>
            </a:pPr>
            <a:r>
              <a:rPr lang="en-US" sz="2100" b="1" dirty="0">
                <a:solidFill>
                  <a:srgbClr val="111827"/>
                </a:solidFill>
                <a:latin typeface="Aptos Display" pitchFamily="34" charset="0"/>
                <a:ea typeface="Aptos Display" pitchFamily="34" charset="-122"/>
                <a:cs typeface="Aptos Display" pitchFamily="34" charset="-120"/>
              </a:rPr>
              <a:t>Reframe = teach a decision risk, then invite discovery.</a:t>
            </a:r>
            <a:endParaRPr lang="en-US" sz="2100" dirty="0"/>
          </a:p>
        </p:txBody>
      </p:sp>
      <p:sp>
        <p:nvSpPr>
          <p:cNvPr id="38" name="Shape 36"/>
          <p:cNvSpPr/>
          <p:nvPr/>
        </p:nvSpPr>
        <p:spPr>
          <a:xfrm>
            <a:off x="502920" y="6473952"/>
            <a:ext cx="11155680" cy="0"/>
          </a:xfrm>
          <a:prstGeom prst="line">
            <a:avLst/>
          </a:prstGeom>
          <a:noFill/>
          <a:ln w="9525">
            <a:solidFill>
              <a:srgbClr val="334155">
                <a:alpha val="30000"/>
              </a:srgbClr>
            </a:solidFill>
            <a:prstDash val="solid"/>
          </a:ln>
        </p:spPr>
        <p:txBody>
          <a:bodyPr/>
          <a:lstStyle/>
          <a:p>
            <a:endParaRPr lang="en-US"/>
          </a:p>
        </p:txBody>
      </p:sp>
      <p:sp>
        <p:nvSpPr>
          <p:cNvPr id="39" name="Text 37"/>
          <p:cNvSpPr/>
          <p:nvPr/>
        </p:nvSpPr>
        <p:spPr>
          <a:xfrm>
            <a:off x="502920" y="6565392"/>
            <a:ext cx="5029200" cy="146304"/>
          </a:xfrm>
          <a:prstGeom prst="rect">
            <a:avLst/>
          </a:prstGeom>
          <a:noFill/>
          <a:ln/>
        </p:spPr>
        <p:txBody>
          <a:bodyPr wrap="square" rtlCol="0" anchor="ctr"/>
          <a:lstStyle/>
          <a:p>
            <a:pPr marL="0" indent="0">
              <a:buNone/>
            </a:pPr>
            <a:r>
              <a:rPr lang="en-US" sz="750" dirty="0">
                <a:solidFill>
                  <a:srgbClr val="334155"/>
                </a:solidFill>
                <a:latin typeface="Aptos" pitchFamily="34" charset="0"/>
                <a:ea typeface="Aptos" pitchFamily="34" charset="-122"/>
                <a:cs typeface="Aptos" pitchFamily="34" charset="-120"/>
              </a:rPr>
              <a:t>Beyond the Robot</a:t>
            </a:r>
            <a:endParaRPr lang="en-US" sz="750" dirty="0"/>
          </a:p>
        </p:txBody>
      </p:sp>
      <p:sp>
        <p:nvSpPr>
          <p:cNvPr id="40" name="Text 38"/>
          <p:cNvSpPr/>
          <p:nvPr/>
        </p:nvSpPr>
        <p:spPr>
          <a:xfrm>
            <a:off x="11018520" y="6565392"/>
            <a:ext cx="640080" cy="146304"/>
          </a:xfrm>
          <a:prstGeom prst="rect">
            <a:avLst/>
          </a:prstGeom>
          <a:noFill/>
          <a:ln/>
        </p:spPr>
        <p:txBody>
          <a:bodyPr wrap="square" rtlCol="0" anchor="ctr"/>
          <a:lstStyle/>
          <a:p>
            <a:pPr marL="0" indent="0" algn="r">
              <a:buNone/>
            </a:pPr>
            <a:r>
              <a:rPr lang="en-US" sz="750" dirty="0">
                <a:solidFill>
                  <a:srgbClr val="334155"/>
                </a:solidFill>
                <a:latin typeface="Aptos" pitchFamily="34" charset="0"/>
                <a:ea typeface="Aptos" pitchFamily="34" charset="-122"/>
                <a:cs typeface="Aptos" pitchFamily="34" charset="-120"/>
              </a:rPr>
              <a:t>07</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566928" y="329184"/>
            <a:ext cx="8046720" cy="402336"/>
          </a:xfrm>
          <a:prstGeom prst="rect">
            <a:avLst/>
          </a:prstGeom>
          <a:noFill/>
          <a:ln/>
        </p:spPr>
        <p:txBody>
          <a:bodyPr wrap="square" lIns="254" tIns="254" rIns="254" bIns="254" rtlCol="0" anchor="ctr">
            <a:normAutofit/>
          </a:bodyPr>
          <a:lstStyle/>
          <a:p>
            <a:pPr marL="0" indent="0">
              <a:buNone/>
            </a:pPr>
            <a:r>
              <a:rPr lang="en-US" sz="2700" b="1" dirty="0">
                <a:solidFill>
                  <a:srgbClr val="FFFFFF"/>
                </a:solidFill>
                <a:latin typeface="Aptos Display" pitchFamily="34" charset="0"/>
                <a:ea typeface="Aptos Display" pitchFamily="34" charset="-122"/>
                <a:cs typeface="Aptos Display" pitchFamily="34" charset="-120"/>
              </a:rPr>
              <a:t>Practice: turn a feature into an insight</a:t>
            </a:r>
            <a:endParaRPr lang="en-US" sz="2700" dirty="0"/>
          </a:p>
        </p:txBody>
      </p:sp>
      <p:sp>
        <p:nvSpPr>
          <p:cNvPr id="3" name="Text 1"/>
          <p:cNvSpPr/>
          <p:nvPr/>
        </p:nvSpPr>
        <p:spPr>
          <a:xfrm>
            <a:off x="585216" y="804672"/>
            <a:ext cx="8046720" cy="219456"/>
          </a:xfrm>
          <a:prstGeom prst="rect">
            <a:avLst/>
          </a:prstGeom>
          <a:noFill/>
          <a:ln/>
        </p:spPr>
        <p:txBody>
          <a:bodyPr wrap="square" lIns="127" tIns="127" rIns="127" bIns="127" rtlCol="0" anchor="ctr"/>
          <a:lstStyle/>
          <a:p>
            <a:pPr marL="0" indent="0">
              <a:buNone/>
            </a:pPr>
            <a:r>
              <a:rPr lang="en-US" sz="1150" dirty="0">
                <a:solidFill>
                  <a:srgbClr val="CBD5E1"/>
                </a:solidFill>
                <a:latin typeface="Aptos" pitchFamily="34" charset="0"/>
                <a:ea typeface="Aptos" pitchFamily="34" charset="-122"/>
                <a:cs typeface="Aptos" pitchFamily="34" charset="-120"/>
              </a:rPr>
              <a:t>Learners rewrite product language into a customer-centered commercial insight.</a:t>
            </a:r>
            <a:endParaRPr lang="en-US" sz="1150" dirty="0"/>
          </a:p>
        </p:txBody>
      </p:sp>
      <p:sp>
        <p:nvSpPr>
          <p:cNvPr id="4" name="Shape 2"/>
          <p:cNvSpPr/>
          <p:nvPr/>
        </p:nvSpPr>
        <p:spPr>
          <a:xfrm>
            <a:off x="566928" y="1078992"/>
            <a:ext cx="640080" cy="54864"/>
          </a:xfrm>
          <a:prstGeom prst="rect">
            <a:avLst/>
          </a:prstGeom>
          <a:solidFill>
            <a:srgbClr val="F97316"/>
          </a:solidFill>
          <a:ln w="12700">
            <a:solidFill>
              <a:srgbClr val="F97316"/>
            </a:solidFill>
            <a:prstDash val="solid"/>
          </a:ln>
        </p:spPr>
        <p:txBody>
          <a:bodyPr/>
          <a:lstStyle/>
          <a:p>
            <a:endParaRPr lang="en-US"/>
          </a:p>
        </p:txBody>
      </p:sp>
      <p:sp>
        <p:nvSpPr>
          <p:cNvPr id="5" name="Text 3"/>
          <p:cNvSpPr/>
          <p:nvPr/>
        </p:nvSpPr>
        <p:spPr>
          <a:xfrm>
            <a:off x="918042" y="1719072"/>
            <a:ext cx="3291840" cy="274320"/>
          </a:xfrm>
          <a:prstGeom prst="rect">
            <a:avLst/>
          </a:prstGeom>
          <a:noFill/>
          <a:ln/>
        </p:spPr>
        <p:txBody>
          <a:bodyPr wrap="square" lIns="127" tIns="127" rIns="127" bIns="127" rtlCol="0" anchor="ctr"/>
          <a:lstStyle/>
          <a:p>
            <a:pPr marL="0" indent="0">
              <a:buNone/>
            </a:pPr>
            <a:r>
              <a:rPr lang="en-US" sz="2100" b="1" dirty="0">
                <a:solidFill>
                  <a:srgbClr val="FFFFFF"/>
                </a:solidFill>
                <a:latin typeface="Aptos Display" pitchFamily="34" charset="0"/>
                <a:ea typeface="Aptos Display" pitchFamily="34" charset="-122"/>
                <a:cs typeface="Aptos Display" pitchFamily="34" charset="-120"/>
              </a:rPr>
              <a:t>Starting statement</a:t>
            </a:r>
            <a:endParaRPr lang="en-US" sz="2100" dirty="0"/>
          </a:p>
        </p:txBody>
      </p:sp>
      <p:sp>
        <p:nvSpPr>
          <p:cNvPr id="6" name="Text 4"/>
          <p:cNvSpPr/>
          <p:nvPr/>
        </p:nvSpPr>
        <p:spPr>
          <a:xfrm>
            <a:off x="760651" y="2523744"/>
            <a:ext cx="3931920" cy="914400"/>
          </a:xfrm>
          <a:prstGeom prst="rect">
            <a:avLst/>
          </a:prstGeom>
          <a:noFill/>
          <a:ln/>
        </p:spPr>
        <p:txBody>
          <a:bodyPr wrap="square" lIns="254" tIns="254" rIns="254" bIns="254" rtlCol="0" anchor="ctr">
            <a:normAutofit/>
          </a:bodyPr>
          <a:lstStyle/>
          <a:p>
            <a:pPr marL="0" indent="0">
              <a:buNone/>
            </a:pPr>
            <a:r>
              <a:rPr lang="en-US" sz="2400" i="1" dirty="0">
                <a:solidFill>
                  <a:srgbClr val="CBD5E1"/>
                </a:solidFill>
                <a:latin typeface="Aptos" pitchFamily="34" charset="0"/>
                <a:ea typeface="Aptos" pitchFamily="34" charset="-122"/>
                <a:cs typeface="Aptos" pitchFamily="34" charset="-120"/>
              </a:rPr>
              <a:t>“Our cobot is easy to program.”</a:t>
            </a:r>
            <a:endParaRPr lang="en-US" sz="2400" dirty="0"/>
          </a:p>
        </p:txBody>
      </p:sp>
      <p:sp>
        <p:nvSpPr>
          <p:cNvPr id="7" name="Shape 5"/>
          <p:cNvSpPr/>
          <p:nvPr/>
        </p:nvSpPr>
        <p:spPr>
          <a:xfrm>
            <a:off x="4376173" y="3088285"/>
            <a:ext cx="1371600" cy="0"/>
          </a:xfrm>
          <a:prstGeom prst="line">
            <a:avLst/>
          </a:prstGeom>
          <a:noFill/>
          <a:ln w="25400">
            <a:solidFill>
              <a:srgbClr val="14B8A6"/>
            </a:solidFill>
            <a:prstDash val="solid"/>
            <a:headEnd type="none"/>
            <a:tailEnd type="triangle"/>
          </a:ln>
        </p:spPr>
        <p:txBody>
          <a:bodyPr/>
          <a:lstStyle/>
          <a:p>
            <a:endParaRPr lang="en-US" dirty="0"/>
          </a:p>
        </p:txBody>
      </p:sp>
      <p:sp>
        <p:nvSpPr>
          <p:cNvPr id="8" name="Text 6"/>
          <p:cNvSpPr/>
          <p:nvPr/>
        </p:nvSpPr>
        <p:spPr>
          <a:xfrm>
            <a:off x="7338060" y="1710495"/>
            <a:ext cx="3291840" cy="274320"/>
          </a:xfrm>
          <a:prstGeom prst="rect">
            <a:avLst/>
          </a:prstGeom>
          <a:noFill/>
          <a:ln/>
        </p:spPr>
        <p:txBody>
          <a:bodyPr wrap="square" lIns="127" tIns="127" rIns="127" bIns="127" rtlCol="0" anchor="ctr"/>
          <a:lstStyle/>
          <a:p>
            <a:pPr marL="0" indent="0">
              <a:buNone/>
            </a:pPr>
            <a:r>
              <a:rPr lang="en-US" sz="2100" b="1" dirty="0">
                <a:solidFill>
                  <a:srgbClr val="FFFFFF"/>
                </a:solidFill>
                <a:latin typeface="Aptos Display" pitchFamily="34" charset="0"/>
                <a:ea typeface="Aptos Display" pitchFamily="34" charset="-122"/>
                <a:cs typeface="Aptos Display" pitchFamily="34" charset="-120"/>
              </a:rPr>
              <a:t>Better insight</a:t>
            </a:r>
            <a:endParaRPr lang="en-US" sz="2100" dirty="0"/>
          </a:p>
        </p:txBody>
      </p:sp>
      <p:sp>
        <p:nvSpPr>
          <p:cNvPr id="9" name="Text 7"/>
          <p:cNvSpPr/>
          <p:nvPr/>
        </p:nvSpPr>
        <p:spPr>
          <a:xfrm>
            <a:off x="6789420" y="2318004"/>
            <a:ext cx="4389120" cy="1325880"/>
          </a:xfrm>
          <a:prstGeom prst="rect">
            <a:avLst/>
          </a:prstGeom>
          <a:noFill/>
          <a:ln/>
        </p:spPr>
        <p:txBody>
          <a:bodyPr wrap="square" lIns="254" tIns="254" rIns="254" bIns="254" rtlCol="0" anchor="ctr">
            <a:normAutofit/>
          </a:bodyPr>
          <a:lstStyle/>
          <a:p>
            <a:pPr marL="0" indent="0">
              <a:buNone/>
            </a:pPr>
            <a:r>
              <a:rPr lang="en-US" sz="2100" i="1" dirty="0">
                <a:solidFill>
                  <a:srgbClr val="FFFFFF"/>
                </a:solidFill>
                <a:latin typeface="Aptos" pitchFamily="34" charset="0"/>
                <a:ea typeface="Aptos" pitchFamily="34" charset="-122"/>
                <a:cs typeface="Aptos" pitchFamily="34" charset="-120"/>
              </a:rPr>
              <a:t>“Ease of programming matters, but the bigger question is whether the cell can change over fast enough without specialist support.”</a:t>
            </a:r>
            <a:endParaRPr lang="en-US" sz="2100" dirty="0"/>
          </a:p>
        </p:txBody>
      </p:sp>
      <p:sp>
        <p:nvSpPr>
          <p:cNvPr id="10" name="Text 8"/>
          <p:cNvSpPr/>
          <p:nvPr/>
        </p:nvSpPr>
        <p:spPr>
          <a:xfrm>
            <a:off x="760651" y="4617720"/>
            <a:ext cx="10332720" cy="274320"/>
          </a:xfrm>
          <a:prstGeom prst="rect">
            <a:avLst/>
          </a:prstGeom>
          <a:noFill/>
          <a:ln/>
        </p:spPr>
        <p:txBody>
          <a:bodyPr wrap="square" lIns="127" tIns="127" rIns="127" bIns="127" rtlCol="0" anchor="ctr"/>
          <a:lstStyle/>
          <a:p>
            <a:pPr marL="0" indent="0" algn="ctr">
              <a:buNone/>
            </a:pPr>
            <a:r>
              <a:rPr lang="en-US" sz="2200" b="1" dirty="0">
                <a:solidFill>
                  <a:srgbClr val="FFFFFF"/>
                </a:solidFill>
                <a:latin typeface="Aptos Display" pitchFamily="34" charset="0"/>
                <a:ea typeface="Aptos Display" pitchFamily="34" charset="-122"/>
                <a:cs typeface="Aptos Display" pitchFamily="34" charset="-120"/>
              </a:rPr>
              <a:t>Discussion prompt</a:t>
            </a:r>
            <a:endParaRPr lang="en-US" sz="2200" dirty="0"/>
          </a:p>
        </p:txBody>
      </p:sp>
      <p:sp>
        <p:nvSpPr>
          <p:cNvPr id="11" name="Text 9"/>
          <p:cNvSpPr/>
          <p:nvPr/>
        </p:nvSpPr>
        <p:spPr>
          <a:xfrm>
            <a:off x="760651" y="5047488"/>
            <a:ext cx="10332720" cy="320040"/>
          </a:xfrm>
          <a:prstGeom prst="rect">
            <a:avLst/>
          </a:prstGeom>
          <a:noFill/>
          <a:ln/>
        </p:spPr>
        <p:txBody>
          <a:bodyPr wrap="square" lIns="127" tIns="127" rIns="127" bIns="127" rtlCol="0" anchor="ctr"/>
          <a:lstStyle/>
          <a:p>
            <a:pPr marL="0" indent="0" algn="ctr">
              <a:buNone/>
            </a:pPr>
            <a:r>
              <a:rPr lang="en-US" sz="1900" dirty="0">
                <a:solidFill>
                  <a:srgbClr val="FFFFFF"/>
                </a:solidFill>
                <a:latin typeface="Aptos" pitchFamily="34" charset="0"/>
                <a:ea typeface="Aptos" pitchFamily="34" charset="-122"/>
                <a:cs typeface="Aptos" pitchFamily="34" charset="-120"/>
              </a:rPr>
              <a:t>What buyer assumption does your rewritten statement challenge?</a:t>
            </a:r>
            <a:endParaRPr lang="en-US" sz="1900" dirty="0"/>
          </a:p>
        </p:txBody>
      </p:sp>
      <p:sp>
        <p:nvSpPr>
          <p:cNvPr id="12" name="Shape 10"/>
          <p:cNvSpPr/>
          <p:nvPr/>
        </p:nvSpPr>
        <p:spPr>
          <a:xfrm>
            <a:off x="349171" y="6839712"/>
            <a:ext cx="11155680" cy="0"/>
          </a:xfrm>
          <a:prstGeom prst="line">
            <a:avLst/>
          </a:prstGeom>
          <a:noFill/>
          <a:ln w="9525">
            <a:solidFill>
              <a:srgbClr val="334155">
                <a:alpha val="30000"/>
              </a:srgbClr>
            </a:solidFill>
            <a:prstDash val="solid"/>
          </a:ln>
        </p:spPr>
        <p:txBody>
          <a:bodyPr/>
          <a:lstStyle/>
          <a:p>
            <a:endParaRPr lang="en-US"/>
          </a:p>
        </p:txBody>
      </p:sp>
      <p:sp>
        <p:nvSpPr>
          <p:cNvPr id="13" name="Text 11"/>
          <p:cNvSpPr/>
          <p:nvPr/>
        </p:nvSpPr>
        <p:spPr>
          <a:xfrm>
            <a:off x="502920" y="6565392"/>
            <a:ext cx="5029200" cy="146304"/>
          </a:xfrm>
          <a:prstGeom prst="rect">
            <a:avLst/>
          </a:prstGeom>
          <a:noFill/>
          <a:ln/>
        </p:spPr>
        <p:txBody>
          <a:bodyPr wrap="square" rtlCol="0" anchor="ctr"/>
          <a:lstStyle/>
          <a:p>
            <a:pPr marL="0" indent="0">
              <a:buNone/>
            </a:pPr>
            <a:r>
              <a:rPr lang="en-US" sz="750" dirty="0">
                <a:solidFill>
                  <a:srgbClr val="334155"/>
                </a:solidFill>
                <a:latin typeface="Aptos" pitchFamily="34" charset="0"/>
                <a:ea typeface="Aptos" pitchFamily="34" charset="-122"/>
                <a:cs typeface="Aptos" pitchFamily="34" charset="-120"/>
              </a:rPr>
              <a:t>Activity</a:t>
            </a:r>
            <a:endParaRPr lang="en-US" sz="750" dirty="0"/>
          </a:p>
        </p:txBody>
      </p:sp>
      <p:sp>
        <p:nvSpPr>
          <p:cNvPr id="14" name="Text 12"/>
          <p:cNvSpPr/>
          <p:nvPr/>
        </p:nvSpPr>
        <p:spPr>
          <a:xfrm>
            <a:off x="11018520" y="6565392"/>
            <a:ext cx="640080" cy="146304"/>
          </a:xfrm>
          <a:prstGeom prst="rect">
            <a:avLst/>
          </a:prstGeom>
          <a:noFill/>
          <a:ln/>
        </p:spPr>
        <p:txBody>
          <a:bodyPr wrap="square" rtlCol="0" anchor="ctr"/>
          <a:lstStyle/>
          <a:p>
            <a:pPr marL="0" indent="0" algn="r">
              <a:buNone/>
            </a:pPr>
            <a:r>
              <a:rPr lang="en-US" sz="750" dirty="0">
                <a:solidFill>
                  <a:srgbClr val="334155"/>
                </a:solidFill>
                <a:latin typeface="Aptos" pitchFamily="34" charset="0"/>
                <a:ea typeface="Aptos" pitchFamily="34" charset="-122"/>
                <a:cs typeface="Aptos" pitchFamily="34" charset="-120"/>
              </a:rPr>
              <a:t>08</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8046720" cy="402336"/>
          </a:xfrm>
          <a:prstGeom prst="rect">
            <a:avLst/>
          </a:prstGeom>
          <a:noFill/>
          <a:ln/>
        </p:spPr>
        <p:txBody>
          <a:bodyPr wrap="square" lIns="254" tIns="254" rIns="254" bIns="254" rtlCol="0" anchor="ctr">
            <a:normAutofit/>
          </a:bodyPr>
          <a:lstStyle/>
          <a:p>
            <a:pPr marL="0" indent="0">
              <a:buNone/>
            </a:pPr>
            <a:r>
              <a:rPr lang="en-US" sz="2700" b="1" dirty="0">
                <a:solidFill>
                  <a:srgbClr val="111827"/>
                </a:solidFill>
                <a:latin typeface="Aptos Display" pitchFamily="34" charset="0"/>
                <a:ea typeface="Aptos Display" pitchFamily="34" charset="-122"/>
                <a:cs typeface="Aptos Display" pitchFamily="34" charset="-120"/>
              </a:rPr>
              <a:t>Stage 2: Diagnose</a:t>
            </a:r>
            <a:endParaRPr lang="en-US" sz="2700" dirty="0"/>
          </a:p>
        </p:txBody>
      </p:sp>
      <p:sp>
        <p:nvSpPr>
          <p:cNvPr id="3" name="Text 1"/>
          <p:cNvSpPr/>
          <p:nvPr/>
        </p:nvSpPr>
        <p:spPr>
          <a:xfrm>
            <a:off x="585216" y="804672"/>
            <a:ext cx="8046720" cy="219456"/>
          </a:xfrm>
          <a:prstGeom prst="rect">
            <a:avLst/>
          </a:prstGeom>
          <a:noFill/>
          <a:ln/>
        </p:spPr>
        <p:txBody>
          <a:bodyPr wrap="square" lIns="127" tIns="127" rIns="127" bIns="127" rtlCol="0" anchor="ctr"/>
          <a:lstStyle/>
          <a:p>
            <a:pPr marL="0" indent="0">
              <a:buNone/>
            </a:pPr>
            <a:r>
              <a:rPr lang="en-US" sz="1150" dirty="0">
                <a:solidFill>
                  <a:srgbClr val="334155"/>
                </a:solidFill>
                <a:latin typeface="Aptos" pitchFamily="34" charset="0"/>
                <a:ea typeface="Aptos" pitchFamily="34" charset="-122"/>
                <a:cs typeface="Aptos" pitchFamily="34" charset="-120"/>
              </a:rPr>
              <a:t>Discovery should move from symptoms to root causes, impact, stakeholders, and criteria.</a:t>
            </a:r>
            <a:endParaRPr lang="en-US" sz="1150" dirty="0"/>
          </a:p>
        </p:txBody>
      </p:sp>
      <p:sp>
        <p:nvSpPr>
          <p:cNvPr id="4" name="Shape 2"/>
          <p:cNvSpPr/>
          <p:nvPr/>
        </p:nvSpPr>
        <p:spPr>
          <a:xfrm>
            <a:off x="566928" y="1078992"/>
            <a:ext cx="640080" cy="54864"/>
          </a:xfrm>
          <a:prstGeom prst="rect">
            <a:avLst/>
          </a:prstGeom>
          <a:solidFill>
            <a:srgbClr val="F97316"/>
          </a:solidFill>
          <a:ln w="12700">
            <a:solidFill>
              <a:srgbClr val="F97316"/>
            </a:solidFill>
            <a:prstDash val="solid"/>
          </a:ln>
        </p:spPr>
        <p:txBody>
          <a:bodyPr/>
          <a:lstStyle/>
          <a:p>
            <a:endParaRPr lang="en-US"/>
          </a:p>
        </p:txBody>
      </p:sp>
      <p:pic>
        <p:nvPicPr>
          <p:cNvPr id="5" name="Image 0" descr="/mnt/data/a_wide_interior_industrial_factory_warehouse_scene_batch_2.png"/>
          <p:cNvPicPr>
            <a:picLocks noChangeAspect="1"/>
          </p:cNvPicPr>
          <p:nvPr/>
        </p:nvPicPr>
        <p:blipFill>
          <a:blip r:embed="rId3"/>
          <a:srcRect l="10000" r="31576"/>
          <a:stretch/>
        </p:blipFill>
        <p:spPr>
          <a:xfrm>
            <a:off x="6629400" y="1261872"/>
            <a:ext cx="4983480" cy="4800600"/>
          </a:xfrm>
          <a:prstGeom prst="rect">
            <a:avLst/>
          </a:prstGeom>
        </p:spPr>
      </p:pic>
      <p:sp>
        <p:nvSpPr>
          <p:cNvPr id="6" name="Shape 3"/>
          <p:cNvSpPr/>
          <p:nvPr/>
        </p:nvSpPr>
        <p:spPr>
          <a:xfrm>
            <a:off x="777240" y="1398708"/>
            <a:ext cx="5394960" cy="566928"/>
          </a:xfrm>
          <a:prstGeom prst="roundRect">
            <a:avLst>
              <a:gd name="adj" fmla="val 12903"/>
            </a:avLst>
          </a:prstGeom>
          <a:solidFill>
            <a:srgbClr val="F3F4F6"/>
          </a:solidFill>
          <a:ln w="12700">
            <a:solidFill>
              <a:srgbClr val="CBD5E1"/>
            </a:solidFill>
            <a:prstDash val="solid"/>
          </a:ln>
        </p:spPr>
        <p:txBody>
          <a:bodyPr/>
          <a:lstStyle/>
          <a:p>
            <a:endParaRPr lang="en-US"/>
          </a:p>
        </p:txBody>
      </p:sp>
      <p:sp>
        <p:nvSpPr>
          <p:cNvPr id="7" name="Text 4"/>
          <p:cNvSpPr/>
          <p:nvPr/>
        </p:nvSpPr>
        <p:spPr>
          <a:xfrm>
            <a:off x="960120" y="1526724"/>
            <a:ext cx="310896" cy="310896"/>
          </a:xfrm>
          <a:prstGeom prst="rect">
            <a:avLst/>
          </a:prstGeom>
          <a:solidFill>
            <a:srgbClr val="334155"/>
          </a:solidFill>
          <a:ln>
            <a:solidFill>
              <a:srgbClr val="334155"/>
            </a:solidFill>
          </a:ln>
        </p:spPr>
        <p:txBody>
          <a:bodyPr wrap="square" lIns="127" tIns="127" rIns="127" bIns="127" rtlCol="0" anchor="ctr"/>
          <a:lstStyle/>
          <a:p>
            <a:pPr algn="ctr"/>
            <a:r>
              <a:rPr lang="en-US" sz="1050" b="1" dirty="0">
                <a:solidFill>
                  <a:srgbClr val="FFFFFF"/>
                </a:solidFill>
                <a:latin typeface="Aptos" pitchFamily="34" charset="0"/>
              </a:rPr>
              <a:t>1</a:t>
            </a:r>
          </a:p>
        </p:txBody>
      </p:sp>
      <p:sp>
        <p:nvSpPr>
          <p:cNvPr id="8" name="Text 5"/>
          <p:cNvSpPr/>
          <p:nvPr/>
        </p:nvSpPr>
        <p:spPr>
          <a:xfrm>
            <a:off x="1417320" y="1508436"/>
            <a:ext cx="1600200" cy="201168"/>
          </a:xfrm>
          <a:prstGeom prst="rect">
            <a:avLst/>
          </a:prstGeom>
        </p:spPr>
        <p:txBody>
          <a:bodyPr wrap="square" lIns="127" tIns="127" rIns="127" bIns="127" rtlCol="0" anchor="ctr">
            <a:normAutofit/>
          </a:bodyPr>
          <a:lstStyle/>
          <a:p>
            <a:r>
              <a:rPr lang="en-US" sz="1280" b="1" dirty="0">
                <a:solidFill>
                  <a:srgbClr val="111827"/>
                </a:solidFill>
                <a:latin typeface="Aptos" pitchFamily="34" charset="0"/>
              </a:rPr>
              <a:t>Current process</a:t>
            </a:r>
          </a:p>
        </p:txBody>
      </p:sp>
      <p:sp>
        <p:nvSpPr>
          <p:cNvPr id="9" name="Text 6"/>
          <p:cNvSpPr/>
          <p:nvPr/>
        </p:nvSpPr>
        <p:spPr>
          <a:xfrm>
            <a:off x="3182112" y="1526724"/>
            <a:ext cx="2697480" cy="201168"/>
          </a:xfrm>
          <a:prstGeom prst="rect">
            <a:avLst/>
          </a:prstGeom>
          <a:noFill/>
          <a:ln/>
        </p:spPr>
        <p:txBody>
          <a:bodyPr wrap="square" lIns="127" tIns="127" rIns="127" bIns="127" rtlCol="0" anchor="ctr">
            <a:normAutofit/>
          </a:bodyPr>
          <a:lstStyle/>
          <a:p>
            <a:r>
              <a:rPr lang="en-US" sz="1080" dirty="0">
                <a:solidFill>
                  <a:srgbClr val="334155"/>
                </a:solidFill>
                <a:latin typeface="Aptos" pitchFamily="34" charset="0"/>
              </a:rPr>
              <a:t>How the application actually runs today</a:t>
            </a:r>
          </a:p>
        </p:txBody>
      </p:sp>
      <p:sp>
        <p:nvSpPr>
          <p:cNvPr id="10" name="Shape 7"/>
          <p:cNvSpPr/>
          <p:nvPr/>
        </p:nvSpPr>
        <p:spPr>
          <a:xfrm>
            <a:off x="777240" y="2185092"/>
            <a:ext cx="5394960" cy="566928"/>
          </a:xfrm>
          <a:prstGeom prst="roundRect">
            <a:avLst>
              <a:gd name="adj" fmla="val 12903"/>
            </a:avLst>
          </a:prstGeom>
          <a:solidFill>
            <a:srgbClr val="F3F4F6"/>
          </a:solidFill>
          <a:ln w="12700">
            <a:solidFill>
              <a:srgbClr val="CBD5E1"/>
            </a:solidFill>
            <a:prstDash val="solid"/>
          </a:ln>
        </p:spPr>
        <p:txBody>
          <a:bodyPr/>
          <a:lstStyle/>
          <a:p>
            <a:endParaRPr lang="en-US"/>
          </a:p>
        </p:txBody>
      </p:sp>
      <p:sp>
        <p:nvSpPr>
          <p:cNvPr id="11" name="Text 8"/>
          <p:cNvSpPr/>
          <p:nvPr/>
        </p:nvSpPr>
        <p:spPr>
          <a:xfrm>
            <a:off x="960120" y="2313108"/>
            <a:ext cx="310896" cy="310896"/>
          </a:xfrm>
          <a:prstGeom prst="rect">
            <a:avLst/>
          </a:prstGeom>
          <a:solidFill>
            <a:srgbClr val="334155"/>
          </a:solidFill>
          <a:ln>
            <a:solidFill>
              <a:srgbClr val="334155"/>
            </a:solidFill>
          </a:ln>
        </p:spPr>
        <p:txBody>
          <a:bodyPr wrap="square" lIns="127" tIns="127" rIns="127" bIns="127" rtlCol="0" anchor="ctr"/>
          <a:lstStyle/>
          <a:p>
            <a:pPr marL="0" indent="0" algn="ctr">
              <a:buNone/>
            </a:pPr>
            <a:r>
              <a:rPr lang="en-US" sz="1050" b="1" dirty="0">
                <a:solidFill>
                  <a:srgbClr val="FFFFFF"/>
                </a:solidFill>
                <a:latin typeface="Aptos" pitchFamily="34" charset="0"/>
                <a:ea typeface="Aptos" pitchFamily="34" charset="-122"/>
                <a:cs typeface="Aptos" pitchFamily="34" charset="-120"/>
              </a:rPr>
              <a:t>2</a:t>
            </a:r>
            <a:endParaRPr lang="en-US" sz="1050" dirty="0"/>
          </a:p>
        </p:txBody>
      </p:sp>
      <p:sp>
        <p:nvSpPr>
          <p:cNvPr id="12" name="Text 9"/>
          <p:cNvSpPr/>
          <p:nvPr/>
        </p:nvSpPr>
        <p:spPr>
          <a:xfrm>
            <a:off x="1417320" y="2294820"/>
            <a:ext cx="1600200" cy="201168"/>
          </a:xfrm>
          <a:prstGeom prst="rect">
            <a:avLst/>
          </a:prstGeom>
        </p:spPr>
        <p:txBody>
          <a:bodyPr wrap="square" lIns="127" tIns="127" rIns="127" bIns="127" rtlCol="0" anchor="ctr">
            <a:normAutofit/>
          </a:bodyPr>
          <a:lstStyle/>
          <a:p>
            <a:pPr marL="0" indent="0">
              <a:buNone/>
            </a:pPr>
            <a:r>
              <a:rPr lang="en-US" sz="1280" b="1" dirty="0">
                <a:solidFill>
                  <a:srgbClr val="111827"/>
                </a:solidFill>
                <a:latin typeface="Aptos" pitchFamily="34" charset="0"/>
                <a:ea typeface="Aptos" pitchFamily="34" charset="-122"/>
                <a:cs typeface="Aptos" pitchFamily="34" charset="-120"/>
              </a:rPr>
              <a:t>Constraint</a:t>
            </a:r>
            <a:endParaRPr lang="en-US" sz="1280" dirty="0"/>
          </a:p>
        </p:txBody>
      </p:sp>
      <p:sp>
        <p:nvSpPr>
          <p:cNvPr id="13" name="Text 10"/>
          <p:cNvSpPr/>
          <p:nvPr/>
        </p:nvSpPr>
        <p:spPr>
          <a:xfrm>
            <a:off x="3182112" y="2313108"/>
            <a:ext cx="2697480" cy="201168"/>
          </a:xfrm>
          <a:prstGeom prst="rect">
            <a:avLst/>
          </a:prstGeom>
          <a:noFill/>
          <a:ln/>
        </p:spPr>
        <p:txBody>
          <a:bodyPr wrap="square" lIns="127" tIns="127" rIns="127" bIns="127" rtlCol="0" anchor="ctr">
            <a:normAutofit/>
          </a:bodyPr>
          <a:lstStyle/>
          <a:p>
            <a:pPr marL="0" indent="0">
              <a:buNone/>
            </a:pPr>
            <a:r>
              <a:rPr lang="en-US" sz="1080" dirty="0">
                <a:solidFill>
                  <a:srgbClr val="334155"/>
                </a:solidFill>
                <a:latin typeface="Aptos" pitchFamily="34" charset="0"/>
                <a:ea typeface="Aptos" pitchFamily="34" charset="-122"/>
                <a:cs typeface="Aptos" pitchFamily="34" charset="-120"/>
              </a:rPr>
              <a:t>What prevents target performance</a:t>
            </a:r>
            <a:endParaRPr lang="en-US" sz="1080" dirty="0"/>
          </a:p>
        </p:txBody>
      </p:sp>
      <p:sp>
        <p:nvSpPr>
          <p:cNvPr id="14" name="Shape 11"/>
          <p:cNvSpPr/>
          <p:nvPr/>
        </p:nvSpPr>
        <p:spPr>
          <a:xfrm>
            <a:off x="777240" y="2971476"/>
            <a:ext cx="5394960" cy="566928"/>
          </a:xfrm>
          <a:prstGeom prst="roundRect">
            <a:avLst>
              <a:gd name="adj" fmla="val 12903"/>
            </a:avLst>
          </a:prstGeom>
          <a:solidFill>
            <a:srgbClr val="F3F4F6"/>
          </a:solidFill>
          <a:ln w="12700">
            <a:solidFill>
              <a:srgbClr val="CBD5E1"/>
            </a:solidFill>
            <a:prstDash val="solid"/>
          </a:ln>
        </p:spPr>
        <p:txBody>
          <a:bodyPr/>
          <a:lstStyle/>
          <a:p>
            <a:endParaRPr lang="en-US"/>
          </a:p>
        </p:txBody>
      </p:sp>
      <p:sp>
        <p:nvSpPr>
          <p:cNvPr id="15" name="Text 12"/>
          <p:cNvSpPr/>
          <p:nvPr/>
        </p:nvSpPr>
        <p:spPr>
          <a:xfrm>
            <a:off x="960120" y="3099492"/>
            <a:ext cx="310896" cy="310896"/>
          </a:xfrm>
          <a:prstGeom prst="rect">
            <a:avLst/>
          </a:prstGeom>
          <a:solidFill>
            <a:srgbClr val="334155"/>
          </a:solidFill>
          <a:ln>
            <a:solidFill>
              <a:srgbClr val="334155"/>
            </a:solidFill>
          </a:ln>
        </p:spPr>
        <p:txBody>
          <a:bodyPr wrap="square" lIns="127" tIns="127" rIns="127" bIns="127" rtlCol="0" anchor="ctr"/>
          <a:lstStyle/>
          <a:p>
            <a:pPr marL="0" indent="0" algn="ctr">
              <a:buNone/>
            </a:pPr>
            <a:r>
              <a:rPr lang="en-US" sz="1050" b="1" dirty="0">
                <a:solidFill>
                  <a:srgbClr val="FFFFFF"/>
                </a:solidFill>
                <a:latin typeface="Aptos" pitchFamily="34" charset="0"/>
                <a:ea typeface="Aptos" pitchFamily="34" charset="-122"/>
                <a:cs typeface="Aptos" pitchFamily="34" charset="-120"/>
              </a:rPr>
              <a:t>3</a:t>
            </a:r>
            <a:endParaRPr lang="en-US" sz="1050" dirty="0"/>
          </a:p>
        </p:txBody>
      </p:sp>
      <p:sp>
        <p:nvSpPr>
          <p:cNvPr id="16" name="Text 13"/>
          <p:cNvSpPr/>
          <p:nvPr/>
        </p:nvSpPr>
        <p:spPr>
          <a:xfrm>
            <a:off x="1417320" y="3081204"/>
            <a:ext cx="1600200" cy="201168"/>
          </a:xfrm>
          <a:prstGeom prst="rect">
            <a:avLst/>
          </a:prstGeom>
          <a:noFill/>
          <a:ln/>
        </p:spPr>
        <p:txBody>
          <a:bodyPr wrap="square" lIns="127" tIns="127" rIns="127" bIns="127" rtlCol="0" anchor="ctr">
            <a:normAutofit/>
          </a:bodyPr>
          <a:lstStyle/>
          <a:p>
            <a:pPr marL="0" indent="0">
              <a:buNone/>
            </a:pPr>
            <a:r>
              <a:rPr lang="en-US" sz="1280" b="1" dirty="0">
                <a:solidFill>
                  <a:srgbClr val="111827"/>
                </a:solidFill>
                <a:latin typeface="Aptos" pitchFamily="34" charset="0"/>
                <a:ea typeface="Aptos" pitchFamily="34" charset="-122"/>
                <a:cs typeface="Aptos" pitchFamily="34" charset="-120"/>
              </a:rPr>
              <a:t>Causes</a:t>
            </a:r>
            <a:endParaRPr lang="en-US" sz="1280" dirty="0"/>
          </a:p>
        </p:txBody>
      </p:sp>
      <p:sp>
        <p:nvSpPr>
          <p:cNvPr id="17" name="Text 14"/>
          <p:cNvSpPr/>
          <p:nvPr/>
        </p:nvSpPr>
        <p:spPr>
          <a:xfrm>
            <a:off x="3182112" y="3099492"/>
            <a:ext cx="2697480" cy="201168"/>
          </a:xfrm>
          <a:prstGeom prst="rect">
            <a:avLst/>
          </a:prstGeom>
          <a:noFill/>
          <a:ln/>
        </p:spPr>
        <p:txBody>
          <a:bodyPr wrap="square" lIns="127" tIns="127" rIns="127" bIns="127" rtlCol="0" anchor="ctr">
            <a:normAutofit/>
          </a:bodyPr>
          <a:lstStyle/>
          <a:p>
            <a:pPr marL="0" indent="0">
              <a:buNone/>
            </a:pPr>
            <a:r>
              <a:rPr lang="en-US" sz="1080" dirty="0">
                <a:solidFill>
                  <a:srgbClr val="334155"/>
                </a:solidFill>
                <a:latin typeface="Aptos" pitchFamily="34" charset="0"/>
                <a:ea typeface="Aptos" pitchFamily="34" charset="-122"/>
                <a:cs typeface="Aptos" pitchFamily="34" charset="-120"/>
              </a:rPr>
              <a:t>Why the constraint exists</a:t>
            </a:r>
            <a:endParaRPr lang="en-US" sz="1080" dirty="0"/>
          </a:p>
        </p:txBody>
      </p:sp>
      <p:sp>
        <p:nvSpPr>
          <p:cNvPr id="18" name="Shape 15"/>
          <p:cNvSpPr/>
          <p:nvPr/>
        </p:nvSpPr>
        <p:spPr>
          <a:xfrm>
            <a:off x="777240" y="3757860"/>
            <a:ext cx="5394960" cy="566928"/>
          </a:xfrm>
          <a:prstGeom prst="roundRect">
            <a:avLst>
              <a:gd name="adj" fmla="val 12903"/>
            </a:avLst>
          </a:prstGeom>
          <a:solidFill>
            <a:srgbClr val="F3F4F6"/>
          </a:solidFill>
          <a:ln w="12700">
            <a:solidFill>
              <a:srgbClr val="CBD5E1"/>
            </a:solidFill>
            <a:prstDash val="solid"/>
          </a:ln>
        </p:spPr>
        <p:txBody>
          <a:bodyPr/>
          <a:lstStyle/>
          <a:p>
            <a:endParaRPr lang="en-US"/>
          </a:p>
        </p:txBody>
      </p:sp>
      <p:sp>
        <p:nvSpPr>
          <p:cNvPr id="19" name="Text 16"/>
          <p:cNvSpPr/>
          <p:nvPr/>
        </p:nvSpPr>
        <p:spPr>
          <a:xfrm>
            <a:off x="960120" y="3885876"/>
            <a:ext cx="310896" cy="310896"/>
          </a:xfrm>
          <a:prstGeom prst="rect">
            <a:avLst/>
          </a:prstGeom>
          <a:solidFill>
            <a:srgbClr val="334155"/>
          </a:solidFill>
          <a:ln>
            <a:solidFill>
              <a:srgbClr val="334155"/>
            </a:solidFill>
          </a:ln>
        </p:spPr>
        <p:txBody>
          <a:bodyPr wrap="square" lIns="127" tIns="127" rIns="127" bIns="127" rtlCol="0" anchor="ctr"/>
          <a:lstStyle/>
          <a:p>
            <a:pPr marL="0" indent="0" algn="ctr">
              <a:buNone/>
            </a:pPr>
            <a:r>
              <a:rPr lang="en-US" sz="1050" b="1" dirty="0">
                <a:solidFill>
                  <a:srgbClr val="FFFFFF"/>
                </a:solidFill>
                <a:latin typeface="Aptos" pitchFamily="34" charset="0"/>
                <a:ea typeface="Aptos" pitchFamily="34" charset="-122"/>
                <a:cs typeface="Aptos" pitchFamily="34" charset="-120"/>
              </a:rPr>
              <a:t>4</a:t>
            </a:r>
            <a:endParaRPr lang="en-US" sz="1050" dirty="0"/>
          </a:p>
        </p:txBody>
      </p:sp>
      <p:sp>
        <p:nvSpPr>
          <p:cNvPr id="20" name="Text 17"/>
          <p:cNvSpPr/>
          <p:nvPr/>
        </p:nvSpPr>
        <p:spPr>
          <a:xfrm>
            <a:off x="1417320" y="3867588"/>
            <a:ext cx="1600200" cy="201168"/>
          </a:xfrm>
          <a:prstGeom prst="rect">
            <a:avLst/>
          </a:prstGeom>
          <a:noFill/>
          <a:ln/>
        </p:spPr>
        <p:txBody>
          <a:bodyPr wrap="square" lIns="127" tIns="127" rIns="127" bIns="127" rtlCol="0" anchor="ctr">
            <a:normAutofit/>
          </a:bodyPr>
          <a:lstStyle/>
          <a:p>
            <a:pPr marL="0" indent="0">
              <a:buNone/>
            </a:pPr>
            <a:r>
              <a:rPr lang="en-US" sz="1280" b="1" dirty="0">
                <a:solidFill>
                  <a:srgbClr val="111827"/>
                </a:solidFill>
                <a:latin typeface="Aptos" pitchFamily="34" charset="0"/>
                <a:ea typeface="Aptos" pitchFamily="34" charset="-122"/>
                <a:cs typeface="Aptos" pitchFamily="34" charset="-120"/>
              </a:rPr>
              <a:t>Consequences</a:t>
            </a:r>
            <a:endParaRPr lang="en-US" sz="1280" dirty="0"/>
          </a:p>
        </p:txBody>
      </p:sp>
      <p:sp>
        <p:nvSpPr>
          <p:cNvPr id="21" name="Text 18"/>
          <p:cNvSpPr/>
          <p:nvPr/>
        </p:nvSpPr>
        <p:spPr>
          <a:xfrm>
            <a:off x="3182112" y="3885876"/>
            <a:ext cx="2697480" cy="201168"/>
          </a:xfrm>
          <a:prstGeom prst="rect">
            <a:avLst/>
          </a:prstGeom>
          <a:noFill/>
          <a:ln/>
        </p:spPr>
        <p:txBody>
          <a:bodyPr wrap="square" lIns="127" tIns="127" rIns="127" bIns="127" rtlCol="0" anchor="ctr">
            <a:normAutofit/>
          </a:bodyPr>
          <a:lstStyle/>
          <a:p>
            <a:pPr marL="0" indent="0">
              <a:buNone/>
            </a:pPr>
            <a:r>
              <a:rPr lang="en-US" sz="1080" dirty="0">
                <a:solidFill>
                  <a:srgbClr val="334155"/>
                </a:solidFill>
                <a:latin typeface="Aptos" pitchFamily="34" charset="0"/>
                <a:ea typeface="Aptos" pitchFamily="34" charset="-122"/>
                <a:cs typeface="Aptos" pitchFamily="34" charset="-120"/>
              </a:rPr>
              <a:t>Who or what is affected</a:t>
            </a:r>
            <a:endParaRPr lang="en-US" sz="1080" dirty="0"/>
          </a:p>
        </p:txBody>
      </p:sp>
      <p:sp>
        <p:nvSpPr>
          <p:cNvPr id="22" name="Shape 19"/>
          <p:cNvSpPr/>
          <p:nvPr/>
        </p:nvSpPr>
        <p:spPr>
          <a:xfrm>
            <a:off x="777240" y="4544244"/>
            <a:ext cx="5394960" cy="566928"/>
          </a:xfrm>
          <a:prstGeom prst="roundRect">
            <a:avLst>
              <a:gd name="adj" fmla="val 12903"/>
            </a:avLst>
          </a:prstGeom>
          <a:solidFill>
            <a:srgbClr val="F3F4F6"/>
          </a:solidFill>
          <a:ln w="12700">
            <a:solidFill>
              <a:srgbClr val="CBD5E1"/>
            </a:solidFill>
            <a:prstDash val="solid"/>
          </a:ln>
        </p:spPr>
        <p:txBody>
          <a:bodyPr/>
          <a:lstStyle/>
          <a:p>
            <a:endParaRPr lang="en-US"/>
          </a:p>
        </p:txBody>
      </p:sp>
      <p:sp>
        <p:nvSpPr>
          <p:cNvPr id="23" name="Text 20"/>
          <p:cNvSpPr/>
          <p:nvPr/>
        </p:nvSpPr>
        <p:spPr>
          <a:xfrm>
            <a:off x="960120" y="4672260"/>
            <a:ext cx="310896" cy="310896"/>
          </a:xfrm>
          <a:prstGeom prst="rect">
            <a:avLst/>
          </a:prstGeom>
          <a:solidFill>
            <a:srgbClr val="334155"/>
          </a:solidFill>
          <a:ln>
            <a:solidFill>
              <a:srgbClr val="334155"/>
            </a:solidFill>
          </a:ln>
        </p:spPr>
        <p:txBody>
          <a:bodyPr wrap="square" lIns="127" tIns="127" rIns="127" bIns="127" rtlCol="0" anchor="ctr"/>
          <a:lstStyle/>
          <a:p>
            <a:pPr marL="0" indent="0" algn="ctr">
              <a:buNone/>
            </a:pPr>
            <a:r>
              <a:rPr lang="en-US" sz="1050" b="1" dirty="0">
                <a:solidFill>
                  <a:srgbClr val="FFFFFF"/>
                </a:solidFill>
                <a:latin typeface="Aptos" pitchFamily="34" charset="0"/>
                <a:ea typeface="Aptos" pitchFamily="34" charset="-122"/>
                <a:cs typeface="Aptos" pitchFamily="34" charset="-120"/>
              </a:rPr>
              <a:t>5</a:t>
            </a:r>
            <a:endParaRPr lang="en-US" sz="1050" dirty="0"/>
          </a:p>
        </p:txBody>
      </p:sp>
      <p:sp>
        <p:nvSpPr>
          <p:cNvPr id="24" name="Text 21"/>
          <p:cNvSpPr/>
          <p:nvPr/>
        </p:nvSpPr>
        <p:spPr>
          <a:xfrm>
            <a:off x="1417320" y="4653972"/>
            <a:ext cx="1600200" cy="201168"/>
          </a:xfrm>
          <a:prstGeom prst="rect">
            <a:avLst/>
          </a:prstGeom>
          <a:noFill/>
          <a:ln/>
        </p:spPr>
        <p:txBody>
          <a:bodyPr wrap="square" lIns="127" tIns="127" rIns="127" bIns="127" rtlCol="0" anchor="ctr">
            <a:normAutofit/>
          </a:bodyPr>
          <a:lstStyle/>
          <a:p>
            <a:pPr marL="0" indent="0">
              <a:buNone/>
            </a:pPr>
            <a:r>
              <a:rPr lang="en-US" sz="1280" b="1" dirty="0">
                <a:solidFill>
                  <a:srgbClr val="111827"/>
                </a:solidFill>
                <a:latin typeface="Aptos" pitchFamily="34" charset="0"/>
                <a:ea typeface="Aptos" pitchFamily="34" charset="-122"/>
                <a:cs typeface="Aptos" pitchFamily="34" charset="-120"/>
              </a:rPr>
              <a:t>Criteria</a:t>
            </a:r>
            <a:endParaRPr lang="en-US" sz="1280" dirty="0"/>
          </a:p>
        </p:txBody>
      </p:sp>
      <p:sp>
        <p:nvSpPr>
          <p:cNvPr id="25" name="Text 22"/>
          <p:cNvSpPr/>
          <p:nvPr/>
        </p:nvSpPr>
        <p:spPr>
          <a:xfrm>
            <a:off x="3182112" y="4672260"/>
            <a:ext cx="2697480" cy="201168"/>
          </a:xfrm>
          <a:prstGeom prst="rect">
            <a:avLst/>
          </a:prstGeom>
          <a:noFill/>
          <a:ln/>
        </p:spPr>
        <p:txBody>
          <a:bodyPr wrap="square" lIns="127" tIns="127" rIns="127" bIns="127" rtlCol="0" anchor="ctr">
            <a:normAutofit/>
          </a:bodyPr>
          <a:lstStyle/>
          <a:p>
            <a:pPr marL="0" indent="0">
              <a:buNone/>
            </a:pPr>
            <a:r>
              <a:rPr lang="en-US" sz="1080" dirty="0">
                <a:solidFill>
                  <a:srgbClr val="334155"/>
                </a:solidFill>
                <a:latin typeface="Aptos" pitchFamily="34" charset="0"/>
                <a:ea typeface="Aptos" pitchFamily="34" charset="-122"/>
                <a:cs typeface="Aptos" pitchFamily="34" charset="-120"/>
              </a:rPr>
              <a:t>What must be true to proceed</a:t>
            </a:r>
            <a:endParaRPr lang="en-US" sz="1080" dirty="0"/>
          </a:p>
        </p:txBody>
      </p:sp>
      <p:sp>
        <p:nvSpPr>
          <p:cNvPr id="26" name="Text 23"/>
          <p:cNvSpPr/>
          <p:nvPr/>
        </p:nvSpPr>
        <p:spPr>
          <a:xfrm>
            <a:off x="1115568" y="5567239"/>
            <a:ext cx="5349240" cy="310896"/>
          </a:xfrm>
          <a:prstGeom prst="rect">
            <a:avLst/>
          </a:prstGeom>
          <a:noFill/>
          <a:ln/>
        </p:spPr>
        <p:txBody>
          <a:bodyPr wrap="square" lIns="127" tIns="127" rIns="127" bIns="127" rtlCol="0" anchor="ctr">
            <a:normAutofit fontScale="70000" lnSpcReduction="20000"/>
          </a:bodyPr>
          <a:lstStyle/>
          <a:p>
            <a:pPr marL="0" indent="0">
              <a:buNone/>
            </a:pPr>
            <a:r>
              <a:rPr lang="en-US" sz="2000" b="1" dirty="0">
                <a:solidFill>
                  <a:srgbClr val="111827"/>
                </a:solidFill>
                <a:latin typeface="Aptos Display" pitchFamily="34" charset="0"/>
                <a:ea typeface="Aptos Display" pitchFamily="34" charset="-122"/>
                <a:cs typeface="Aptos Display" pitchFamily="34" charset="-120"/>
              </a:rPr>
              <a:t>Good diagnosis is not a checklist. It is a narrowing investigation.</a:t>
            </a:r>
            <a:endParaRPr lang="en-US" sz="2000" dirty="0"/>
          </a:p>
        </p:txBody>
      </p:sp>
      <p:sp>
        <p:nvSpPr>
          <p:cNvPr id="27" name="Shape 24"/>
          <p:cNvSpPr/>
          <p:nvPr/>
        </p:nvSpPr>
        <p:spPr>
          <a:xfrm>
            <a:off x="502920" y="6473952"/>
            <a:ext cx="11155680" cy="0"/>
          </a:xfrm>
          <a:prstGeom prst="line">
            <a:avLst/>
          </a:prstGeom>
          <a:noFill/>
          <a:ln w="9525">
            <a:solidFill>
              <a:srgbClr val="334155">
                <a:alpha val="30000"/>
              </a:srgbClr>
            </a:solidFill>
            <a:prstDash val="solid"/>
          </a:ln>
        </p:spPr>
        <p:txBody>
          <a:bodyPr/>
          <a:lstStyle/>
          <a:p>
            <a:endParaRPr lang="en-US"/>
          </a:p>
        </p:txBody>
      </p:sp>
      <p:sp>
        <p:nvSpPr>
          <p:cNvPr id="28" name="Text 25"/>
          <p:cNvSpPr/>
          <p:nvPr/>
        </p:nvSpPr>
        <p:spPr>
          <a:xfrm>
            <a:off x="502920" y="6565392"/>
            <a:ext cx="5029200" cy="146304"/>
          </a:xfrm>
          <a:prstGeom prst="rect">
            <a:avLst/>
          </a:prstGeom>
          <a:noFill/>
          <a:ln/>
        </p:spPr>
        <p:txBody>
          <a:bodyPr wrap="square" rtlCol="0" anchor="ctr"/>
          <a:lstStyle/>
          <a:p>
            <a:pPr marL="0" indent="0">
              <a:buNone/>
            </a:pPr>
            <a:r>
              <a:rPr lang="en-US" sz="750" dirty="0">
                <a:solidFill>
                  <a:srgbClr val="334155"/>
                </a:solidFill>
                <a:latin typeface="Aptos" pitchFamily="34" charset="0"/>
                <a:ea typeface="Aptos" pitchFamily="34" charset="-122"/>
                <a:cs typeface="Aptos" pitchFamily="34" charset="-120"/>
              </a:rPr>
              <a:t>Beyond the Robot</a:t>
            </a:r>
            <a:endParaRPr lang="en-US" sz="750" dirty="0"/>
          </a:p>
        </p:txBody>
      </p:sp>
      <p:sp>
        <p:nvSpPr>
          <p:cNvPr id="29" name="Text 26"/>
          <p:cNvSpPr/>
          <p:nvPr/>
        </p:nvSpPr>
        <p:spPr>
          <a:xfrm>
            <a:off x="11018520" y="6565392"/>
            <a:ext cx="640080" cy="146304"/>
          </a:xfrm>
          <a:prstGeom prst="rect">
            <a:avLst/>
          </a:prstGeom>
          <a:noFill/>
          <a:ln/>
        </p:spPr>
        <p:txBody>
          <a:bodyPr wrap="square" rtlCol="0" anchor="ctr"/>
          <a:lstStyle/>
          <a:p>
            <a:pPr marL="0" indent="0" algn="r">
              <a:buNone/>
            </a:pPr>
            <a:r>
              <a:rPr lang="en-US" sz="750" dirty="0">
                <a:solidFill>
                  <a:srgbClr val="334155"/>
                </a:solidFill>
                <a:latin typeface="Aptos" pitchFamily="34" charset="0"/>
                <a:ea typeface="Aptos" pitchFamily="34" charset="-122"/>
                <a:cs typeface="Aptos" pitchFamily="34" charset="-120"/>
              </a:rPr>
              <a:t>09</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8046720" cy="402336"/>
          </a:xfrm>
          <a:prstGeom prst="rect">
            <a:avLst/>
          </a:prstGeom>
          <a:noFill/>
          <a:ln/>
        </p:spPr>
        <p:txBody>
          <a:bodyPr wrap="square" lIns="254" tIns="254" rIns="254" bIns="254" rtlCol="0" anchor="ctr">
            <a:normAutofit/>
          </a:bodyPr>
          <a:lstStyle/>
          <a:p>
            <a:pPr marL="0" indent="0">
              <a:buNone/>
            </a:pPr>
            <a:r>
              <a:rPr lang="en-US" sz="2700" b="1" dirty="0">
                <a:solidFill>
                  <a:srgbClr val="111827"/>
                </a:solidFill>
                <a:latin typeface="Aptos Display" pitchFamily="34" charset="0"/>
                <a:ea typeface="Aptos Display" pitchFamily="34" charset="-122"/>
                <a:cs typeface="Aptos Display" pitchFamily="34" charset="-120"/>
              </a:rPr>
              <a:t>Discovery question map</a:t>
            </a:r>
            <a:endParaRPr lang="en-US" sz="2700" dirty="0"/>
          </a:p>
        </p:txBody>
      </p:sp>
      <p:sp>
        <p:nvSpPr>
          <p:cNvPr id="3" name="Text 1"/>
          <p:cNvSpPr/>
          <p:nvPr/>
        </p:nvSpPr>
        <p:spPr>
          <a:xfrm>
            <a:off x="585216" y="804672"/>
            <a:ext cx="8046720" cy="219456"/>
          </a:xfrm>
          <a:prstGeom prst="rect">
            <a:avLst/>
          </a:prstGeom>
          <a:noFill/>
          <a:ln/>
        </p:spPr>
        <p:txBody>
          <a:bodyPr wrap="square" lIns="127" tIns="127" rIns="127" bIns="127" rtlCol="0" anchor="ctr"/>
          <a:lstStyle/>
          <a:p>
            <a:pPr marL="0" indent="0">
              <a:buNone/>
            </a:pPr>
            <a:r>
              <a:rPr lang="en-US" sz="1150" dirty="0">
                <a:solidFill>
                  <a:srgbClr val="334155"/>
                </a:solidFill>
                <a:latin typeface="Aptos" pitchFamily="34" charset="0"/>
                <a:ea typeface="Aptos" pitchFamily="34" charset="-122"/>
                <a:cs typeface="Aptos" pitchFamily="34" charset="-120"/>
              </a:rPr>
              <a:t>Organize questions across the full automation decision — not only the robot specification.</a:t>
            </a:r>
            <a:endParaRPr lang="en-US" sz="1150" dirty="0"/>
          </a:p>
        </p:txBody>
      </p:sp>
      <p:sp>
        <p:nvSpPr>
          <p:cNvPr id="4" name="Shape 2"/>
          <p:cNvSpPr/>
          <p:nvPr/>
        </p:nvSpPr>
        <p:spPr>
          <a:xfrm>
            <a:off x="566928" y="1078992"/>
            <a:ext cx="640080" cy="54864"/>
          </a:xfrm>
          <a:prstGeom prst="rect">
            <a:avLst/>
          </a:prstGeom>
          <a:solidFill>
            <a:srgbClr val="F97316"/>
          </a:solidFill>
          <a:ln w="12700">
            <a:solidFill>
              <a:srgbClr val="F97316"/>
            </a:solidFill>
            <a:prstDash val="solid"/>
          </a:ln>
        </p:spPr>
        <p:txBody>
          <a:bodyPr/>
          <a:lstStyle/>
          <a:p>
            <a:endParaRPr lang="en-US"/>
          </a:p>
        </p:txBody>
      </p:sp>
      <p:sp>
        <p:nvSpPr>
          <p:cNvPr id="5" name="Text 3"/>
          <p:cNvSpPr/>
          <p:nvPr/>
        </p:nvSpPr>
        <p:spPr>
          <a:xfrm>
            <a:off x="777240" y="1417320"/>
            <a:ext cx="4937760" cy="320040"/>
          </a:xfrm>
          <a:prstGeom prst="rect">
            <a:avLst/>
          </a:prstGeom>
          <a:noFill/>
          <a:ln/>
        </p:spPr>
        <p:txBody>
          <a:bodyPr wrap="square" lIns="127" tIns="127" rIns="127" bIns="127" rtlCol="0" anchor="ctr"/>
          <a:lstStyle/>
          <a:p>
            <a:pPr marL="0" indent="0">
              <a:buNone/>
            </a:pPr>
            <a:r>
              <a:rPr lang="en-US" sz="1900" b="1" dirty="0">
                <a:solidFill>
                  <a:srgbClr val="111827"/>
                </a:solidFill>
                <a:latin typeface="Aptos Display" pitchFamily="34" charset="0"/>
                <a:ea typeface="Aptos Display" pitchFamily="34" charset="-122"/>
                <a:cs typeface="Aptos Display" pitchFamily="34" charset="-120"/>
              </a:rPr>
              <a:t>Operational</a:t>
            </a:r>
            <a:endParaRPr lang="en-US" sz="1900" dirty="0"/>
          </a:p>
        </p:txBody>
      </p:sp>
      <p:sp>
        <p:nvSpPr>
          <p:cNvPr id="6" name="Text 4"/>
          <p:cNvSpPr/>
          <p:nvPr/>
        </p:nvSpPr>
        <p:spPr>
          <a:xfrm>
            <a:off x="822960" y="1947672"/>
            <a:ext cx="4663440" cy="347472"/>
          </a:xfrm>
          <a:prstGeom prst="rect">
            <a:avLst/>
          </a:prstGeom>
          <a:solidFill>
            <a:srgbClr val="F3F4F6"/>
          </a:solidFill>
          <a:ln>
            <a:solidFill>
              <a:srgbClr val="CBD5E1"/>
            </a:solidFill>
          </a:ln>
        </p:spPr>
        <p:txBody>
          <a:bodyPr wrap="square" lIns="762" tIns="762" rIns="762" bIns="762" rtlCol="0" anchor="ctr">
            <a:normAutofit/>
          </a:bodyPr>
          <a:lstStyle/>
          <a:p>
            <a:pPr marL="0" indent="0" algn="ctr">
              <a:buNone/>
            </a:pPr>
            <a:r>
              <a:rPr lang="en-US" sz="1200" dirty="0">
                <a:solidFill>
                  <a:srgbClr val="111827"/>
                </a:solidFill>
                <a:latin typeface="Aptos" pitchFamily="34" charset="0"/>
                <a:ea typeface="Aptos" pitchFamily="34" charset="-122"/>
                <a:cs typeface="Aptos" pitchFamily="34" charset="-120"/>
              </a:rPr>
              <a:t>Where does the process miss target?</a:t>
            </a:r>
            <a:endParaRPr lang="en-US" sz="1200" dirty="0"/>
          </a:p>
        </p:txBody>
      </p:sp>
      <p:sp>
        <p:nvSpPr>
          <p:cNvPr id="7" name="Text 5"/>
          <p:cNvSpPr/>
          <p:nvPr/>
        </p:nvSpPr>
        <p:spPr>
          <a:xfrm>
            <a:off x="822960" y="2404872"/>
            <a:ext cx="4663440" cy="347472"/>
          </a:xfrm>
          <a:prstGeom prst="rect">
            <a:avLst/>
          </a:prstGeom>
          <a:solidFill>
            <a:srgbClr val="F3F4F6"/>
          </a:solidFill>
          <a:ln>
            <a:solidFill>
              <a:srgbClr val="CBD5E1"/>
            </a:solidFill>
          </a:ln>
        </p:spPr>
        <p:txBody>
          <a:bodyPr wrap="square" lIns="762" tIns="762" rIns="762" bIns="762" rtlCol="0" anchor="ctr">
            <a:normAutofit/>
          </a:bodyPr>
          <a:lstStyle/>
          <a:p>
            <a:pPr marL="0" indent="0" algn="ctr">
              <a:buNone/>
            </a:pPr>
            <a:r>
              <a:rPr lang="en-US" sz="1200" dirty="0">
                <a:solidFill>
                  <a:srgbClr val="111827"/>
                </a:solidFill>
                <a:latin typeface="Aptos" pitchFamily="34" charset="0"/>
                <a:ea typeface="Aptos" pitchFamily="34" charset="-122"/>
                <a:cs typeface="Aptos" pitchFamily="34" charset="-120"/>
              </a:rPr>
              <a:t>When do machines wait?</a:t>
            </a:r>
            <a:endParaRPr lang="en-US" sz="1200" dirty="0"/>
          </a:p>
        </p:txBody>
      </p:sp>
      <p:sp>
        <p:nvSpPr>
          <p:cNvPr id="8" name="Text 6"/>
          <p:cNvSpPr/>
          <p:nvPr/>
        </p:nvSpPr>
        <p:spPr>
          <a:xfrm>
            <a:off x="822960" y="2862072"/>
            <a:ext cx="4663440" cy="347472"/>
          </a:xfrm>
          <a:prstGeom prst="rect">
            <a:avLst/>
          </a:prstGeom>
          <a:solidFill>
            <a:srgbClr val="F3F4F6"/>
          </a:solidFill>
          <a:ln>
            <a:solidFill>
              <a:srgbClr val="CBD5E1"/>
            </a:solidFill>
          </a:ln>
        </p:spPr>
        <p:txBody>
          <a:bodyPr wrap="square" lIns="762" tIns="762" rIns="762" bIns="762" rtlCol="0" anchor="ctr">
            <a:normAutofit/>
          </a:bodyPr>
          <a:lstStyle/>
          <a:p>
            <a:pPr marL="0" indent="0" algn="ctr">
              <a:buNone/>
            </a:pPr>
            <a:r>
              <a:rPr lang="en-US" sz="1200" dirty="0">
                <a:solidFill>
                  <a:srgbClr val="111827"/>
                </a:solidFill>
                <a:latin typeface="Aptos" pitchFamily="34" charset="0"/>
                <a:ea typeface="Aptos" pitchFamily="34" charset="-122"/>
                <a:cs typeface="Aptos" pitchFamily="34" charset="-120"/>
              </a:rPr>
              <a:t>How often does part mix change?</a:t>
            </a:r>
            <a:endParaRPr lang="en-US" sz="1200" dirty="0"/>
          </a:p>
        </p:txBody>
      </p:sp>
      <p:sp>
        <p:nvSpPr>
          <p:cNvPr id="9" name="Text 7"/>
          <p:cNvSpPr/>
          <p:nvPr/>
        </p:nvSpPr>
        <p:spPr>
          <a:xfrm>
            <a:off x="6263640" y="1417320"/>
            <a:ext cx="4937760" cy="320040"/>
          </a:xfrm>
          <a:prstGeom prst="rect">
            <a:avLst/>
          </a:prstGeom>
          <a:noFill/>
          <a:ln/>
        </p:spPr>
        <p:txBody>
          <a:bodyPr wrap="square" lIns="127" tIns="127" rIns="127" bIns="127" rtlCol="0" anchor="ctr"/>
          <a:lstStyle/>
          <a:p>
            <a:pPr marL="0" indent="0">
              <a:buNone/>
            </a:pPr>
            <a:r>
              <a:rPr lang="en-US" sz="1900" b="1" dirty="0">
                <a:solidFill>
                  <a:srgbClr val="111827"/>
                </a:solidFill>
                <a:latin typeface="Aptos Display" pitchFamily="34" charset="0"/>
                <a:ea typeface="Aptos Display" pitchFamily="34" charset="-122"/>
                <a:cs typeface="Aptos Display" pitchFamily="34" charset="-120"/>
              </a:rPr>
              <a:t>Technical</a:t>
            </a:r>
            <a:endParaRPr lang="en-US" sz="1900" dirty="0"/>
          </a:p>
        </p:txBody>
      </p:sp>
      <p:sp>
        <p:nvSpPr>
          <p:cNvPr id="10" name="Text 8"/>
          <p:cNvSpPr/>
          <p:nvPr/>
        </p:nvSpPr>
        <p:spPr>
          <a:xfrm>
            <a:off x="6309360" y="1947672"/>
            <a:ext cx="4663440" cy="347472"/>
          </a:xfrm>
          <a:prstGeom prst="rect">
            <a:avLst/>
          </a:prstGeom>
          <a:solidFill>
            <a:srgbClr val="F3F4F6"/>
          </a:solidFill>
          <a:ln>
            <a:solidFill>
              <a:srgbClr val="CBD5E1"/>
            </a:solidFill>
          </a:ln>
        </p:spPr>
        <p:txBody>
          <a:bodyPr wrap="square" lIns="762" tIns="762" rIns="762" bIns="762" rtlCol="0" anchor="ctr">
            <a:normAutofit/>
          </a:bodyPr>
          <a:lstStyle/>
          <a:p>
            <a:pPr marL="0" indent="0" algn="ctr">
              <a:buNone/>
            </a:pPr>
            <a:r>
              <a:rPr lang="en-US" sz="1200" dirty="0">
                <a:solidFill>
                  <a:srgbClr val="111827"/>
                </a:solidFill>
                <a:latin typeface="Aptos" pitchFamily="34" charset="0"/>
                <a:ea typeface="Aptos" pitchFamily="34" charset="-122"/>
                <a:cs typeface="Aptos" pitchFamily="34" charset="-120"/>
              </a:rPr>
              <a:t>What part variability exists?</a:t>
            </a:r>
            <a:endParaRPr lang="en-US" sz="1200" dirty="0"/>
          </a:p>
        </p:txBody>
      </p:sp>
      <p:sp>
        <p:nvSpPr>
          <p:cNvPr id="11" name="Text 9"/>
          <p:cNvSpPr/>
          <p:nvPr/>
        </p:nvSpPr>
        <p:spPr>
          <a:xfrm>
            <a:off x="6309360" y="2404872"/>
            <a:ext cx="4663440" cy="347472"/>
          </a:xfrm>
          <a:prstGeom prst="rect">
            <a:avLst/>
          </a:prstGeom>
          <a:solidFill>
            <a:srgbClr val="F3F4F6"/>
          </a:solidFill>
          <a:ln>
            <a:solidFill>
              <a:srgbClr val="CBD5E1"/>
            </a:solidFill>
          </a:ln>
        </p:spPr>
        <p:txBody>
          <a:bodyPr wrap="square" lIns="762" tIns="762" rIns="762" bIns="762" rtlCol="0" anchor="ctr">
            <a:normAutofit/>
          </a:bodyPr>
          <a:lstStyle/>
          <a:p>
            <a:pPr marL="0" indent="0" algn="ctr">
              <a:buNone/>
            </a:pPr>
            <a:r>
              <a:rPr lang="en-US" sz="1200" dirty="0">
                <a:solidFill>
                  <a:srgbClr val="111827"/>
                </a:solidFill>
                <a:latin typeface="Aptos" pitchFamily="34" charset="0"/>
                <a:ea typeface="Aptos" pitchFamily="34" charset="-122"/>
                <a:cs typeface="Aptos" pitchFamily="34" charset="-120"/>
              </a:rPr>
              <a:t>What total cell cycle time is required?</a:t>
            </a:r>
            <a:endParaRPr lang="en-US" sz="1200" dirty="0"/>
          </a:p>
        </p:txBody>
      </p:sp>
      <p:sp>
        <p:nvSpPr>
          <p:cNvPr id="12" name="Text 10"/>
          <p:cNvSpPr/>
          <p:nvPr/>
        </p:nvSpPr>
        <p:spPr>
          <a:xfrm>
            <a:off x="6309360" y="2862072"/>
            <a:ext cx="4663440" cy="347472"/>
          </a:xfrm>
          <a:prstGeom prst="rect">
            <a:avLst/>
          </a:prstGeom>
          <a:solidFill>
            <a:srgbClr val="F3F4F6"/>
          </a:solidFill>
          <a:ln>
            <a:solidFill>
              <a:srgbClr val="CBD5E1"/>
            </a:solidFill>
          </a:ln>
        </p:spPr>
        <p:txBody>
          <a:bodyPr wrap="square" lIns="762" tIns="762" rIns="762" bIns="762" rtlCol="0" anchor="ctr">
            <a:normAutofit/>
          </a:bodyPr>
          <a:lstStyle/>
          <a:p>
            <a:pPr marL="0" indent="0" algn="ctr">
              <a:buNone/>
            </a:pPr>
            <a:r>
              <a:rPr lang="en-US" sz="1200" dirty="0">
                <a:solidFill>
                  <a:srgbClr val="111827"/>
                </a:solidFill>
                <a:latin typeface="Aptos" pitchFamily="34" charset="0"/>
                <a:ea typeface="Aptos" pitchFamily="34" charset="-122"/>
                <a:cs typeface="Aptos" pitchFamily="34" charset="-120"/>
              </a:rPr>
              <a:t>What equipment must communicate?</a:t>
            </a:r>
            <a:endParaRPr lang="en-US" sz="1200" dirty="0"/>
          </a:p>
        </p:txBody>
      </p:sp>
      <p:sp>
        <p:nvSpPr>
          <p:cNvPr id="13" name="Text 11"/>
          <p:cNvSpPr/>
          <p:nvPr/>
        </p:nvSpPr>
        <p:spPr>
          <a:xfrm>
            <a:off x="777240" y="3767328"/>
            <a:ext cx="4937760" cy="320040"/>
          </a:xfrm>
          <a:prstGeom prst="rect">
            <a:avLst/>
          </a:prstGeom>
          <a:noFill/>
          <a:ln/>
        </p:spPr>
        <p:txBody>
          <a:bodyPr wrap="square" lIns="127" tIns="127" rIns="127" bIns="127" rtlCol="0" anchor="ctr"/>
          <a:lstStyle/>
          <a:p>
            <a:pPr marL="0" indent="0">
              <a:buNone/>
            </a:pPr>
            <a:r>
              <a:rPr lang="en-US" sz="1900" b="1" dirty="0">
                <a:solidFill>
                  <a:srgbClr val="111827"/>
                </a:solidFill>
                <a:latin typeface="Aptos Display" pitchFamily="34" charset="0"/>
                <a:ea typeface="Aptos Display" pitchFamily="34" charset="-122"/>
                <a:cs typeface="Aptos Display" pitchFamily="34" charset="-120"/>
              </a:rPr>
              <a:t>Business</a:t>
            </a:r>
            <a:endParaRPr lang="en-US" sz="1900" dirty="0"/>
          </a:p>
        </p:txBody>
      </p:sp>
      <p:sp>
        <p:nvSpPr>
          <p:cNvPr id="14" name="Text 12"/>
          <p:cNvSpPr/>
          <p:nvPr/>
        </p:nvSpPr>
        <p:spPr>
          <a:xfrm>
            <a:off x="822960" y="4297680"/>
            <a:ext cx="4663440" cy="347472"/>
          </a:xfrm>
          <a:prstGeom prst="rect">
            <a:avLst/>
          </a:prstGeom>
          <a:solidFill>
            <a:srgbClr val="F3F4F6"/>
          </a:solidFill>
          <a:ln>
            <a:solidFill>
              <a:srgbClr val="CBD5E1"/>
            </a:solidFill>
          </a:ln>
        </p:spPr>
        <p:txBody>
          <a:bodyPr wrap="square" lIns="762" tIns="762" rIns="762" bIns="762" rtlCol="0" anchor="ctr">
            <a:normAutofit/>
          </a:bodyPr>
          <a:lstStyle/>
          <a:p>
            <a:pPr marL="0" indent="0" algn="ctr">
              <a:buNone/>
            </a:pPr>
            <a:r>
              <a:rPr lang="en-US" sz="1200" dirty="0">
                <a:solidFill>
                  <a:srgbClr val="111827"/>
                </a:solidFill>
                <a:latin typeface="Aptos" pitchFamily="34" charset="0"/>
                <a:ea typeface="Aptos" pitchFamily="34" charset="-122"/>
                <a:cs typeface="Aptos" pitchFamily="34" charset="-120"/>
              </a:rPr>
              <a:t>What payback period is required?</a:t>
            </a:r>
            <a:endParaRPr lang="en-US" sz="1200" dirty="0"/>
          </a:p>
        </p:txBody>
      </p:sp>
      <p:sp>
        <p:nvSpPr>
          <p:cNvPr id="15" name="Text 13"/>
          <p:cNvSpPr/>
          <p:nvPr/>
        </p:nvSpPr>
        <p:spPr>
          <a:xfrm>
            <a:off x="822960" y="4754880"/>
            <a:ext cx="4663440" cy="347472"/>
          </a:xfrm>
          <a:prstGeom prst="rect">
            <a:avLst/>
          </a:prstGeom>
          <a:solidFill>
            <a:srgbClr val="F3F4F6"/>
          </a:solidFill>
          <a:ln>
            <a:solidFill>
              <a:srgbClr val="CBD5E1"/>
            </a:solidFill>
          </a:ln>
        </p:spPr>
        <p:txBody>
          <a:bodyPr wrap="square" lIns="762" tIns="762" rIns="762" bIns="762" rtlCol="0" anchor="ctr">
            <a:normAutofit/>
          </a:bodyPr>
          <a:lstStyle/>
          <a:p>
            <a:pPr marL="0" indent="0" algn="ctr">
              <a:buNone/>
            </a:pPr>
            <a:r>
              <a:rPr lang="en-US" sz="1200" dirty="0">
                <a:solidFill>
                  <a:srgbClr val="111827"/>
                </a:solidFill>
                <a:latin typeface="Aptos" pitchFamily="34" charset="0"/>
                <a:ea typeface="Aptos" pitchFamily="34" charset="-122"/>
                <a:cs typeface="Aptos" pitchFamily="34" charset="-120"/>
              </a:rPr>
              <a:t>What costs are created by delay?</a:t>
            </a:r>
            <a:endParaRPr lang="en-US" sz="1200" dirty="0"/>
          </a:p>
        </p:txBody>
      </p:sp>
      <p:sp>
        <p:nvSpPr>
          <p:cNvPr id="16" name="Text 14"/>
          <p:cNvSpPr/>
          <p:nvPr/>
        </p:nvSpPr>
        <p:spPr>
          <a:xfrm>
            <a:off x="822960" y="5212080"/>
            <a:ext cx="4663440" cy="347472"/>
          </a:xfrm>
          <a:prstGeom prst="rect">
            <a:avLst/>
          </a:prstGeom>
          <a:solidFill>
            <a:srgbClr val="F3F4F6"/>
          </a:solidFill>
          <a:ln>
            <a:solidFill>
              <a:srgbClr val="CBD5E1"/>
            </a:solidFill>
          </a:ln>
        </p:spPr>
        <p:txBody>
          <a:bodyPr wrap="square" lIns="762" tIns="762" rIns="762" bIns="762" rtlCol="0" anchor="ctr">
            <a:normAutofit/>
          </a:bodyPr>
          <a:lstStyle/>
          <a:p>
            <a:pPr marL="0" indent="0" algn="ctr">
              <a:buNone/>
            </a:pPr>
            <a:r>
              <a:rPr lang="en-US" sz="1200" dirty="0">
                <a:solidFill>
                  <a:srgbClr val="111827"/>
                </a:solidFill>
                <a:latin typeface="Aptos" pitchFamily="34" charset="0"/>
                <a:ea typeface="Aptos" pitchFamily="34" charset="-122"/>
                <a:cs typeface="Aptos" pitchFamily="34" charset="-120"/>
              </a:rPr>
              <a:t>Is the goal capacity, safety, or labor?</a:t>
            </a:r>
            <a:endParaRPr lang="en-US" sz="1200" dirty="0"/>
          </a:p>
        </p:txBody>
      </p:sp>
      <p:sp>
        <p:nvSpPr>
          <p:cNvPr id="17" name="Text 15"/>
          <p:cNvSpPr/>
          <p:nvPr/>
        </p:nvSpPr>
        <p:spPr>
          <a:xfrm>
            <a:off x="6263640" y="3767328"/>
            <a:ext cx="4937760" cy="320040"/>
          </a:xfrm>
          <a:prstGeom prst="rect">
            <a:avLst/>
          </a:prstGeom>
          <a:noFill/>
          <a:ln/>
        </p:spPr>
        <p:txBody>
          <a:bodyPr wrap="square" lIns="127" tIns="127" rIns="127" bIns="127" rtlCol="0" anchor="ctr"/>
          <a:lstStyle/>
          <a:p>
            <a:pPr marL="0" indent="0">
              <a:buNone/>
            </a:pPr>
            <a:r>
              <a:rPr lang="en-US" sz="1900" b="1" dirty="0">
                <a:solidFill>
                  <a:srgbClr val="111827"/>
                </a:solidFill>
                <a:latin typeface="Aptos Display" pitchFamily="34" charset="0"/>
                <a:ea typeface="Aptos Display" pitchFamily="34" charset="-122"/>
                <a:cs typeface="Aptos Display" pitchFamily="34" charset="-120"/>
              </a:rPr>
              <a:t>Organizational / Risk</a:t>
            </a:r>
            <a:endParaRPr lang="en-US" sz="1900" dirty="0"/>
          </a:p>
        </p:txBody>
      </p:sp>
      <p:sp>
        <p:nvSpPr>
          <p:cNvPr id="18" name="Text 16"/>
          <p:cNvSpPr/>
          <p:nvPr/>
        </p:nvSpPr>
        <p:spPr>
          <a:xfrm>
            <a:off x="6309360" y="4297680"/>
            <a:ext cx="4663440" cy="347472"/>
          </a:xfrm>
          <a:prstGeom prst="rect">
            <a:avLst/>
          </a:prstGeom>
          <a:solidFill>
            <a:srgbClr val="F3F4F6"/>
          </a:solidFill>
          <a:ln>
            <a:solidFill>
              <a:srgbClr val="CBD5E1"/>
            </a:solidFill>
          </a:ln>
        </p:spPr>
        <p:txBody>
          <a:bodyPr wrap="square" lIns="762" tIns="762" rIns="762" bIns="762" rtlCol="0" anchor="ctr">
            <a:normAutofit/>
          </a:bodyPr>
          <a:lstStyle/>
          <a:p>
            <a:pPr marL="0" indent="0" algn="ctr">
              <a:buNone/>
            </a:pPr>
            <a:r>
              <a:rPr lang="en-US" sz="1200" dirty="0">
                <a:solidFill>
                  <a:srgbClr val="111827"/>
                </a:solidFill>
                <a:latin typeface="Aptos" pitchFamily="34" charset="0"/>
                <a:ea typeface="Aptos" pitchFamily="34" charset="-122"/>
                <a:cs typeface="Aptos" pitchFamily="34" charset="-120"/>
              </a:rPr>
              <a:t>Who operates and maintains it?</a:t>
            </a:r>
            <a:endParaRPr lang="en-US" sz="1200" dirty="0"/>
          </a:p>
        </p:txBody>
      </p:sp>
      <p:sp>
        <p:nvSpPr>
          <p:cNvPr id="19" name="Text 17"/>
          <p:cNvSpPr/>
          <p:nvPr/>
        </p:nvSpPr>
        <p:spPr>
          <a:xfrm>
            <a:off x="6309360" y="4754880"/>
            <a:ext cx="4663440" cy="347472"/>
          </a:xfrm>
          <a:prstGeom prst="rect">
            <a:avLst/>
          </a:prstGeom>
          <a:solidFill>
            <a:srgbClr val="F3F4F6"/>
          </a:solidFill>
          <a:ln>
            <a:solidFill>
              <a:srgbClr val="CBD5E1"/>
            </a:solidFill>
          </a:ln>
        </p:spPr>
        <p:txBody>
          <a:bodyPr wrap="square" lIns="762" tIns="762" rIns="762" bIns="762" rtlCol="0" anchor="ctr">
            <a:normAutofit/>
          </a:bodyPr>
          <a:lstStyle/>
          <a:p>
            <a:pPr marL="0" indent="0" algn="ctr">
              <a:buNone/>
            </a:pPr>
            <a:r>
              <a:rPr lang="en-US" sz="1200" dirty="0">
                <a:solidFill>
                  <a:srgbClr val="111827"/>
                </a:solidFill>
                <a:latin typeface="Aptos" pitchFamily="34" charset="0"/>
                <a:ea typeface="Aptos" pitchFamily="34" charset="-122"/>
                <a:cs typeface="Aptos" pitchFamily="34" charset="-120"/>
              </a:rPr>
              <a:t>What internal automation skill exists?</a:t>
            </a:r>
            <a:endParaRPr lang="en-US" sz="1200" dirty="0"/>
          </a:p>
        </p:txBody>
      </p:sp>
      <p:sp>
        <p:nvSpPr>
          <p:cNvPr id="20" name="Text 18"/>
          <p:cNvSpPr/>
          <p:nvPr/>
        </p:nvSpPr>
        <p:spPr>
          <a:xfrm>
            <a:off x="6309360" y="5212080"/>
            <a:ext cx="4663440" cy="347472"/>
          </a:xfrm>
          <a:prstGeom prst="rect">
            <a:avLst/>
          </a:prstGeom>
          <a:solidFill>
            <a:srgbClr val="F3F4F6"/>
          </a:solidFill>
          <a:ln>
            <a:solidFill>
              <a:srgbClr val="CBD5E1"/>
            </a:solidFill>
          </a:ln>
        </p:spPr>
        <p:txBody>
          <a:bodyPr wrap="square" lIns="762" tIns="762" rIns="762" bIns="762" rtlCol="0" anchor="ctr">
            <a:normAutofit/>
          </a:bodyPr>
          <a:lstStyle/>
          <a:p>
            <a:pPr marL="0" indent="0" algn="ctr">
              <a:buNone/>
            </a:pPr>
            <a:r>
              <a:rPr lang="en-US" sz="1200" dirty="0">
                <a:solidFill>
                  <a:srgbClr val="111827"/>
                </a:solidFill>
                <a:latin typeface="Aptos" pitchFamily="34" charset="0"/>
                <a:ea typeface="Aptos" pitchFamily="34" charset="-122"/>
                <a:cs typeface="Aptos" pitchFamily="34" charset="-120"/>
              </a:rPr>
              <a:t>How will safety be validated?</a:t>
            </a:r>
            <a:endParaRPr lang="en-US" sz="1200" dirty="0"/>
          </a:p>
        </p:txBody>
      </p:sp>
      <p:sp>
        <p:nvSpPr>
          <p:cNvPr id="21" name="Shape 19"/>
          <p:cNvSpPr/>
          <p:nvPr/>
        </p:nvSpPr>
        <p:spPr>
          <a:xfrm>
            <a:off x="502920" y="6473952"/>
            <a:ext cx="11155680" cy="0"/>
          </a:xfrm>
          <a:prstGeom prst="line">
            <a:avLst/>
          </a:prstGeom>
          <a:noFill/>
          <a:ln w="9525">
            <a:solidFill>
              <a:srgbClr val="334155">
                <a:alpha val="30000"/>
              </a:srgbClr>
            </a:solidFill>
            <a:prstDash val="solid"/>
          </a:ln>
        </p:spPr>
        <p:txBody>
          <a:bodyPr/>
          <a:lstStyle/>
          <a:p>
            <a:endParaRPr lang="en-US"/>
          </a:p>
        </p:txBody>
      </p:sp>
      <p:sp>
        <p:nvSpPr>
          <p:cNvPr id="22" name="Text 20"/>
          <p:cNvSpPr/>
          <p:nvPr/>
        </p:nvSpPr>
        <p:spPr>
          <a:xfrm>
            <a:off x="502920" y="6565392"/>
            <a:ext cx="5029200" cy="146304"/>
          </a:xfrm>
          <a:prstGeom prst="rect">
            <a:avLst/>
          </a:prstGeom>
          <a:noFill/>
          <a:ln/>
        </p:spPr>
        <p:txBody>
          <a:bodyPr wrap="square" rtlCol="0" anchor="ctr"/>
          <a:lstStyle/>
          <a:p>
            <a:pPr marL="0" indent="0">
              <a:buNone/>
            </a:pPr>
            <a:r>
              <a:rPr lang="en-US" sz="750" dirty="0">
                <a:solidFill>
                  <a:srgbClr val="334155"/>
                </a:solidFill>
                <a:latin typeface="Aptos" pitchFamily="34" charset="0"/>
                <a:ea typeface="Aptos" pitchFamily="34" charset="-122"/>
                <a:cs typeface="Aptos" pitchFamily="34" charset="-120"/>
              </a:rPr>
              <a:t>Beyond the Robot</a:t>
            </a:r>
            <a:endParaRPr lang="en-US" sz="750" dirty="0"/>
          </a:p>
        </p:txBody>
      </p:sp>
      <p:sp>
        <p:nvSpPr>
          <p:cNvPr id="23" name="Text 21"/>
          <p:cNvSpPr/>
          <p:nvPr/>
        </p:nvSpPr>
        <p:spPr>
          <a:xfrm>
            <a:off x="11018520" y="6565392"/>
            <a:ext cx="640080" cy="146304"/>
          </a:xfrm>
          <a:prstGeom prst="rect">
            <a:avLst/>
          </a:prstGeom>
          <a:noFill/>
          <a:ln/>
        </p:spPr>
        <p:txBody>
          <a:bodyPr wrap="square" rtlCol="0" anchor="ctr"/>
          <a:lstStyle/>
          <a:p>
            <a:pPr marL="0" indent="0" algn="r">
              <a:buNone/>
            </a:pPr>
            <a:r>
              <a:rPr lang="en-US" sz="750" dirty="0">
                <a:solidFill>
                  <a:srgbClr val="334155"/>
                </a:solidFill>
                <a:latin typeface="Aptos" pitchFamily="34" charset="0"/>
                <a:ea typeface="Aptos" pitchFamily="34" charset="-122"/>
                <a:cs typeface="Aptos" pitchFamily="34" charset="-120"/>
              </a:rPr>
              <a:t>10</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566928" y="329184"/>
            <a:ext cx="8046720" cy="402336"/>
          </a:xfrm>
          <a:prstGeom prst="rect">
            <a:avLst/>
          </a:prstGeom>
          <a:noFill/>
          <a:ln/>
        </p:spPr>
        <p:txBody>
          <a:bodyPr wrap="square" lIns="254" tIns="254" rIns="254" bIns="254" rtlCol="0" anchor="ctr">
            <a:normAutofit/>
          </a:bodyPr>
          <a:lstStyle/>
          <a:p>
            <a:pPr marL="0" indent="0">
              <a:buNone/>
            </a:pPr>
            <a:r>
              <a:rPr lang="en-US" sz="2700" b="1" dirty="0">
                <a:solidFill>
                  <a:srgbClr val="FFFFFF"/>
                </a:solidFill>
                <a:latin typeface="Aptos Display" pitchFamily="34" charset="0"/>
                <a:ea typeface="Aptos Display" pitchFamily="34" charset="-122"/>
                <a:cs typeface="Aptos Display" pitchFamily="34" charset="-120"/>
              </a:rPr>
              <a:t>Practice: sequence the discovery</a:t>
            </a:r>
            <a:endParaRPr lang="en-US" sz="2700" dirty="0"/>
          </a:p>
        </p:txBody>
      </p:sp>
      <p:sp>
        <p:nvSpPr>
          <p:cNvPr id="3" name="Text 1"/>
          <p:cNvSpPr/>
          <p:nvPr/>
        </p:nvSpPr>
        <p:spPr>
          <a:xfrm>
            <a:off x="585216" y="804672"/>
            <a:ext cx="8046720" cy="219456"/>
          </a:xfrm>
          <a:prstGeom prst="rect">
            <a:avLst/>
          </a:prstGeom>
          <a:noFill/>
          <a:ln/>
        </p:spPr>
        <p:txBody>
          <a:bodyPr wrap="square" lIns="127" tIns="127" rIns="127" bIns="127" rtlCol="0" anchor="ctr"/>
          <a:lstStyle/>
          <a:p>
            <a:pPr marL="0" indent="0">
              <a:buNone/>
            </a:pPr>
            <a:r>
              <a:rPr lang="en-US" sz="1150" dirty="0">
                <a:solidFill>
                  <a:srgbClr val="CBD5E1"/>
                </a:solidFill>
                <a:latin typeface="Aptos" pitchFamily="34" charset="0"/>
                <a:ea typeface="Aptos" pitchFamily="34" charset="-122"/>
                <a:cs typeface="Aptos" pitchFamily="34" charset="-120"/>
              </a:rPr>
              <a:t>Arrange questions so the conversation moves from broad business issue to specific validation need.</a:t>
            </a:r>
            <a:endParaRPr lang="en-US" sz="1150" dirty="0"/>
          </a:p>
        </p:txBody>
      </p:sp>
      <p:sp>
        <p:nvSpPr>
          <p:cNvPr id="4" name="Shape 2"/>
          <p:cNvSpPr/>
          <p:nvPr/>
        </p:nvSpPr>
        <p:spPr>
          <a:xfrm>
            <a:off x="566928" y="1078992"/>
            <a:ext cx="640080" cy="54864"/>
          </a:xfrm>
          <a:prstGeom prst="rect">
            <a:avLst/>
          </a:prstGeom>
          <a:solidFill>
            <a:srgbClr val="F97316"/>
          </a:solidFill>
          <a:ln w="12700">
            <a:solidFill>
              <a:srgbClr val="F97316"/>
            </a:solidFill>
            <a:prstDash val="solid"/>
          </a:ln>
        </p:spPr>
        <p:txBody>
          <a:bodyPr/>
          <a:lstStyle/>
          <a:p>
            <a:endParaRPr lang="en-US"/>
          </a:p>
        </p:txBody>
      </p:sp>
      <p:sp>
        <p:nvSpPr>
          <p:cNvPr id="5" name="Text 3"/>
          <p:cNvSpPr/>
          <p:nvPr/>
        </p:nvSpPr>
        <p:spPr>
          <a:xfrm>
            <a:off x="960120" y="2050924"/>
            <a:ext cx="4754880" cy="420624"/>
          </a:xfrm>
          <a:prstGeom prst="rect">
            <a:avLst/>
          </a:prstGeom>
          <a:solidFill>
            <a:srgbClr val="162034"/>
          </a:solidFill>
          <a:ln>
            <a:solidFill>
              <a:srgbClr val="475569"/>
            </a:solidFill>
          </a:ln>
        </p:spPr>
        <p:txBody>
          <a:bodyPr wrap="square" lIns="889" tIns="889" rIns="889" bIns="889" rtlCol="0" anchor="ctr">
            <a:normAutofit/>
          </a:bodyPr>
          <a:lstStyle/>
          <a:p>
            <a:pPr marL="0" indent="0" algn="ctr">
              <a:buNone/>
            </a:pPr>
            <a:r>
              <a:rPr lang="en-US" sz="1350" dirty="0">
                <a:solidFill>
                  <a:srgbClr val="FFFFFF"/>
                </a:solidFill>
                <a:latin typeface="Aptos" pitchFamily="34" charset="0"/>
                <a:ea typeface="Aptos" pitchFamily="34" charset="-122"/>
                <a:cs typeface="Aptos" pitchFamily="34" charset="-120"/>
              </a:rPr>
              <a:t>What prevents the area from hitting target output?</a:t>
            </a:r>
            <a:endParaRPr lang="en-US" sz="1350" dirty="0"/>
          </a:p>
        </p:txBody>
      </p:sp>
      <p:sp>
        <p:nvSpPr>
          <p:cNvPr id="6" name="Text 4"/>
          <p:cNvSpPr/>
          <p:nvPr/>
        </p:nvSpPr>
        <p:spPr>
          <a:xfrm>
            <a:off x="960120" y="2764156"/>
            <a:ext cx="4754880" cy="420624"/>
          </a:xfrm>
          <a:prstGeom prst="rect">
            <a:avLst/>
          </a:prstGeom>
          <a:solidFill>
            <a:srgbClr val="162034"/>
          </a:solidFill>
          <a:ln>
            <a:solidFill>
              <a:srgbClr val="475569"/>
            </a:solidFill>
          </a:ln>
        </p:spPr>
        <p:txBody>
          <a:bodyPr wrap="square" lIns="889" tIns="889" rIns="889" bIns="889" rtlCol="0" anchor="ctr">
            <a:normAutofit/>
          </a:bodyPr>
          <a:lstStyle/>
          <a:p>
            <a:pPr marL="0" indent="0" algn="ctr">
              <a:buNone/>
            </a:pPr>
            <a:r>
              <a:rPr lang="en-US" sz="1350" dirty="0">
                <a:solidFill>
                  <a:srgbClr val="FFFFFF"/>
                </a:solidFill>
                <a:latin typeface="Aptos" pitchFamily="34" charset="0"/>
                <a:ea typeface="Aptos" pitchFamily="34" charset="-122"/>
                <a:cs typeface="Aptos" pitchFamily="34" charset="-120"/>
              </a:rPr>
              <a:t>When do the machines wait for operators?</a:t>
            </a:r>
            <a:endParaRPr lang="en-US" sz="1350" dirty="0"/>
          </a:p>
        </p:txBody>
      </p:sp>
      <p:sp>
        <p:nvSpPr>
          <p:cNvPr id="7" name="Text 5"/>
          <p:cNvSpPr/>
          <p:nvPr/>
        </p:nvSpPr>
        <p:spPr>
          <a:xfrm>
            <a:off x="960120" y="3477388"/>
            <a:ext cx="4754880" cy="420624"/>
          </a:xfrm>
          <a:prstGeom prst="rect">
            <a:avLst/>
          </a:prstGeom>
          <a:solidFill>
            <a:srgbClr val="162034"/>
          </a:solidFill>
          <a:ln>
            <a:solidFill>
              <a:srgbClr val="475569"/>
            </a:solidFill>
          </a:ln>
        </p:spPr>
        <p:txBody>
          <a:bodyPr wrap="square" lIns="889" tIns="889" rIns="889" bIns="889" rtlCol="0" anchor="ctr">
            <a:normAutofit/>
          </a:bodyPr>
          <a:lstStyle/>
          <a:p>
            <a:pPr marL="0" indent="0" algn="ctr">
              <a:buNone/>
            </a:pPr>
            <a:r>
              <a:rPr lang="en-US" sz="1350" dirty="0">
                <a:solidFill>
                  <a:srgbClr val="FFFFFF"/>
                </a:solidFill>
                <a:latin typeface="Aptos" pitchFamily="34" charset="0"/>
                <a:ea typeface="Aptos" pitchFamily="34" charset="-122"/>
                <a:cs typeface="Aptos" pitchFamily="34" charset="-120"/>
              </a:rPr>
              <a:t>How often do part families change?</a:t>
            </a:r>
            <a:endParaRPr lang="en-US" sz="1350" dirty="0"/>
          </a:p>
        </p:txBody>
      </p:sp>
      <p:sp>
        <p:nvSpPr>
          <p:cNvPr id="8" name="Text 6"/>
          <p:cNvSpPr/>
          <p:nvPr/>
        </p:nvSpPr>
        <p:spPr>
          <a:xfrm>
            <a:off x="960120" y="4190620"/>
            <a:ext cx="4754880" cy="420624"/>
          </a:xfrm>
          <a:prstGeom prst="rect">
            <a:avLst/>
          </a:prstGeom>
          <a:solidFill>
            <a:srgbClr val="162034"/>
          </a:solidFill>
          <a:ln>
            <a:solidFill>
              <a:srgbClr val="475569"/>
            </a:solidFill>
          </a:ln>
        </p:spPr>
        <p:txBody>
          <a:bodyPr wrap="square" lIns="889" tIns="889" rIns="889" bIns="889" rtlCol="0" anchor="ctr">
            <a:normAutofit/>
          </a:bodyPr>
          <a:lstStyle/>
          <a:p>
            <a:pPr marL="0" indent="0" algn="ctr">
              <a:buNone/>
            </a:pPr>
            <a:r>
              <a:rPr lang="en-US" sz="1350" dirty="0">
                <a:solidFill>
                  <a:srgbClr val="FFFFFF"/>
                </a:solidFill>
                <a:latin typeface="Aptos" pitchFamily="34" charset="0"/>
                <a:ea typeface="Aptos" pitchFamily="34" charset="-122"/>
                <a:cs typeface="Aptos" pitchFamily="34" charset="-120"/>
              </a:rPr>
              <a:t>What payback period will finance require?</a:t>
            </a:r>
            <a:endParaRPr lang="en-US" sz="1350" dirty="0"/>
          </a:p>
        </p:txBody>
      </p:sp>
      <p:sp>
        <p:nvSpPr>
          <p:cNvPr id="9" name="Text 7"/>
          <p:cNvSpPr/>
          <p:nvPr/>
        </p:nvSpPr>
        <p:spPr>
          <a:xfrm>
            <a:off x="960120" y="4903852"/>
            <a:ext cx="4754880" cy="420624"/>
          </a:xfrm>
          <a:prstGeom prst="rect">
            <a:avLst/>
          </a:prstGeom>
          <a:solidFill>
            <a:srgbClr val="162034"/>
          </a:solidFill>
          <a:ln>
            <a:solidFill>
              <a:srgbClr val="475569"/>
            </a:solidFill>
          </a:ln>
        </p:spPr>
        <p:txBody>
          <a:bodyPr wrap="square" lIns="889" tIns="889" rIns="889" bIns="889" rtlCol="0" anchor="ctr">
            <a:normAutofit/>
          </a:bodyPr>
          <a:lstStyle/>
          <a:p>
            <a:pPr marL="0" indent="0" algn="ctr">
              <a:buNone/>
            </a:pPr>
            <a:r>
              <a:rPr lang="en-US" sz="1350" dirty="0">
                <a:solidFill>
                  <a:srgbClr val="FFFFFF"/>
                </a:solidFill>
                <a:latin typeface="Aptos" pitchFamily="34" charset="0"/>
                <a:ea typeface="Aptos" pitchFamily="34" charset="-122"/>
                <a:cs typeface="Aptos" pitchFamily="34" charset="-120"/>
              </a:rPr>
              <a:t>Who will support the system after launch?</a:t>
            </a:r>
            <a:endParaRPr lang="en-US" sz="1350" dirty="0"/>
          </a:p>
        </p:txBody>
      </p:sp>
      <p:sp>
        <p:nvSpPr>
          <p:cNvPr id="10" name="Shape 8"/>
          <p:cNvSpPr/>
          <p:nvPr/>
        </p:nvSpPr>
        <p:spPr>
          <a:xfrm>
            <a:off x="6172200" y="1959484"/>
            <a:ext cx="0" cy="3931920"/>
          </a:xfrm>
          <a:prstGeom prst="line">
            <a:avLst/>
          </a:prstGeom>
          <a:noFill/>
          <a:ln w="12700">
            <a:solidFill>
              <a:srgbClr val="64748B"/>
            </a:solidFill>
            <a:prstDash val="solid"/>
          </a:ln>
        </p:spPr>
        <p:txBody>
          <a:bodyPr/>
          <a:lstStyle/>
          <a:p>
            <a:pPr algn="ctr"/>
            <a:endParaRPr lang="en-US"/>
          </a:p>
        </p:txBody>
      </p:sp>
      <p:sp>
        <p:nvSpPr>
          <p:cNvPr id="11" name="Text 9"/>
          <p:cNvSpPr/>
          <p:nvPr/>
        </p:nvSpPr>
        <p:spPr>
          <a:xfrm>
            <a:off x="6537960" y="2050924"/>
            <a:ext cx="4389120" cy="274320"/>
          </a:xfrm>
          <a:prstGeom prst="rect">
            <a:avLst/>
          </a:prstGeom>
          <a:noFill/>
          <a:ln/>
        </p:spPr>
        <p:txBody>
          <a:bodyPr wrap="square" lIns="127" tIns="127" rIns="127" bIns="127" rtlCol="0" anchor="ctr"/>
          <a:lstStyle/>
          <a:p>
            <a:pPr marL="0" indent="0">
              <a:buNone/>
            </a:pPr>
            <a:r>
              <a:rPr lang="en-US" sz="2200" b="1" dirty="0">
                <a:solidFill>
                  <a:srgbClr val="FFFFFF"/>
                </a:solidFill>
                <a:latin typeface="Aptos Display" pitchFamily="34" charset="0"/>
                <a:ea typeface="Aptos Display" pitchFamily="34" charset="-122"/>
                <a:cs typeface="Aptos Display" pitchFamily="34" charset="-120"/>
              </a:rPr>
              <a:t>Recommended logic</a:t>
            </a:r>
            <a:endParaRPr lang="en-US" sz="2200" dirty="0"/>
          </a:p>
        </p:txBody>
      </p:sp>
      <p:sp>
        <p:nvSpPr>
          <p:cNvPr id="12" name="Text 10"/>
          <p:cNvSpPr/>
          <p:nvPr/>
        </p:nvSpPr>
        <p:spPr>
          <a:xfrm>
            <a:off x="6629400" y="2599564"/>
            <a:ext cx="292608" cy="292608"/>
          </a:xfrm>
          <a:prstGeom prst="rect">
            <a:avLst/>
          </a:prstGeom>
          <a:solidFill>
            <a:srgbClr val="FFFFFF"/>
          </a:solidFill>
          <a:ln>
            <a:solidFill>
              <a:srgbClr val="FFFFFF"/>
            </a:solidFill>
          </a:ln>
        </p:spPr>
        <p:txBody>
          <a:bodyPr wrap="square" lIns="127" tIns="127" rIns="127" bIns="127" rtlCol="0" anchor="ctr"/>
          <a:lstStyle/>
          <a:p>
            <a:pPr marL="0" indent="0" algn="ctr">
              <a:buNone/>
            </a:pPr>
            <a:r>
              <a:rPr lang="en-US" sz="1050" b="1" dirty="0">
                <a:solidFill>
                  <a:srgbClr val="0F172A"/>
                </a:solidFill>
                <a:latin typeface="Aptos" pitchFamily="34" charset="0"/>
                <a:ea typeface="Aptos" pitchFamily="34" charset="-122"/>
                <a:cs typeface="Aptos" pitchFamily="34" charset="-120"/>
              </a:rPr>
              <a:t>1</a:t>
            </a:r>
            <a:endParaRPr lang="en-US" sz="1050" dirty="0"/>
          </a:p>
        </p:txBody>
      </p:sp>
      <p:sp>
        <p:nvSpPr>
          <p:cNvPr id="13" name="Text 11"/>
          <p:cNvSpPr/>
          <p:nvPr/>
        </p:nvSpPr>
        <p:spPr>
          <a:xfrm>
            <a:off x="7059168" y="2626996"/>
            <a:ext cx="3657600" cy="201168"/>
          </a:xfrm>
          <a:prstGeom prst="rect">
            <a:avLst/>
          </a:prstGeom>
          <a:noFill/>
          <a:ln/>
        </p:spPr>
        <p:txBody>
          <a:bodyPr wrap="square" lIns="127" tIns="127" rIns="127" bIns="127" rtlCol="0" anchor="ctr"/>
          <a:lstStyle/>
          <a:p>
            <a:pPr marL="0" indent="0">
              <a:buNone/>
            </a:pPr>
            <a:r>
              <a:rPr lang="en-US" sz="1300" dirty="0">
                <a:solidFill>
                  <a:srgbClr val="CBD5E1"/>
                </a:solidFill>
                <a:latin typeface="Aptos" pitchFamily="34" charset="0"/>
                <a:ea typeface="Aptos" pitchFamily="34" charset="-122"/>
                <a:cs typeface="Aptos" pitchFamily="34" charset="-120"/>
              </a:rPr>
              <a:t>Start with constraint</a:t>
            </a:r>
            <a:endParaRPr lang="en-US" sz="1300" dirty="0"/>
          </a:p>
        </p:txBody>
      </p:sp>
      <p:sp>
        <p:nvSpPr>
          <p:cNvPr id="14" name="Text 12"/>
          <p:cNvSpPr/>
          <p:nvPr/>
        </p:nvSpPr>
        <p:spPr>
          <a:xfrm>
            <a:off x="6629400" y="3093340"/>
            <a:ext cx="292608" cy="292608"/>
          </a:xfrm>
          <a:prstGeom prst="rect">
            <a:avLst/>
          </a:prstGeom>
          <a:solidFill>
            <a:srgbClr val="FFFFFF"/>
          </a:solidFill>
          <a:ln>
            <a:solidFill>
              <a:srgbClr val="FFFFFF"/>
            </a:solidFill>
          </a:ln>
        </p:spPr>
        <p:txBody>
          <a:bodyPr wrap="square" lIns="127" tIns="127" rIns="127" bIns="127" rtlCol="0" anchor="ctr"/>
          <a:lstStyle/>
          <a:p>
            <a:pPr marL="0" indent="0" algn="ctr">
              <a:buNone/>
            </a:pPr>
            <a:r>
              <a:rPr lang="en-US" sz="1050" b="1" dirty="0">
                <a:solidFill>
                  <a:srgbClr val="0F172A"/>
                </a:solidFill>
                <a:latin typeface="Aptos" pitchFamily="34" charset="0"/>
                <a:ea typeface="Aptos" pitchFamily="34" charset="-122"/>
                <a:cs typeface="Aptos" pitchFamily="34" charset="-120"/>
              </a:rPr>
              <a:t>2</a:t>
            </a:r>
            <a:endParaRPr lang="en-US" sz="1050" dirty="0"/>
          </a:p>
        </p:txBody>
      </p:sp>
      <p:sp>
        <p:nvSpPr>
          <p:cNvPr id="15" name="Text 13"/>
          <p:cNvSpPr/>
          <p:nvPr/>
        </p:nvSpPr>
        <p:spPr>
          <a:xfrm>
            <a:off x="7059168" y="3120772"/>
            <a:ext cx="3657600" cy="201168"/>
          </a:xfrm>
          <a:prstGeom prst="rect">
            <a:avLst/>
          </a:prstGeom>
          <a:noFill/>
          <a:ln/>
        </p:spPr>
        <p:txBody>
          <a:bodyPr wrap="square" lIns="127" tIns="127" rIns="127" bIns="127" rtlCol="0" anchor="ctr"/>
          <a:lstStyle/>
          <a:p>
            <a:pPr marL="0" indent="0">
              <a:buNone/>
            </a:pPr>
            <a:r>
              <a:rPr lang="en-US" sz="1300" dirty="0">
                <a:solidFill>
                  <a:srgbClr val="CBD5E1"/>
                </a:solidFill>
                <a:latin typeface="Aptos" pitchFamily="34" charset="0"/>
                <a:ea typeface="Aptos" pitchFamily="34" charset="-122"/>
                <a:cs typeface="Aptos" pitchFamily="34" charset="-120"/>
              </a:rPr>
              <a:t>Find timing and causes</a:t>
            </a:r>
            <a:endParaRPr lang="en-US" sz="1300" dirty="0"/>
          </a:p>
        </p:txBody>
      </p:sp>
      <p:sp>
        <p:nvSpPr>
          <p:cNvPr id="16" name="Text 14"/>
          <p:cNvSpPr/>
          <p:nvPr/>
        </p:nvSpPr>
        <p:spPr>
          <a:xfrm>
            <a:off x="6629400" y="3587116"/>
            <a:ext cx="292608" cy="292608"/>
          </a:xfrm>
          <a:prstGeom prst="rect">
            <a:avLst/>
          </a:prstGeom>
          <a:solidFill>
            <a:srgbClr val="FFFFFF"/>
          </a:solidFill>
          <a:ln>
            <a:solidFill>
              <a:srgbClr val="FFFFFF"/>
            </a:solidFill>
          </a:ln>
        </p:spPr>
        <p:txBody>
          <a:bodyPr wrap="square" lIns="127" tIns="127" rIns="127" bIns="127" rtlCol="0" anchor="ctr"/>
          <a:lstStyle/>
          <a:p>
            <a:pPr marL="0" indent="0" algn="ctr">
              <a:buNone/>
            </a:pPr>
            <a:r>
              <a:rPr lang="en-US" sz="1050" b="1" dirty="0">
                <a:solidFill>
                  <a:srgbClr val="0F172A"/>
                </a:solidFill>
                <a:latin typeface="Aptos" pitchFamily="34" charset="0"/>
                <a:ea typeface="Aptos" pitchFamily="34" charset="-122"/>
                <a:cs typeface="Aptos" pitchFamily="34" charset="-120"/>
              </a:rPr>
              <a:t>3</a:t>
            </a:r>
            <a:endParaRPr lang="en-US" sz="1050" dirty="0"/>
          </a:p>
        </p:txBody>
      </p:sp>
      <p:sp>
        <p:nvSpPr>
          <p:cNvPr id="17" name="Text 15"/>
          <p:cNvSpPr/>
          <p:nvPr/>
        </p:nvSpPr>
        <p:spPr>
          <a:xfrm>
            <a:off x="7059168" y="3614548"/>
            <a:ext cx="3657600" cy="201168"/>
          </a:xfrm>
          <a:prstGeom prst="rect">
            <a:avLst/>
          </a:prstGeom>
          <a:noFill/>
          <a:ln/>
        </p:spPr>
        <p:txBody>
          <a:bodyPr wrap="square" lIns="127" tIns="127" rIns="127" bIns="127" rtlCol="0" anchor="ctr"/>
          <a:lstStyle/>
          <a:p>
            <a:pPr marL="0" indent="0">
              <a:buNone/>
            </a:pPr>
            <a:r>
              <a:rPr lang="en-US" sz="1300" dirty="0">
                <a:solidFill>
                  <a:srgbClr val="CBD5E1"/>
                </a:solidFill>
                <a:latin typeface="Aptos" pitchFamily="34" charset="0"/>
                <a:ea typeface="Aptos" pitchFamily="34" charset="-122"/>
                <a:cs typeface="Aptos" pitchFamily="34" charset="-120"/>
              </a:rPr>
              <a:t>Test variability</a:t>
            </a:r>
            <a:endParaRPr lang="en-US" sz="1300" dirty="0"/>
          </a:p>
        </p:txBody>
      </p:sp>
      <p:sp>
        <p:nvSpPr>
          <p:cNvPr id="18" name="Text 16"/>
          <p:cNvSpPr/>
          <p:nvPr/>
        </p:nvSpPr>
        <p:spPr>
          <a:xfrm>
            <a:off x="6629400" y="4080892"/>
            <a:ext cx="292608" cy="292608"/>
          </a:xfrm>
          <a:prstGeom prst="rect">
            <a:avLst/>
          </a:prstGeom>
          <a:solidFill>
            <a:srgbClr val="FFFFFF"/>
          </a:solidFill>
          <a:ln>
            <a:solidFill>
              <a:srgbClr val="FFFFFF"/>
            </a:solidFill>
          </a:ln>
        </p:spPr>
        <p:txBody>
          <a:bodyPr wrap="square" lIns="127" tIns="127" rIns="127" bIns="127" rtlCol="0" anchor="ctr"/>
          <a:lstStyle/>
          <a:p>
            <a:pPr marL="0" indent="0" algn="ctr">
              <a:buNone/>
            </a:pPr>
            <a:r>
              <a:rPr lang="en-US" sz="1050" b="1" dirty="0">
                <a:solidFill>
                  <a:srgbClr val="0F172A"/>
                </a:solidFill>
                <a:latin typeface="Aptos" pitchFamily="34" charset="0"/>
                <a:ea typeface="Aptos" pitchFamily="34" charset="-122"/>
                <a:cs typeface="Aptos" pitchFamily="34" charset="-120"/>
              </a:rPr>
              <a:t>4</a:t>
            </a:r>
            <a:endParaRPr lang="en-US" sz="1050" dirty="0"/>
          </a:p>
        </p:txBody>
      </p:sp>
      <p:sp>
        <p:nvSpPr>
          <p:cNvPr id="19" name="Text 17"/>
          <p:cNvSpPr/>
          <p:nvPr/>
        </p:nvSpPr>
        <p:spPr>
          <a:xfrm>
            <a:off x="7059168" y="4108324"/>
            <a:ext cx="3657600" cy="201168"/>
          </a:xfrm>
          <a:prstGeom prst="rect">
            <a:avLst/>
          </a:prstGeom>
          <a:noFill/>
          <a:ln/>
        </p:spPr>
        <p:txBody>
          <a:bodyPr wrap="square" lIns="127" tIns="127" rIns="127" bIns="127" rtlCol="0" anchor="ctr"/>
          <a:lstStyle/>
          <a:p>
            <a:pPr marL="0" indent="0">
              <a:buNone/>
            </a:pPr>
            <a:r>
              <a:rPr lang="en-US" sz="1300" dirty="0">
                <a:solidFill>
                  <a:srgbClr val="CBD5E1"/>
                </a:solidFill>
                <a:latin typeface="Aptos" pitchFamily="34" charset="0"/>
                <a:ea typeface="Aptos" pitchFamily="34" charset="-122"/>
                <a:cs typeface="Aptos" pitchFamily="34" charset="-120"/>
              </a:rPr>
              <a:t>Surface decision economics</a:t>
            </a:r>
            <a:endParaRPr lang="en-US" sz="1300" dirty="0"/>
          </a:p>
        </p:txBody>
      </p:sp>
      <p:sp>
        <p:nvSpPr>
          <p:cNvPr id="20" name="Text 18"/>
          <p:cNvSpPr/>
          <p:nvPr/>
        </p:nvSpPr>
        <p:spPr>
          <a:xfrm>
            <a:off x="6629400" y="4574668"/>
            <a:ext cx="292608" cy="292608"/>
          </a:xfrm>
          <a:prstGeom prst="rect">
            <a:avLst/>
          </a:prstGeom>
          <a:solidFill>
            <a:srgbClr val="FFFFFF"/>
          </a:solidFill>
          <a:ln>
            <a:solidFill>
              <a:srgbClr val="FFFFFF"/>
            </a:solidFill>
          </a:ln>
        </p:spPr>
        <p:txBody>
          <a:bodyPr wrap="square" lIns="127" tIns="127" rIns="127" bIns="127" rtlCol="0" anchor="ctr"/>
          <a:lstStyle/>
          <a:p>
            <a:pPr marL="0" indent="0" algn="ctr">
              <a:buNone/>
            </a:pPr>
            <a:r>
              <a:rPr lang="en-US" sz="1050" b="1" dirty="0">
                <a:solidFill>
                  <a:srgbClr val="0F172A"/>
                </a:solidFill>
                <a:latin typeface="Aptos" pitchFamily="34" charset="0"/>
                <a:ea typeface="Aptos" pitchFamily="34" charset="-122"/>
                <a:cs typeface="Aptos" pitchFamily="34" charset="-120"/>
              </a:rPr>
              <a:t>5</a:t>
            </a:r>
            <a:endParaRPr lang="en-US" sz="1050" dirty="0"/>
          </a:p>
        </p:txBody>
      </p:sp>
      <p:sp>
        <p:nvSpPr>
          <p:cNvPr id="21" name="Text 19"/>
          <p:cNvSpPr/>
          <p:nvPr/>
        </p:nvSpPr>
        <p:spPr>
          <a:xfrm>
            <a:off x="7059168" y="4602100"/>
            <a:ext cx="3657600" cy="201168"/>
          </a:xfrm>
          <a:prstGeom prst="rect">
            <a:avLst/>
          </a:prstGeom>
          <a:noFill/>
          <a:ln/>
        </p:spPr>
        <p:txBody>
          <a:bodyPr wrap="square" lIns="127" tIns="127" rIns="127" bIns="127" rtlCol="0" anchor="ctr"/>
          <a:lstStyle/>
          <a:p>
            <a:pPr marL="0" indent="0">
              <a:buNone/>
            </a:pPr>
            <a:r>
              <a:rPr lang="en-US" sz="1300" dirty="0">
                <a:solidFill>
                  <a:srgbClr val="CBD5E1"/>
                </a:solidFill>
                <a:latin typeface="Aptos" pitchFamily="34" charset="0"/>
                <a:ea typeface="Aptos" pitchFamily="34" charset="-122"/>
                <a:cs typeface="Aptos" pitchFamily="34" charset="-120"/>
              </a:rPr>
              <a:t>Expose adoption risk</a:t>
            </a:r>
            <a:endParaRPr lang="en-US" sz="1300" dirty="0"/>
          </a:p>
        </p:txBody>
      </p:sp>
      <p:sp>
        <p:nvSpPr>
          <p:cNvPr id="22" name="Shape 20"/>
          <p:cNvSpPr/>
          <p:nvPr/>
        </p:nvSpPr>
        <p:spPr>
          <a:xfrm>
            <a:off x="502920" y="7016116"/>
            <a:ext cx="11155680" cy="0"/>
          </a:xfrm>
          <a:prstGeom prst="line">
            <a:avLst/>
          </a:prstGeom>
          <a:noFill/>
          <a:ln w="9525">
            <a:solidFill>
              <a:srgbClr val="334155">
                <a:alpha val="30000"/>
              </a:srgbClr>
            </a:solidFill>
            <a:prstDash val="solid"/>
          </a:ln>
        </p:spPr>
        <p:txBody>
          <a:bodyPr/>
          <a:lstStyle/>
          <a:p>
            <a:endParaRPr lang="en-US"/>
          </a:p>
        </p:txBody>
      </p:sp>
      <p:sp>
        <p:nvSpPr>
          <p:cNvPr id="23" name="Text 21"/>
          <p:cNvSpPr/>
          <p:nvPr/>
        </p:nvSpPr>
        <p:spPr>
          <a:xfrm>
            <a:off x="502920" y="6565392"/>
            <a:ext cx="5029200" cy="146304"/>
          </a:xfrm>
          <a:prstGeom prst="rect">
            <a:avLst/>
          </a:prstGeom>
          <a:noFill/>
          <a:ln/>
        </p:spPr>
        <p:txBody>
          <a:bodyPr wrap="square" rtlCol="0" anchor="ctr"/>
          <a:lstStyle/>
          <a:p>
            <a:pPr marL="0" indent="0">
              <a:buNone/>
            </a:pPr>
            <a:r>
              <a:rPr lang="en-US" sz="750" dirty="0">
                <a:solidFill>
                  <a:srgbClr val="334155"/>
                </a:solidFill>
                <a:latin typeface="Aptos" pitchFamily="34" charset="0"/>
                <a:ea typeface="Aptos" pitchFamily="34" charset="-122"/>
                <a:cs typeface="Aptos" pitchFamily="34" charset="-120"/>
              </a:rPr>
              <a:t>Activity</a:t>
            </a:r>
            <a:endParaRPr lang="en-US" sz="750" dirty="0"/>
          </a:p>
        </p:txBody>
      </p:sp>
      <p:sp>
        <p:nvSpPr>
          <p:cNvPr id="24" name="Text 22"/>
          <p:cNvSpPr/>
          <p:nvPr/>
        </p:nvSpPr>
        <p:spPr>
          <a:xfrm>
            <a:off x="11018520" y="6565392"/>
            <a:ext cx="640080" cy="146304"/>
          </a:xfrm>
          <a:prstGeom prst="rect">
            <a:avLst/>
          </a:prstGeom>
          <a:noFill/>
          <a:ln/>
        </p:spPr>
        <p:txBody>
          <a:bodyPr wrap="square" rtlCol="0" anchor="ctr"/>
          <a:lstStyle/>
          <a:p>
            <a:pPr marL="0" indent="0" algn="r">
              <a:buNone/>
            </a:pPr>
            <a:r>
              <a:rPr lang="en-US" sz="750" dirty="0">
                <a:solidFill>
                  <a:srgbClr val="334155"/>
                </a:solidFill>
                <a:latin typeface="Aptos" pitchFamily="34" charset="0"/>
                <a:ea typeface="Aptos" pitchFamily="34" charset="-122"/>
                <a:cs typeface="Aptos" pitchFamily="34" charset="-120"/>
              </a:rPr>
              <a:t>11</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8046720" cy="402336"/>
          </a:xfrm>
          <a:prstGeom prst="rect">
            <a:avLst/>
          </a:prstGeom>
          <a:noFill/>
          <a:ln/>
        </p:spPr>
        <p:txBody>
          <a:bodyPr wrap="square" lIns="254" tIns="254" rIns="254" bIns="254" rtlCol="0" anchor="ctr">
            <a:normAutofit/>
          </a:bodyPr>
          <a:lstStyle/>
          <a:p>
            <a:pPr marL="0" indent="0">
              <a:buNone/>
            </a:pPr>
            <a:r>
              <a:rPr lang="en-US" sz="2700" b="1" dirty="0">
                <a:solidFill>
                  <a:srgbClr val="111827"/>
                </a:solidFill>
                <a:latin typeface="Aptos Display" pitchFamily="34" charset="0"/>
                <a:ea typeface="Aptos Display" pitchFamily="34" charset="-122"/>
                <a:cs typeface="Aptos Display" pitchFamily="34" charset="-120"/>
              </a:rPr>
              <a:t>Stage 3: Quantify</a:t>
            </a:r>
            <a:endParaRPr lang="en-US" sz="2700" dirty="0"/>
          </a:p>
        </p:txBody>
      </p:sp>
      <p:sp>
        <p:nvSpPr>
          <p:cNvPr id="3" name="Text 1"/>
          <p:cNvSpPr/>
          <p:nvPr/>
        </p:nvSpPr>
        <p:spPr>
          <a:xfrm>
            <a:off x="585216" y="804672"/>
            <a:ext cx="8046720" cy="219456"/>
          </a:xfrm>
          <a:prstGeom prst="rect">
            <a:avLst/>
          </a:prstGeom>
          <a:noFill/>
          <a:ln/>
        </p:spPr>
        <p:txBody>
          <a:bodyPr wrap="square" lIns="127" tIns="127" rIns="127" bIns="127" rtlCol="0" anchor="ctr"/>
          <a:lstStyle/>
          <a:p>
            <a:pPr marL="0" indent="0">
              <a:buNone/>
            </a:pPr>
            <a:r>
              <a:rPr lang="en-US" sz="1150" dirty="0">
                <a:solidFill>
                  <a:srgbClr val="334155"/>
                </a:solidFill>
                <a:latin typeface="Aptos" pitchFamily="34" charset="0"/>
                <a:ea typeface="Aptos" pitchFamily="34" charset="-122"/>
                <a:cs typeface="Aptos" pitchFamily="34" charset="-120"/>
              </a:rPr>
              <a:t>Translate operational evidence into a defensible value case.</a:t>
            </a:r>
            <a:endParaRPr lang="en-US" sz="1150" dirty="0"/>
          </a:p>
        </p:txBody>
      </p:sp>
      <p:sp>
        <p:nvSpPr>
          <p:cNvPr id="4" name="Shape 2"/>
          <p:cNvSpPr/>
          <p:nvPr/>
        </p:nvSpPr>
        <p:spPr>
          <a:xfrm>
            <a:off x="566928" y="1078992"/>
            <a:ext cx="640080" cy="54864"/>
          </a:xfrm>
          <a:prstGeom prst="rect">
            <a:avLst/>
          </a:prstGeom>
          <a:solidFill>
            <a:srgbClr val="F97316"/>
          </a:solidFill>
          <a:ln w="12700">
            <a:solidFill>
              <a:srgbClr val="F97316"/>
            </a:solidFill>
            <a:prstDash val="solid"/>
          </a:ln>
        </p:spPr>
        <p:txBody>
          <a:bodyPr/>
          <a:lstStyle/>
          <a:p>
            <a:endParaRPr lang="en-US"/>
          </a:p>
        </p:txBody>
      </p:sp>
      <p:sp>
        <p:nvSpPr>
          <p:cNvPr id="5" name="Text 3"/>
          <p:cNvSpPr/>
          <p:nvPr/>
        </p:nvSpPr>
        <p:spPr>
          <a:xfrm>
            <a:off x="777240" y="1417320"/>
            <a:ext cx="4389120" cy="310896"/>
          </a:xfrm>
          <a:prstGeom prst="rect">
            <a:avLst/>
          </a:prstGeom>
          <a:noFill/>
          <a:ln/>
        </p:spPr>
        <p:txBody>
          <a:bodyPr wrap="square" lIns="127" tIns="127" rIns="127" bIns="127" rtlCol="0" anchor="ctr"/>
          <a:lstStyle/>
          <a:p>
            <a:pPr marL="0" indent="0">
              <a:buNone/>
            </a:pPr>
            <a:r>
              <a:rPr lang="en-US" sz="2100" b="1" dirty="0">
                <a:solidFill>
                  <a:srgbClr val="111827"/>
                </a:solidFill>
                <a:latin typeface="Aptos Display" pitchFamily="34" charset="0"/>
                <a:ea typeface="Aptos Display" pitchFamily="34" charset="-122"/>
                <a:cs typeface="Aptos Display" pitchFamily="34" charset="-120"/>
              </a:rPr>
              <a:t>Northstar evidence uncovered</a:t>
            </a:r>
            <a:endParaRPr lang="en-US" sz="2100" dirty="0"/>
          </a:p>
        </p:txBody>
      </p:sp>
      <p:sp>
        <p:nvSpPr>
          <p:cNvPr id="6" name="Text 4"/>
          <p:cNvSpPr/>
          <p:nvPr/>
        </p:nvSpPr>
        <p:spPr>
          <a:xfrm>
            <a:off x="822960" y="2011680"/>
            <a:ext cx="1005840" cy="475488"/>
          </a:xfrm>
          <a:prstGeom prst="rect">
            <a:avLst/>
          </a:prstGeom>
          <a:noFill/>
          <a:ln/>
        </p:spPr>
        <p:txBody>
          <a:bodyPr wrap="square" lIns="254" tIns="254" rIns="254" bIns="254" rtlCol="0" anchor="ctr"/>
          <a:lstStyle/>
          <a:p>
            <a:pPr marL="0" indent="0" algn="ctr">
              <a:buNone/>
            </a:pPr>
            <a:r>
              <a:rPr lang="en-US" sz="2900" b="1" dirty="0">
                <a:solidFill>
                  <a:srgbClr val="14B8A6"/>
                </a:solidFill>
                <a:latin typeface="Aptos Display" pitchFamily="34" charset="0"/>
                <a:ea typeface="Aptos Display" pitchFamily="34" charset="-122"/>
                <a:cs typeface="Aptos Display" pitchFamily="34" charset="-120"/>
              </a:rPr>
              <a:t>21.5s</a:t>
            </a:r>
            <a:endParaRPr lang="en-US" sz="2900" dirty="0"/>
          </a:p>
        </p:txBody>
      </p:sp>
      <p:sp>
        <p:nvSpPr>
          <p:cNvPr id="7" name="Text 5"/>
          <p:cNvSpPr/>
          <p:nvPr/>
        </p:nvSpPr>
        <p:spPr>
          <a:xfrm>
            <a:off x="822960" y="2505456"/>
            <a:ext cx="1005840" cy="256032"/>
          </a:xfrm>
          <a:prstGeom prst="rect">
            <a:avLst/>
          </a:prstGeom>
          <a:noFill/>
          <a:ln/>
        </p:spPr>
        <p:txBody>
          <a:bodyPr wrap="square" lIns="127" tIns="127" rIns="127" bIns="127" rtlCol="0" anchor="ctr">
            <a:normAutofit/>
          </a:bodyPr>
          <a:lstStyle/>
          <a:p>
            <a:pPr marL="0" indent="0" algn="ctr">
              <a:buNone/>
            </a:pPr>
            <a:r>
              <a:rPr lang="en-US" sz="1080" dirty="0">
                <a:solidFill>
                  <a:srgbClr val="334155"/>
                </a:solidFill>
                <a:latin typeface="Aptos" pitchFamily="34" charset="0"/>
                <a:ea typeface="Aptos" pitchFamily="34" charset="-122"/>
                <a:cs typeface="Aptos" pitchFamily="34" charset="-120"/>
              </a:rPr>
              <a:t>actual cycle time</a:t>
            </a:r>
            <a:endParaRPr lang="en-US" sz="1080" dirty="0"/>
          </a:p>
        </p:txBody>
      </p:sp>
      <p:sp>
        <p:nvSpPr>
          <p:cNvPr id="8" name="Text 6"/>
          <p:cNvSpPr/>
          <p:nvPr/>
        </p:nvSpPr>
        <p:spPr>
          <a:xfrm>
            <a:off x="2057400" y="2011680"/>
            <a:ext cx="1005840" cy="475488"/>
          </a:xfrm>
          <a:prstGeom prst="rect">
            <a:avLst/>
          </a:prstGeom>
          <a:noFill/>
          <a:ln/>
        </p:spPr>
        <p:txBody>
          <a:bodyPr wrap="square" lIns="254" tIns="254" rIns="254" bIns="254" rtlCol="0" anchor="ctr"/>
          <a:lstStyle/>
          <a:p>
            <a:pPr marL="0" indent="0" algn="ctr">
              <a:buNone/>
            </a:pPr>
            <a:r>
              <a:rPr lang="en-US" sz="2900" b="1" dirty="0">
                <a:solidFill>
                  <a:srgbClr val="14B8A6"/>
                </a:solidFill>
                <a:latin typeface="Aptos Display" pitchFamily="34" charset="0"/>
                <a:ea typeface="Aptos Display" pitchFamily="34" charset="-122"/>
                <a:cs typeface="Aptos Display" pitchFamily="34" charset="-120"/>
              </a:rPr>
              <a:t>18s</a:t>
            </a:r>
            <a:endParaRPr lang="en-US" sz="2900" dirty="0"/>
          </a:p>
        </p:txBody>
      </p:sp>
      <p:sp>
        <p:nvSpPr>
          <p:cNvPr id="9" name="Text 7"/>
          <p:cNvSpPr/>
          <p:nvPr/>
        </p:nvSpPr>
        <p:spPr>
          <a:xfrm>
            <a:off x="2057400" y="2505456"/>
            <a:ext cx="1005840" cy="256032"/>
          </a:xfrm>
          <a:prstGeom prst="rect">
            <a:avLst/>
          </a:prstGeom>
          <a:noFill/>
          <a:ln/>
        </p:spPr>
        <p:txBody>
          <a:bodyPr wrap="square" lIns="127" tIns="127" rIns="127" bIns="127" rtlCol="0" anchor="ctr">
            <a:normAutofit/>
          </a:bodyPr>
          <a:lstStyle/>
          <a:p>
            <a:pPr marL="0" indent="0" algn="ctr">
              <a:buNone/>
            </a:pPr>
            <a:r>
              <a:rPr lang="en-US" sz="1080" dirty="0">
                <a:solidFill>
                  <a:srgbClr val="334155"/>
                </a:solidFill>
                <a:latin typeface="Aptos" pitchFamily="34" charset="0"/>
                <a:ea typeface="Aptos" pitchFamily="34" charset="-122"/>
                <a:cs typeface="Aptos" pitchFamily="34" charset="-120"/>
              </a:rPr>
              <a:t>target cycle time</a:t>
            </a:r>
            <a:endParaRPr lang="en-US" sz="1080" dirty="0"/>
          </a:p>
        </p:txBody>
      </p:sp>
      <p:sp>
        <p:nvSpPr>
          <p:cNvPr id="10" name="Text 8"/>
          <p:cNvSpPr/>
          <p:nvPr/>
        </p:nvSpPr>
        <p:spPr>
          <a:xfrm>
            <a:off x="3291840" y="2011680"/>
            <a:ext cx="1005840" cy="475488"/>
          </a:xfrm>
          <a:prstGeom prst="rect">
            <a:avLst/>
          </a:prstGeom>
          <a:noFill/>
          <a:ln/>
        </p:spPr>
        <p:txBody>
          <a:bodyPr wrap="square" lIns="254" tIns="254" rIns="254" bIns="254" rtlCol="0" anchor="ctr"/>
          <a:lstStyle/>
          <a:p>
            <a:pPr marL="0" indent="0" algn="ctr">
              <a:buNone/>
            </a:pPr>
            <a:r>
              <a:rPr lang="en-US" sz="2900" b="1" dirty="0">
                <a:solidFill>
                  <a:srgbClr val="14B8A6"/>
                </a:solidFill>
                <a:latin typeface="Aptos Display" pitchFamily="34" charset="0"/>
                <a:ea typeface="Aptos Display" pitchFamily="34" charset="-122"/>
                <a:cs typeface="Aptos Display" pitchFamily="34" charset="-120"/>
              </a:rPr>
              <a:t>12h</a:t>
            </a:r>
            <a:endParaRPr lang="en-US" sz="2900" dirty="0"/>
          </a:p>
        </p:txBody>
      </p:sp>
      <p:sp>
        <p:nvSpPr>
          <p:cNvPr id="11" name="Text 9"/>
          <p:cNvSpPr/>
          <p:nvPr/>
        </p:nvSpPr>
        <p:spPr>
          <a:xfrm>
            <a:off x="3291840" y="2505456"/>
            <a:ext cx="1005840" cy="256032"/>
          </a:xfrm>
          <a:prstGeom prst="rect">
            <a:avLst/>
          </a:prstGeom>
          <a:noFill/>
          <a:ln/>
        </p:spPr>
        <p:txBody>
          <a:bodyPr wrap="square" lIns="127" tIns="127" rIns="127" bIns="127" rtlCol="0" anchor="ctr">
            <a:normAutofit/>
          </a:bodyPr>
          <a:lstStyle/>
          <a:p>
            <a:pPr marL="0" indent="0" algn="ctr">
              <a:buNone/>
            </a:pPr>
            <a:r>
              <a:rPr lang="en-US" sz="1080" dirty="0">
                <a:solidFill>
                  <a:srgbClr val="334155"/>
                </a:solidFill>
                <a:latin typeface="Aptos" pitchFamily="34" charset="0"/>
                <a:ea typeface="Aptos" pitchFamily="34" charset="-122"/>
                <a:cs typeface="Aptos" pitchFamily="34" charset="-120"/>
              </a:rPr>
              <a:t>weekly overtime</a:t>
            </a:r>
            <a:endParaRPr lang="en-US" sz="1080" dirty="0"/>
          </a:p>
        </p:txBody>
      </p:sp>
      <p:sp>
        <p:nvSpPr>
          <p:cNvPr id="12" name="Text 10"/>
          <p:cNvSpPr/>
          <p:nvPr/>
        </p:nvSpPr>
        <p:spPr>
          <a:xfrm>
            <a:off x="4526280" y="2011680"/>
            <a:ext cx="1005840" cy="475488"/>
          </a:xfrm>
          <a:prstGeom prst="rect">
            <a:avLst/>
          </a:prstGeom>
          <a:noFill/>
          <a:ln/>
        </p:spPr>
        <p:txBody>
          <a:bodyPr wrap="square" lIns="254" tIns="254" rIns="254" bIns="254" rtlCol="0" anchor="ctr"/>
          <a:lstStyle/>
          <a:p>
            <a:pPr marL="0" indent="0" algn="ctr">
              <a:buNone/>
            </a:pPr>
            <a:r>
              <a:rPr lang="en-US" sz="2900" b="1" dirty="0">
                <a:solidFill>
                  <a:srgbClr val="14B8A6"/>
                </a:solidFill>
                <a:latin typeface="Aptos Display" pitchFamily="34" charset="0"/>
                <a:ea typeface="Aptos Display" pitchFamily="34" charset="-122"/>
                <a:cs typeface="Aptos Display" pitchFamily="34" charset="-120"/>
              </a:rPr>
              <a:t>24mo</a:t>
            </a:r>
            <a:endParaRPr lang="en-US" sz="2900" dirty="0"/>
          </a:p>
        </p:txBody>
      </p:sp>
      <p:sp>
        <p:nvSpPr>
          <p:cNvPr id="13" name="Text 11"/>
          <p:cNvSpPr/>
          <p:nvPr/>
        </p:nvSpPr>
        <p:spPr>
          <a:xfrm>
            <a:off x="4526280" y="2505456"/>
            <a:ext cx="1005840" cy="256032"/>
          </a:xfrm>
          <a:prstGeom prst="rect">
            <a:avLst/>
          </a:prstGeom>
          <a:noFill/>
          <a:ln/>
        </p:spPr>
        <p:txBody>
          <a:bodyPr wrap="square" lIns="127" tIns="127" rIns="127" bIns="127" rtlCol="0" anchor="ctr">
            <a:normAutofit/>
          </a:bodyPr>
          <a:lstStyle/>
          <a:p>
            <a:pPr marL="0" indent="0" algn="ctr">
              <a:buNone/>
            </a:pPr>
            <a:r>
              <a:rPr lang="en-US" sz="1080" dirty="0">
                <a:solidFill>
                  <a:srgbClr val="334155"/>
                </a:solidFill>
                <a:latin typeface="Aptos" pitchFamily="34" charset="0"/>
                <a:ea typeface="Aptos" pitchFamily="34" charset="-122"/>
                <a:cs typeface="Aptos" pitchFamily="34" charset="-120"/>
              </a:rPr>
              <a:t>payback threshold</a:t>
            </a:r>
            <a:endParaRPr lang="en-US" sz="1080" dirty="0"/>
          </a:p>
        </p:txBody>
      </p:sp>
      <p:sp>
        <p:nvSpPr>
          <p:cNvPr id="14" name="Text 12"/>
          <p:cNvSpPr/>
          <p:nvPr/>
        </p:nvSpPr>
        <p:spPr>
          <a:xfrm>
            <a:off x="868680" y="3703320"/>
            <a:ext cx="4800600" cy="1005840"/>
          </a:xfrm>
          <a:prstGeom prst="rect">
            <a:avLst/>
          </a:prstGeom>
          <a:noFill/>
          <a:ln/>
        </p:spPr>
        <p:txBody>
          <a:bodyPr wrap="square" lIns="381" tIns="381" rIns="381" bIns="381" rtlCol="0" anchor="ctr">
            <a:normAutofit/>
          </a:bodyPr>
          <a:lstStyle/>
          <a:p>
            <a:pPr marL="0" indent="0">
              <a:buNone/>
            </a:pPr>
            <a:r>
              <a:rPr lang="en-US" sz="1700" dirty="0">
                <a:solidFill>
                  <a:srgbClr val="334155"/>
                </a:solidFill>
                <a:latin typeface="Aptos" pitchFamily="34" charset="0"/>
                <a:ea typeface="Aptos" pitchFamily="34" charset="-122"/>
                <a:cs typeface="Aptos" pitchFamily="34" charset="-120"/>
              </a:rPr>
              <a:t>Value is not “labor saved.” It is the sum of recoverable capacity, reduced operating losses, and risk reduction — minus total implementation cost.</a:t>
            </a:r>
            <a:endParaRPr lang="en-US" sz="1700" dirty="0"/>
          </a:p>
        </p:txBody>
      </p:sp>
      <p:sp>
        <p:nvSpPr>
          <p:cNvPr id="15" name="Shape 13"/>
          <p:cNvSpPr/>
          <p:nvPr/>
        </p:nvSpPr>
        <p:spPr>
          <a:xfrm>
            <a:off x="6126480" y="1554480"/>
            <a:ext cx="5303520" cy="3566160"/>
          </a:xfrm>
          <a:prstGeom prst="roundRect">
            <a:avLst>
              <a:gd name="adj" fmla="val 3846"/>
            </a:avLst>
          </a:prstGeom>
          <a:solidFill>
            <a:srgbClr val="F3F4F6"/>
          </a:solidFill>
          <a:ln w="12700">
            <a:solidFill>
              <a:srgbClr val="CBD5E1"/>
            </a:solidFill>
            <a:prstDash val="solid"/>
          </a:ln>
        </p:spPr>
        <p:txBody>
          <a:bodyPr/>
          <a:lstStyle/>
          <a:p>
            <a:endParaRPr lang="en-US"/>
          </a:p>
        </p:txBody>
      </p:sp>
      <p:sp>
        <p:nvSpPr>
          <p:cNvPr id="16" name="Text 14"/>
          <p:cNvSpPr/>
          <p:nvPr/>
        </p:nvSpPr>
        <p:spPr>
          <a:xfrm>
            <a:off x="6446520" y="1874520"/>
            <a:ext cx="1463040" cy="256032"/>
          </a:xfrm>
          <a:prstGeom prst="rect">
            <a:avLst/>
          </a:prstGeom>
          <a:noFill/>
          <a:ln/>
        </p:spPr>
        <p:txBody>
          <a:bodyPr wrap="square" lIns="127" tIns="127" rIns="127" bIns="127" rtlCol="0" anchor="ctr"/>
          <a:lstStyle/>
          <a:p>
            <a:pPr marL="0" indent="0" algn="ctr">
              <a:buNone/>
            </a:pPr>
            <a:r>
              <a:rPr lang="en-US" sz="1400" b="1" dirty="0">
                <a:solidFill>
                  <a:srgbClr val="111827"/>
                </a:solidFill>
                <a:latin typeface="Aptos" pitchFamily="34" charset="0"/>
                <a:ea typeface="Aptos" pitchFamily="34" charset="-122"/>
                <a:cs typeface="Aptos" pitchFamily="34" charset="-120"/>
              </a:rPr>
              <a:t>Potential value</a:t>
            </a:r>
            <a:endParaRPr lang="en-US" sz="1400" dirty="0"/>
          </a:p>
        </p:txBody>
      </p:sp>
      <p:sp>
        <p:nvSpPr>
          <p:cNvPr id="17" name="Shape 15"/>
          <p:cNvSpPr/>
          <p:nvPr/>
        </p:nvSpPr>
        <p:spPr>
          <a:xfrm>
            <a:off x="8001000" y="2011680"/>
            <a:ext cx="548640" cy="0"/>
          </a:xfrm>
          <a:prstGeom prst="line">
            <a:avLst/>
          </a:prstGeom>
          <a:noFill/>
          <a:ln w="15240">
            <a:solidFill>
              <a:srgbClr val="334155"/>
            </a:solidFill>
            <a:prstDash val="solid"/>
            <a:headEnd type="none"/>
            <a:tailEnd type="triangle"/>
          </a:ln>
        </p:spPr>
        <p:txBody>
          <a:bodyPr/>
          <a:lstStyle/>
          <a:p>
            <a:endParaRPr lang="en-US"/>
          </a:p>
        </p:txBody>
      </p:sp>
      <p:sp>
        <p:nvSpPr>
          <p:cNvPr id="18" name="Text 16"/>
          <p:cNvSpPr/>
          <p:nvPr/>
        </p:nvSpPr>
        <p:spPr>
          <a:xfrm>
            <a:off x="8732520" y="1645920"/>
            <a:ext cx="1051560" cy="594360"/>
          </a:xfrm>
          <a:prstGeom prst="rect">
            <a:avLst/>
          </a:prstGeom>
          <a:solidFill>
            <a:srgbClr val="14B8A6"/>
          </a:solidFill>
          <a:ln>
            <a:solidFill>
              <a:srgbClr val="14B8A6"/>
            </a:solidFill>
          </a:ln>
        </p:spPr>
        <p:txBody>
          <a:bodyPr wrap="square" lIns="254" tIns="254" rIns="254" bIns="254"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recoverable</a:t>
            </a:r>
            <a:endParaRPr lang="en-US" sz="1200" dirty="0"/>
          </a:p>
          <a:p>
            <a:pPr marL="0" indent="0" algn="ctr">
              <a:buNone/>
            </a:pPr>
            <a:r>
              <a:rPr lang="en-US" sz="1200" b="1" dirty="0">
                <a:solidFill>
                  <a:srgbClr val="FFFFFF"/>
                </a:solidFill>
                <a:latin typeface="Aptos" pitchFamily="34" charset="0"/>
                <a:ea typeface="Aptos" pitchFamily="34" charset="-122"/>
                <a:cs typeface="Aptos" pitchFamily="34" charset="-120"/>
              </a:rPr>
              <a:t>capacity</a:t>
            </a:r>
            <a:endParaRPr lang="en-US" sz="1200" dirty="0"/>
          </a:p>
        </p:txBody>
      </p:sp>
      <p:sp>
        <p:nvSpPr>
          <p:cNvPr id="19" name="Text 17"/>
          <p:cNvSpPr/>
          <p:nvPr/>
        </p:nvSpPr>
        <p:spPr>
          <a:xfrm>
            <a:off x="9893808" y="1847088"/>
            <a:ext cx="182880" cy="182880"/>
          </a:xfrm>
          <a:prstGeom prst="rect">
            <a:avLst/>
          </a:prstGeom>
          <a:noFill/>
          <a:ln/>
        </p:spPr>
        <p:txBody>
          <a:bodyPr wrap="square" lIns="127" tIns="127" rIns="127" bIns="127" rtlCol="0" anchor="ctr"/>
          <a:lstStyle/>
          <a:p>
            <a:pPr marL="0" indent="0" algn="ctr">
              <a:buNone/>
            </a:pPr>
            <a:r>
              <a:rPr lang="en-US" sz="1600" b="1" dirty="0">
                <a:solidFill>
                  <a:srgbClr val="334155"/>
                </a:solidFill>
                <a:latin typeface="Aptos Display" pitchFamily="34" charset="0"/>
                <a:ea typeface="Aptos Display" pitchFamily="34" charset="-122"/>
                <a:cs typeface="Aptos Display" pitchFamily="34" charset="-120"/>
              </a:rPr>
              <a:t>+</a:t>
            </a:r>
            <a:endParaRPr lang="en-US" sz="1600" dirty="0"/>
          </a:p>
        </p:txBody>
      </p:sp>
      <p:sp>
        <p:nvSpPr>
          <p:cNvPr id="20" name="Text 18"/>
          <p:cNvSpPr/>
          <p:nvPr/>
        </p:nvSpPr>
        <p:spPr>
          <a:xfrm>
            <a:off x="10131552" y="1645920"/>
            <a:ext cx="868680" cy="594360"/>
          </a:xfrm>
          <a:prstGeom prst="rect">
            <a:avLst/>
          </a:prstGeom>
          <a:solidFill>
            <a:srgbClr val="14B8A6"/>
          </a:solidFill>
          <a:ln>
            <a:solidFill>
              <a:srgbClr val="14B8A6"/>
            </a:solidFill>
          </a:ln>
        </p:spPr>
        <p:txBody>
          <a:bodyPr wrap="square" lIns="254" tIns="254" rIns="254" bIns="254"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reduced</a:t>
            </a:r>
            <a:endParaRPr lang="en-US" sz="1200" dirty="0"/>
          </a:p>
          <a:p>
            <a:pPr marL="0" indent="0" algn="ctr">
              <a:buNone/>
            </a:pPr>
            <a:r>
              <a:rPr lang="en-US" sz="1200" b="1" dirty="0">
                <a:solidFill>
                  <a:srgbClr val="FFFFFF"/>
                </a:solidFill>
                <a:latin typeface="Aptos" pitchFamily="34" charset="0"/>
                <a:ea typeface="Aptos" pitchFamily="34" charset="-122"/>
                <a:cs typeface="Aptos" pitchFamily="34" charset="-120"/>
              </a:rPr>
              <a:t>losses</a:t>
            </a:r>
            <a:endParaRPr lang="en-US" sz="1200" dirty="0"/>
          </a:p>
        </p:txBody>
      </p:sp>
      <p:sp>
        <p:nvSpPr>
          <p:cNvPr id="21" name="Text 19"/>
          <p:cNvSpPr/>
          <p:nvPr/>
        </p:nvSpPr>
        <p:spPr>
          <a:xfrm>
            <a:off x="7178040" y="3081528"/>
            <a:ext cx="3108960" cy="256032"/>
          </a:xfrm>
          <a:prstGeom prst="rect">
            <a:avLst/>
          </a:prstGeom>
          <a:noFill/>
          <a:ln/>
        </p:spPr>
        <p:txBody>
          <a:bodyPr wrap="square" lIns="127" tIns="127" rIns="127" bIns="127" rtlCol="0" anchor="ctr"/>
          <a:lstStyle/>
          <a:p>
            <a:pPr marL="0" indent="0" algn="ctr">
              <a:buNone/>
            </a:pPr>
            <a:r>
              <a:rPr lang="en-US" sz="1600" b="1" dirty="0">
                <a:solidFill>
                  <a:srgbClr val="111827"/>
                </a:solidFill>
                <a:latin typeface="Aptos" pitchFamily="34" charset="0"/>
                <a:ea typeface="Aptos" pitchFamily="34" charset="-122"/>
                <a:cs typeface="Aptos" pitchFamily="34" charset="-120"/>
              </a:rPr>
              <a:t> total implementation cost</a:t>
            </a:r>
            <a:endParaRPr lang="en-US" sz="1600" dirty="0"/>
          </a:p>
        </p:txBody>
      </p:sp>
      <p:sp>
        <p:nvSpPr>
          <p:cNvPr id="22" name="Text 20"/>
          <p:cNvSpPr/>
          <p:nvPr/>
        </p:nvSpPr>
        <p:spPr>
          <a:xfrm>
            <a:off x="6903720" y="4114800"/>
            <a:ext cx="3657600" cy="274320"/>
          </a:xfrm>
          <a:prstGeom prst="rect">
            <a:avLst/>
          </a:prstGeom>
          <a:noFill/>
          <a:ln/>
        </p:spPr>
        <p:txBody>
          <a:bodyPr wrap="square" lIns="127" tIns="127" rIns="127" bIns="127" rtlCol="0" anchor="ctr"/>
          <a:lstStyle/>
          <a:p>
            <a:pPr marL="0" indent="0" algn="ctr">
              <a:buNone/>
            </a:pPr>
            <a:r>
              <a:rPr lang="en-US" sz="1800" b="1" dirty="0">
                <a:solidFill>
                  <a:srgbClr val="14B8A6"/>
                </a:solidFill>
                <a:latin typeface="Aptos Display" pitchFamily="34" charset="0"/>
                <a:ea typeface="Aptos Display" pitchFamily="34" charset="-122"/>
                <a:cs typeface="Aptos Display" pitchFamily="34" charset="-120"/>
              </a:rPr>
              <a:t>Use ranges and validated assumptions — not invented precision.</a:t>
            </a:r>
            <a:endParaRPr lang="en-US" sz="1800" dirty="0"/>
          </a:p>
        </p:txBody>
      </p:sp>
      <p:sp>
        <p:nvSpPr>
          <p:cNvPr id="23" name="Shape 21"/>
          <p:cNvSpPr/>
          <p:nvPr/>
        </p:nvSpPr>
        <p:spPr>
          <a:xfrm>
            <a:off x="502920" y="6473952"/>
            <a:ext cx="11155680" cy="0"/>
          </a:xfrm>
          <a:prstGeom prst="line">
            <a:avLst/>
          </a:prstGeom>
          <a:noFill/>
          <a:ln w="9525">
            <a:solidFill>
              <a:srgbClr val="334155">
                <a:alpha val="30000"/>
              </a:srgbClr>
            </a:solidFill>
            <a:prstDash val="solid"/>
          </a:ln>
        </p:spPr>
        <p:txBody>
          <a:bodyPr/>
          <a:lstStyle/>
          <a:p>
            <a:endParaRPr lang="en-US"/>
          </a:p>
        </p:txBody>
      </p:sp>
      <p:sp>
        <p:nvSpPr>
          <p:cNvPr id="24" name="Text 22"/>
          <p:cNvSpPr/>
          <p:nvPr/>
        </p:nvSpPr>
        <p:spPr>
          <a:xfrm>
            <a:off x="502920" y="6565392"/>
            <a:ext cx="5029200" cy="146304"/>
          </a:xfrm>
          <a:prstGeom prst="rect">
            <a:avLst/>
          </a:prstGeom>
          <a:noFill/>
          <a:ln/>
        </p:spPr>
        <p:txBody>
          <a:bodyPr wrap="square" rtlCol="0" anchor="ctr"/>
          <a:lstStyle/>
          <a:p>
            <a:pPr marL="0" indent="0">
              <a:buNone/>
            </a:pPr>
            <a:r>
              <a:rPr lang="en-US" sz="750" dirty="0">
                <a:solidFill>
                  <a:srgbClr val="334155"/>
                </a:solidFill>
                <a:latin typeface="Aptos" pitchFamily="34" charset="0"/>
                <a:ea typeface="Aptos" pitchFamily="34" charset="-122"/>
                <a:cs typeface="Aptos" pitchFamily="34" charset="-120"/>
              </a:rPr>
              <a:t>Beyond the Robot</a:t>
            </a:r>
            <a:endParaRPr lang="en-US" sz="750" dirty="0"/>
          </a:p>
        </p:txBody>
      </p:sp>
      <p:sp>
        <p:nvSpPr>
          <p:cNvPr id="25" name="Text 23"/>
          <p:cNvSpPr/>
          <p:nvPr/>
        </p:nvSpPr>
        <p:spPr>
          <a:xfrm>
            <a:off x="11018520" y="6565392"/>
            <a:ext cx="640080" cy="146304"/>
          </a:xfrm>
          <a:prstGeom prst="rect">
            <a:avLst/>
          </a:prstGeom>
          <a:noFill/>
          <a:ln/>
        </p:spPr>
        <p:txBody>
          <a:bodyPr wrap="square" rtlCol="0" anchor="ctr"/>
          <a:lstStyle/>
          <a:p>
            <a:pPr marL="0" indent="0" algn="r">
              <a:buNone/>
            </a:pPr>
            <a:r>
              <a:rPr lang="en-US" sz="750" dirty="0">
                <a:solidFill>
                  <a:srgbClr val="334155"/>
                </a:solidFill>
                <a:latin typeface="Aptos" pitchFamily="34" charset="0"/>
                <a:ea typeface="Aptos" pitchFamily="34" charset="-122"/>
                <a:cs typeface="Aptos" pitchFamily="34" charset="-120"/>
              </a:rPr>
              <a:t>12</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8046720" cy="402336"/>
          </a:xfrm>
          <a:prstGeom prst="rect">
            <a:avLst/>
          </a:prstGeom>
          <a:noFill/>
          <a:ln/>
        </p:spPr>
        <p:txBody>
          <a:bodyPr wrap="square" lIns="254" tIns="254" rIns="254" bIns="254" rtlCol="0" anchor="ctr">
            <a:normAutofit/>
          </a:bodyPr>
          <a:lstStyle/>
          <a:p>
            <a:pPr marL="0" indent="0">
              <a:buNone/>
            </a:pPr>
            <a:r>
              <a:rPr lang="en-US" sz="2700" b="1" dirty="0">
                <a:solidFill>
                  <a:srgbClr val="111827"/>
                </a:solidFill>
                <a:latin typeface="Aptos Display" pitchFamily="34" charset="0"/>
                <a:ea typeface="Aptos Display" pitchFamily="34" charset="-122"/>
                <a:cs typeface="Aptos Display" pitchFamily="34" charset="-120"/>
              </a:rPr>
              <a:t>Stage 4: Tailor</a:t>
            </a:r>
            <a:endParaRPr lang="en-US" sz="2700" dirty="0"/>
          </a:p>
        </p:txBody>
      </p:sp>
      <p:sp>
        <p:nvSpPr>
          <p:cNvPr id="3" name="Text 1"/>
          <p:cNvSpPr/>
          <p:nvPr/>
        </p:nvSpPr>
        <p:spPr>
          <a:xfrm>
            <a:off x="585216" y="804672"/>
            <a:ext cx="8046720" cy="219456"/>
          </a:xfrm>
          <a:prstGeom prst="rect">
            <a:avLst/>
          </a:prstGeom>
          <a:noFill/>
          <a:ln/>
        </p:spPr>
        <p:txBody>
          <a:bodyPr wrap="square" lIns="127" tIns="127" rIns="127" bIns="127" rtlCol="0" anchor="ctr"/>
          <a:lstStyle/>
          <a:p>
            <a:pPr marL="0" indent="0">
              <a:buNone/>
            </a:pPr>
            <a:r>
              <a:rPr lang="en-US" sz="1150" dirty="0">
                <a:solidFill>
                  <a:srgbClr val="334155"/>
                </a:solidFill>
                <a:latin typeface="Aptos" pitchFamily="34" charset="0"/>
                <a:ea typeface="Aptos" pitchFamily="34" charset="-122"/>
                <a:cs typeface="Aptos" pitchFamily="34" charset="-120"/>
              </a:rPr>
              <a:t>The same automation cell needs a different value story for each stakeholder.</a:t>
            </a:r>
            <a:endParaRPr lang="en-US" sz="1150" dirty="0"/>
          </a:p>
        </p:txBody>
      </p:sp>
      <p:sp>
        <p:nvSpPr>
          <p:cNvPr id="4" name="Shape 2"/>
          <p:cNvSpPr/>
          <p:nvPr/>
        </p:nvSpPr>
        <p:spPr>
          <a:xfrm>
            <a:off x="566928" y="1078992"/>
            <a:ext cx="640080" cy="54864"/>
          </a:xfrm>
          <a:prstGeom prst="rect">
            <a:avLst/>
          </a:prstGeom>
          <a:solidFill>
            <a:srgbClr val="F97316"/>
          </a:solidFill>
          <a:ln w="12700">
            <a:solidFill>
              <a:srgbClr val="F97316"/>
            </a:solidFill>
            <a:prstDash val="solid"/>
          </a:ln>
        </p:spPr>
        <p:txBody>
          <a:bodyPr/>
          <a:lstStyle/>
          <a:p>
            <a:endParaRPr lang="en-US"/>
          </a:p>
        </p:txBody>
      </p:sp>
      <p:sp>
        <p:nvSpPr>
          <p:cNvPr id="5" name="Shape 3"/>
          <p:cNvSpPr/>
          <p:nvPr/>
        </p:nvSpPr>
        <p:spPr>
          <a:xfrm>
            <a:off x="1764792" y="1416511"/>
            <a:ext cx="8275320" cy="621792"/>
          </a:xfrm>
          <a:prstGeom prst="roundRect">
            <a:avLst>
              <a:gd name="adj" fmla="val 20588"/>
            </a:avLst>
          </a:prstGeom>
          <a:solidFill>
            <a:srgbClr val="0F172A"/>
          </a:solidFill>
          <a:ln w="12700">
            <a:solidFill>
              <a:srgbClr val="0F172A"/>
            </a:solidFill>
            <a:prstDash val="solid"/>
          </a:ln>
        </p:spPr>
        <p:txBody>
          <a:bodyPr/>
          <a:lstStyle/>
          <a:p>
            <a:endParaRPr lang="en-US"/>
          </a:p>
        </p:txBody>
      </p:sp>
      <p:sp>
        <p:nvSpPr>
          <p:cNvPr id="6" name="Text 4"/>
          <p:cNvSpPr/>
          <p:nvPr/>
        </p:nvSpPr>
        <p:spPr>
          <a:xfrm>
            <a:off x="1993392" y="1599391"/>
            <a:ext cx="7818120" cy="219456"/>
          </a:xfrm>
          <a:prstGeom prst="rect">
            <a:avLst/>
          </a:prstGeom>
          <a:noFill/>
          <a:ln/>
        </p:spPr>
        <p:txBody>
          <a:bodyPr wrap="square" lIns="127" tIns="127" rIns="127" bIns="127" rtlCol="0" anchor="ctr"/>
          <a:lstStyle/>
          <a:p>
            <a:pPr marL="0" indent="0" algn="ctr">
              <a:buNone/>
            </a:pPr>
            <a:r>
              <a:rPr lang="en-US" sz="1800" b="1" dirty="0">
                <a:solidFill>
                  <a:srgbClr val="FFFFFF"/>
                </a:solidFill>
                <a:latin typeface="Aptos Display" pitchFamily="34" charset="0"/>
                <a:ea typeface="Aptos Display" pitchFamily="34" charset="-122"/>
                <a:cs typeface="Aptos Display" pitchFamily="34" charset="-120"/>
              </a:rPr>
              <a:t>One automation solution — five different buyer concerns</a:t>
            </a:r>
            <a:endParaRPr lang="en-US" sz="1800" dirty="0"/>
          </a:p>
        </p:txBody>
      </p:sp>
      <p:sp>
        <p:nvSpPr>
          <p:cNvPr id="7" name="Shape 5"/>
          <p:cNvSpPr/>
          <p:nvPr/>
        </p:nvSpPr>
        <p:spPr>
          <a:xfrm>
            <a:off x="594360" y="2331720"/>
            <a:ext cx="2039112" cy="2788920"/>
          </a:xfrm>
          <a:prstGeom prst="roundRect">
            <a:avLst>
              <a:gd name="adj" fmla="val 5381"/>
            </a:avLst>
          </a:prstGeom>
          <a:solidFill>
            <a:srgbClr val="F3F4F6"/>
          </a:solidFill>
          <a:ln w="12700">
            <a:solidFill>
              <a:srgbClr val="CBD5E1"/>
            </a:solidFill>
            <a:prstDash val="solid"/>
          </a:ln>
        </p:spPr>
        <p:txBody>
          <a:bodyPr/>
          <a:lstStyle/>
          <a:p>
            <a:endParaRPr lang="en-US"/>
          </a:p>
        </p:txBody>
      </p:sp>
      <p:sp>
        <p:nvSpPr>
          <p:cNvPr id="10" name="Text 8"/>
          <p:cNvSpPr/>
          <p:nvPr/>
        </p:nvSpPr>
        <p:spPr>
          <a:xfrm>
            <a:off x="798576" y="2926080"/>
            <a:ext cx="1636776" cy="347472"/>
          </a:xfrm>
          <a:prstGeom prst="rect">
            <a:avLst/>
          </a:prstGeom>
          <a:noFill/>
          <a:ln/>
        </p:spPr>
        <p:txBody>
          <a:bodyPr wrap="square" lIns="127" tIns="127" rIns="127" bIns="127" rtlCol="0" anchor="ctr">
            <a:normAutofit/>
          </a:bodyPr>
          <a:lstStyle/>
          <a:p>
            <a:pPr marL="0" indent="0" algn="ctr">
              <a:buNone/>
            </a:pPr>
            <a:r>
              <a:rPr lang="en-US" sz="1580" b="1" dirty="0">
                <a:solidFill>
                  <a:srgbClr val="111827"/>
                </a:solidFill>
                <a:latin typeface="Aptos Display" pitchFamily="34" charset="0"/>
                <a:ea typeface="Aptos Display" pitchFamily="34" charset="-122"/>
                <a:cs typeface="Aptos Display" pitchFamily="34" charset="-120"/>
              </a:rPr>
              <a:t>Plant manager</a:t>
            </a:r>
            <a:endParaRPr lang="en-US" sz="1580" dirty="0"/>
          </a:p>
        </p:txBody>
      </p:sp>
      <p:sp>
        <p:nvSpPr>
          <p:cNvPr id="11" name="Shape 9"/>
          <p:cNvSpPr/>
          <p:nvPr/>
        </p:nvSpPr>
        <p:spPr>
          <a:xfrm>
            <a:off x="853440" y="3410712"/>
            <a:ext cx="1527048" cy="0"/>
          </a:xfrm>
          <a:prstGeom prst="line">
            <a:avLst/>
          </a:prstGeom>
          <a:noFill/>
          <a:ln w="10160">
            <a:solidFill>
              <a:srgbClr val="CBD5E1"/>
            </a:solidFill>
            <a:prstDash val="solid"/>
          </a:ln>
        </p:spPr>
        <p:txBody>
          <a:bodyPr/>
          <a:lstStyle/>
          <a:p>
            <a:endParaRPr lang="en-US"/>
          </a:p>
        </p:txBody>
      </p:sp>
      <p:sp>
        <p:nvSpPr>
          <p:cNvPr id="12" name="Text 10"/>
          <p:cNvSpPr/>
          <p:nvPr/>
        </p:nvSpPr>
        <p:spPr>
          <a:xfrm>
            <a:off x="816864" y="3639312"/>
            <a:ext cx="1600200" cy="420624"/>
          </a:xfrm>
          <a:prstGeom prst="rect">
            <a:avLst/>
          </a:prstGeom>
          <a:noFill/>
          <a:ln/>
        </p:spPr>
        <p:txBody>
          <a:bodyPr wrap="square" lIns="127" tIns="127" rIns="127" bIns="127" rtlCol="0" anchor="ctr">
            <a:normAutofit/>
          </a:bodyPr>
          <a:lstStyle/>
          <a:p>
            <a:pPr marL="0" indent="0" algn="ctr">
              <a:buNone/>
            </a:pPr>
            <a:r>
              <a:rPr lang="en-US" sz="940" dirty="0">
                <a:solidFill>
                  <a:srgbClr val="334155"/>
                </a:solidFill>
                <a:latin typeface="Aptos" pitchFamily="34" charset="0"/>
                <a:ea typeface="Aptos" pitchFamily="34" charset="-122"/>
                <a:cs typeface="Aptos" pitchFamily="34" charset="-120"/>
              </a:rPr>
              <a:t>Output, delivery, investment risk</a:t>
            </a:r>
            <a:endParaRPr lang="en-US" sz="940" dirty="0"/>
          </a:p>
        </p:txBody>
      </p:sp>
      <p:sp>
        <p:nvSpPr>
          <p:cNvPr id="13" name="Text 11"/>
          <p:cNvSpPr/>
          <p:nvPr/>
        </p:nvSpPr>
        <p:spPr>
          <a:xfrm>
            <a:off x="816864" y="4206240"/>
            <a:ext cx="1600200" cy="384048"/>
          </a:xfrm>
          <a:prstGeom prst="rect">
            <a:avLst/>
          </a:prstGeom>
          <a:noFill/>
          <a:ln/>
        </p:spPr>
        <p:txBody>
          <a:bodyPr wrap="square" lIns="127" tIns="127" rIns="127" bIns="127" rtlCol="0" anchor="ctr">
            <a:normAutofit/>
          </a:bodyPr>
          <a:lstStyle/>
          <a:p>
            <a:pPr marL="0" indent="0" algn="ctr">
              <a:buNone/>
            </a:pPr>
            <a:r>
              <a:rPr lang="en-US" sz="920" b="1" dirty="0">
                <a:solidFill>
                  <a:srgbClr val="111827"/>
                </a:solidFill>
                <a:latin typeface="Aptos" pitchFamily="34" charset="0"/>
                <a:ea typeface="Aptos" pitchFamily="34" charset="-122"/>
                <a:cs typeface="Aptos" pitchFamily="34" charset="-120"/>
              </a:rPr>
              <a:t>Message: recoverable capacity + confidence</a:t>
            </a:r>
            <a:endParaRPr lang="en-US" sz="920" dirty="0"/>
          </a:p>
        </p:txBody>
      </p:sp>
      <p:sp>
        <p:nvSpPr>
          <p:cNvPr id="14" name="Shape 12"/>
          <p:cNvSpPr/>
          <p:nvPr/>
        </p:nvSpPr>
        <p:spPr>
          <a:xfrm>
            <a:off x="2834640" y="2331720"/>
            <a:ext cx="2039112" cy="2788920"/>
          </a:xfrm>
          <a:prstGeom prst="roundRect">
            <a:avLst>
              <a:gd name="adj" fmla="val 5381"/>
            </a:avLst>
          </a:prstGeom>
          <a:solidFill>
            <a:srgbClr val="F3F4F6"/>
          </a:solidFill>
          <a:ln w="12700">
            <a:solidFill>
              <a:srgbClr val="CBD5E1"/>
            </a:solidFill>
            <a:prstDash val="solid"/>
          </a:ln>
        </p:spPr>
        <p:txBody>
          <a:bodyPr/>
          <a:lstStyle/>
          <a:p>
            <a:endParaRPr lang="en-US"/>
          </a:p>
        </p:txBody>
      </p:sp>
      <p:sp>
        <p:nvSpPr>
          <p:cNvPr id="17" name="Text 15"/>
          <p:cNvSpPr/>
          <p:nvPr/>
        </p:nvSpPr>
        <p:spPr>
          <a:xfrm>
            <a:off x="3035808" y="2971800"/>
            <a:ext cx="1636776" cy="347472"/>
          </a:xfrm>
          <a:prstGeom prst="rect">
            <a:avLst/>
          </a:prstGeom>
          <a:noFill/>
          <a:ln/>
        </p:spPr>
        <p:txBody>
          <a:bodyPr wrap="square" lIns="127" tIns="127" rIns="127" bIns="127" rtlCol="0" anchor="ctr">
            <a:normAutofit fontScale="85000" lnSpcReduction="20000"/>
          </a:bodyPr>
          <a:lstStyle/>
          <a:p>
            <a:pPr marL="0" indent="0" algn="ctr">
              <a:buNone/>
            </a:pPr>
            <a:r>
              <a:rPr lang="en-US" sz="1580" b="1" dirty="0">
                <a:solidFill>
                  <a:srgbClr val="111827"/>
                </a:solidFill>
                <a:latin typeface="Aptos Display" pitchFamily="34" charset="0"/>
                <a:ea typeface="Aptos Display" pitchFamily="34" charset="-122"/>
                <a:cs typeface="Aptos Display" pitchFamily="34" charset="-120"/>
              </a:rPr>
              <a:t>Manufacturing engineer</a:t>
            </a:r>
            <a:endParaRPr lang="en-US" sz="1580" dirty="0"/>
          </a:p>
        </p:txBody>
      </p:sp>
      <p:sp>
        <p:nvSpPr>
          <p:cNvPr id="18" name="Shape 16"/>
          <p:cNvSpPr/>
          <p:nvPr/>
        </p:nvSpPr>
        <p:spPr>
          <a:xfrm>
            <a:off x="3090672" y="3456432"/>
            <a:ext cx="1527048" cy="0"/>
          </a:xfrm>
          <a:prstGeom prst="line">
            <a:avLst/>
          </a:prstGeom>
          <a:noFill/>
          <a:ln w="10160">
            <a:solidFill>
              <a:srgbClr val="CBD5E1"/>
            </a:solidFill>
            <a:prstDash val="solid"/>
          </a:ln>
        </p:spPr>
        <p:txBody>
          <a:bodyPr/>
          <a:lstStyle/>
          <a:p>
            <a:endParaRPr lang="en-US"/>
          </a:p>
        </p:txBody>
      </p:sp>
      <p:sp>
        <p:nvSpPr>
          <p:cNvPr id="19" name="Text 17"/>
          <p:cNvSpPr/>
          <p:nvPr/>
        </p:nvSpPr>
        <p:spPr>
          <a:xfrm>
            <a:off x="3054096" y="3685032"/>
            <a:ext cx="1600200" cy="420624"/>
          </a:xfrm>
          <a:prstGeom prst="rect">
            <a:avLst/>
          </a:prstGeom>
          <a:noFill/>
          <a:ln/>
        </p:spPr>
        <p:txBody>
          <a:bodyPr wrap="square" lIns="127" tIns="127" rIns="127" bIns="127" rtlCol="0" anchor="ctr">
            <a:normAutofit/>
          </a:bodyPr>
          <a:lstStyle/>
          <a:p>
            <a:pPr marL="0" indent="0" algn="ctr">
              <a:buNone/>
            </a:pPr>
            <a:r>
              <a:rPr lang="en-US" sz="940" dirty="0">
                <a:solidFill>
                  <a:srgbClr val="334155"/>
                </a:solidFill>
                <a:latin typeface="Aptos" pitchFamily="34" charset="0"/>
                <a:ea typeface="Aptos" pitchFamily="34" charset="-122"/>
                <a:cs typeface="Aptos" pitchFamily="34" charset="-120"/>
              </a:rPr>
              <a:t>Feasibility, cycle time, part handling</a:t>
            </a:r>
            <a:endParaRPr lang="en-US" sz="940" dirty="0"/>
          </a:p>
        </p:txBody>
      </p:sp>
      <p:sp>
        <p:nvSpPr>
          <p:cNvPr id="20" name="Text 18"/>
          <p:cNvSpPr/>
          <p:nvPr/>
        </p:nvSpPr>
        <p:spPr>
          <a:xfrm>
            <a:off x="3054096" y="4251960"/>
            <a:ext cx="1600200" cy="384048"/>
          </a:xfrm>
          <a:prstGeom prst="rect">
            <a:avLst/>
          </a:prstGeom>
          <a:noFill/>
          <a:ln/>
        </p:spPr>
        <p:txBody>
          <a:bodyPr wrap="square" lIns="127" tIns="127" rIns="127" bIns="127" rtlCol="0" anchor="ctr">
            <a:normAutofit/>
          </a:bodyPr>
          <a:lstStyle/>
          <a:p>
            <a:pPr marL="0" indent="0" algn="ctr">
              <a:buNone/>
            </a:pPr>
            <a:r>
              <a:rPr lang="en-US" sz="920" b="1" dirty="0">
                <a:solidFill>
                  <a:srgbClr val="111827"/>
                </a:solidFill>
                <a:latin typeface="Aptos" pitchFamily="34" charset="0"/>
                <a:ea typeface="Aptos" pitchFamily="34" charset="-122"/>
                <a:cs typeface="Aptos" pitchFamily="34" charset="-120"/>
              </a:rPr>
              <a:t>Message: testing + simulation + application fit</a:t>
            </a:r>
            <a:endParaRPr lang="en-US" sz="920" dirty="0"/>
          </a:p>
        </p:txBody>
      </p:sp>
      <p:sp>
        <p:nvSpPr>
          <p:cNvPr id="21" name="Shape 19"/>
          <p:cNvSpPr/>
          <p:nvPr/>
        </p:nvSpPr>
        <p:spPr>
          <a:xfrm>
            <a:off x="5074920" y="2331720"/>
            <a:ext cx="2039112" cy="2788920"/>
          </a:xfrm>
          <a:prstGeom prst="roundRect">
            <a:avLst>
              <a:gd name="adj" fmla="val 5381"/>
            </a:avLst>
          </a:prstGeom>
          <a:solidFill>
            <a:srgbClr val="F3F4F6"/>
          </a:solidFill>
          <a:ln w="12700">
            <a:solidFill>
              <a:srgbClr val="CBD5E1"/>
            </a:solidFill>
            <a:prstDash val="solid"/>
          </a:ln>
        </p:spPr>
        <p:txBody>
          <a:bodyPr/>
          <a:lstStyle/>
          <a:p>
            <a:endParaRPr lang="en-US"/>
          </a:p>
        </p:txBody>
      </p:sp>
      <p:sp>
        <p:nvSpPr>
          <p:cNvPr id="24" name="Text 22"/>
          <p:cNvSpPr/>
          <p:nvPr/>
        </p:nvSpPr>
        <p:spPr>
          <a:xfrm>
            <a:off x="5257800" y="2926080"/>
            <a:ext cx="1636776" cy="347472"/>
          </a:xfrm>
          <a:prstGeom prst="rect">
            <a:avLst/>
          </a:prstGeom>
          <a:noFill/>
          <a:ln/>
        </p:spPr>
        <p:txBody>
          <a:bodyPr wrap="square" lIns="127" tIns="127" rIns="127" bIns="127" rtlCol="0" anchor="ctr">
            <a:normAutofit/>
          </a:bodyPr>
          <a:lstStyle/>
          <a:p>
            <a:pPr marL="0" indent="0" algn="ctr">
              <a:buNone/>
            </a:pPr>
            <a:r>
              <a:rPr lang="en-US" sz="1580" b="1" dirty="0">
                <a:solidFill>
                  <a:srgbClr val="111827"/>
                </a:solidFill>
                <a:latin typeface="Aptos Display" pitchFamily="34" charset="0"/>
                <a:ea typeface="Aptos Display" pitchFamily="34" charset="-122"/>
                <a:cs typeface="Aptos Display" pitchFamily="34" charset="-120"/>
              </a:rPr>
              <a:t>Maintenance</a:t>
            </a:r>
            <a:endParaRPr lang="en-US" sz="1580" dirty="0"/>
          </a:p>
        </p:txBody>
      </p:sp>
      <p:sp>
        <p:nvSpPr>
          <p:cNvPr id="25" name="Shape 23"/>
          <p:cNvSpPr/>
          <p:nvPr/>
        </p:nvSpPr>
        <p:spPr>
          <a:xfrm>
            <a:off x="5312664" y="3410712"/>
            <a:ext cx="1527048" cy="0"/>
          </a:xfrm>
          <a:prstGeom prst="line">
            <a:avLst/>
          </a:prstGeom>
          <a:noFill/>
          <a:ln w="10160">
            <a:solidFill>
              <a:srgbClr val="CBD5E1"/>
            </a:solidFill>
            <a:prstDash val="solid"/>
          </a:ln>
        </p:spPr>
        <p:txBody>
          <a:bodyPr/>
          <a:lstStyle/>
          <a:p>
            <a:endParaRPr lang="en-US"/>
          </a:p>
        </p:txBody>
      </p:sp>
      <p:sp>
        <p:nvSpPr>
          <p:cNvPr id="26" name="Text 24"/>
          <p:cNvSpPr/>
          <p:nvPr/>
        </p:nvSpPr>
        <p:spPr>
          <a:xfrm>
            <a:off x="5276088" y="3639312"/>
            <a:ext cx="1600200" cy="420624"/>
          </a:xfrm>
          <a:prstGeom prst="rect">
            <a:avLst/>
          </a:prstGeom>
          <a:noFill/>
          <a:ln/>
        </p:spPr>
        <p:txBody>
          <a:bodyPr wrap="square" lIns="127" tIns="127" rIns="127" bIns="127" rtlCol="0" anchor="ctr">
            <a:normAutofit/>
          </a:bodyPr>
          <a:lstStyle/>
          <a:p>
            <a:pPr marL="0" indent="0" algn="ctr">
              <a:buNone/>
            </a:pPr>
            <a:r>
              <a:rPr lang="en-US" sz="940" dirty="0">
                <a:solidFill>
                  <a:srgbClr val="334155"/>
                </a:solidFill>
                <a:latin typeface="Aptos" pitchFamily="34" charset="0"/>
                <a:ea typeface="Aptos" pitchFamily="34" charset="-122"/>
                <a:cs typeface="Aptos" pitchFamily="34" charset="-120"/>
              </a:rPr>
              <a:t>Reliability and troubleshooting</a:t>
            </a:r>
            <a:endParaRPr lang="en-US" sz="940" dirty="0"/>
          </a:p>
        </p:txBody>
      </p:sp>
      <p:sp>
        <p:nvSpPr>
          <p:cNvPr id="27" name="Text 25"/>
          <p:cNvSpPr/>
          <p:nvPr/>
        </p:nvSpPr>
        <p:spPr>
          <a:xfrm>
            <a:off x="5276088" y="4206240"/>
            <a:ext cx="1600200" cy="384048"/>
          </a:xfrm>
          <a:prstGeom prst="rect">
            <a:avLst/>
          </a:prstGeom>
          <a:noFill/>
          <a:ln/>
        </p:spPr>
        <p:txBody>
          <a:bodyPr wrap="square" lIns="127" tIns="127" rIns="127" bIns="127" rtlCol="0" anchor="ctr">
            <a:normAutofit/>
          </a:bodyPr>
          <a:lstStyle/>
          <a:p>
            <a:pPr marL="0" indent="0" algn="ctr">
              <a:buNone/>
            </a:pPr>
            <a:r>
              <a:rPr lang="en-US" sz="920" b="1" dirty="0">
                <a:solidFill>
                  <a:srgbClr val="111827"/>
                </a:solidFill>
                <a:latin typeface="Aptos" pitchFamily="34" charset="0"/>
                <a:ea typeface="Aptos" pitchFamily="34" charset="-122"/>
                <a:cs typeface="Aptos" pitchFamily="34" charset="-120"/>
              </a:rPr>
              <a:t>Message: diagnostics + training + standard parts</a:t>
            </a:r>
            <a:endParaRPr lang="en-US" sz="920" dirty="0"/>
          </a:p>
        </p:txBody>
      </p:sp>
      <p:sp>
        <p:nvSpPr>
          <p:cNvPr id="28" name="Shape 26"/>
          <p:cNvSpPr/>
          <p:nvPr/>
        </p:nvSpPr>
        <p:spPr>
          <a:xfrm>
            <a:off x="7315200" y="2331720"/>
            <a:ext cx="2039112" cy="2788920"/>
          </a:xfrm>
          <a:prstGeom prst="roundRect">
            <a:avLst>
              <a:gd name="adj" fmla="val 5381"/>
            </a:avLst>
          </a:prstGeom>
          <a:solidFill>
            <a:srgbClr val="F3F4F6"/>
          </a:solidFill>
          <a:ln w="12700">
            <a:solidFill>
              <a:srgbClr val="CBD5E1"/>
            </a:solidFill>
            <a:prstDash val="solid"/>
          </a:ln>
        </p:spPr>
        <p:txBody>
          <a:bodyPr/>
          <a:lstStyle/>
          <a:p>
            <a:endParaRPr lang="en-US"/>
          </a:p>
        </p:txBody>
      </p:sp>
      <p:sp>
        <p:nvSpPr>
          <p:cNvPr id="31" name="Text 29"/>
          <p:cNvSpPr/>
          <p:nvPr/>
        </p:nvSpPr>
        <p:spPr>
          <a:xfrm>
            <a:off x="7498080" y="2926080"/>
            <a:ext cx="1636776" cy="347472"/>
          </a:xfrm>
          <a:prstGeom prst="rect">
            <a:avLst/>
          </a:prstGeom>
          <a:noFill/>
          <a:ln/>
        </p:spPr>
        <p:txBody>
          <a:bodyPr wrap="square" lIns="127" tIns="127" rIns="127" bIns="127" rtlCol="0" anchor="ctr">
            <a:normAutofit/>
          </a:bodyPr>
          <a:lstStyle/>
          <a:p>
            <a:pPr marL="0" indent="0" algn="ctr">
              <a:buNone/>
            </a:pPr>
            <a:r>
              <a:rPr lang="en-US" sz="1580" b="1" dirty="0">
                <a:solidFill>
                  <a:srgbClr val="111827"/>
                </a:solidFill>
                <a:latin typeface="Aptos Display" pitchFamily="34" charset="0"/>
                <a:ea typeface="Aptos Display" pitchFamily="34" charset="-122"/>
                <a:cs typeface="Aptos Display" pitchFamily="34" charset="-120"/>
              </a:rPr>
              <a:t>Safety</a:t>
            </a:r>
            <a:endParaRPr lang="en-US" sz="1580" dirty="0"/>
          </a:p>
        </p:txBody>
      </p:sp>
      <p:sp>
        <p:nvSpPr>
          <p:cNvPr id="32" name="Shape 30"/>
          <p:cNvSpPr/>
          <p:nvPr/>
        </p:nvSpPr>
        <p:spPr>
          <a:xfrm>
            <a:off x="7552944" y="3410712"/>
            <a:ext cx="1527048" cy="0"/>
          </a:xfrm>
          <a:prstGeom prst="line">
            <a:avLst/>
          </a:prstGeom>
          <a:noFill/>
          <a:ln w="10160">
            <a:solidFill>
              <a:srgbClr val="CBD5E1"/>
            </a:solidFill>
            <a:prstDash val="solid"/>
          </a:ln>
        </p:spPr>
        <p:txBody>
          <a:bodyPr/>
          <a:lstStyle/>
          <a:p>
            <a:endParaRPr lang="en-US"/>
          </a:p>
        </p:txBody>
      </p:sp>
      <p:sp>
        <p:nvSpPr>
          <p:cNvPr id="33" name="Text 31"/>
          <p:cNvSpPr/>
          <p:nvPr/>
        </p:nvSpPr>
        <p:spPr>
          <a:xfrm>
            <a:off x="7516368" y="3639312"/>
            <a:ext cx="1600200" cy="420624"/>
          </a:xfrm>
          <a:prstGeom prst="rect">
            <a:avLst/>
          </a:prstGeom>
          <a:noFill/>
          <a:ln/>
        </p:spPr>
        <p:txBody>
          <a:bodyPr wrap="square" lIns="127" tIns="127" rIns="127" bIns="127" rtlCol="0" anchor="ctr">
            <a:normAutofit/>
          </a:bodyPr>
          <a:lstStyle/>
          <a:p>
            <a:pPr marL="0" indent="0" algn="ctr">
              <a:buNone/>
            </a:pPr>
            <a:r>
              <a:rPr lang="en-US" sz="940" dirty="0">
                <a:solidFill>
                  <a:srgbClr val="334155"/>
                </a:solidFill>
                <a:latin typeface="Aptos" pitchFamily="34" charset="0"/>
                <a:ea typeface="Aptos" pitchFamily="34" charset="-122"/>
                <a:cs typeface="Aptos" pitchFamily="34" charset="-120"/>
              </a:rPr>
              <a:t>Hazards and validation</a:t>
            </a:r>
            <a:endParaRPr lang="en-US" sz="940" dirty="0"/>
          </a:p>
        </p:txBody>
      </p:sp>
      <p:sp>
        <p:nvSpPr>
          <p:cNvPr id="34" name="Text 32"/>
          <p:cNvSpPr/>
          <p:nvPr/>
        </p:nvSpPr>
        <p:spPr>
          <a:xfrm>
            <a:off x="7516368" y="4206240"/>
            <a:ext cx="1600200" cy="384048"/>
          </a:xfrm>
          <a:prstGeom prst="rect">
            <a:avLst/>
          </a:prstGeom>
          <a:noFill/>
          <a:ln/>
        </p:spPr>
        <p:txBody>
          <a:bodyPr wrap="square" lIns="127" tIns="127" rIns="127" bIns="127" rtlCol="0" anchor="ctr">
            <a:normAutofit/>
          </a:bodyPr>
          <a:lstStyle/>
          <a:p>
            <a:pPr marL="0" indent="0" algn="ctr">
              <a:buNone/>
            </a:pPr>
            <a:r>
              <a:rPr lang="en-US" sz="920" b="1" dirty="0">
                <a:solidFill>
                  <a:srgbClr val="111827"/>
                </a:solidFill>
                <a:latin typeface="Aptos" pitchFamily="34" charset="0"/>
                <a:ea typeface="Aptos" pitchFamily="34" charset="-122"/>
                <a:cs typeface="Aptos" pitchFamily="34" charset="-120"/>
              </a:rPr>
              <a:t>Message: risk assessment + operating modes</a:t>
            </a:r>
            <a:endParaRPr lang="en-US" sz="920" dirty="0"/>
          </a:p>
        </p:txBody>
      </p:sp>
      <p:sp>
        <p:nvSpPr>
          <p:cNvPr id="35" name="Shape 33"/>
          <p:cNvSpPr/>
          <p:nvPr/>
        </p:nvSpPr>
        <p:spPr>
          <a:xfrm>
            <a:off x="9555480" y="2331720"/>
            <a:ext cx="2039112" cy="2788920"/>
          </a:xfrm>
          <a:prstGeom prst="roundRect">
            <a:avLst>
              <a:gd name="adj" fmla="val 5381"/>
            </a:avLst>
          </a:prstGeom>
          <a:solidFill>
            <a:srgbClr val="F3F4F6"/>
          </a:solidFill>
          <a:ln w="12700">
            <a:solidFill>
              <a:srgbClr val="CBD5E1"/>
            </a:solidFill>
            <a:prstDash val="solid"/>
          </a:ln>
        </p:spPr>
        <p:txBody>
          <a:bodyPr/>
          <a:lstStyle/>
          <a:p>
            <a:endParaRPr lang="en-US"/>
          </a:p>
        </p:txBody>
      </p:sp>
      <p:sp>
        <p:nvSpPr>
          <p:cNvPr id="38" name="Text 36"/>
          <p:cNvSpPr/>
          <p:nvPr/>
        </p:nvSpPr>
        <p:spPr>
          <a:xfrm>
            <a:off x="9738360" y="2926080"/>
            <a:ext cx="1636776" cy="347472"/>
          </a:xfrm>
          <a:prstGeom prst="rect">
            <a:avLst/>
          </a:prstGeom>
          <a:noFill/>
          <a:ln/>
        </p:spPr>
        <p:txBody>
          <a:bodyPr wrap="square" lIns="127" tIns="127" rIns="127" bIns="127" rtlCol="0" anchor="ctr">
            <a:normAutofit/>
          </a:bodyPr>
          <a:lstStyle/>
          <a:p>
            <a:pPr marL="0" indent="0" algn="ctr">
              <a:buNone/>
            </a:pPr>
            <a:r>
              <a:rPr lang="en-US" sz="1580" b="1" dirty="0">
                <a:solidFill>
                  <a:srgbClr val="111827"/>
                </a:solidFill>
                <a:latin typeface="Aptos Display" pitchFamily="34" charset="0"/>
                <a:ea typeface="Aptos Display" pitchFamily="34" charset="-122"/>
                <a:cs typeface="Aptos Display" pitchFamily="34" charset="-120"/>
              </a:rPr>
              <a:t>Finance</a:t>
            </a:r>
            <a:endParaRPr lang="en-US" sz="1580" dirty="0"/>
          </a:p>
        </p:txBody>
      </p:sp>
      <p:sp>
        <p:nvSpPr>
          <p:cNvPr id="39" name="Shape 37"/>
          <p:cNvSpPr/>
          <p:nvPr/>
        </p:nvSpPr>
        <p:spPr>
          <a:xfrm>
            <a:off x="9793224" y="3410712"/>
            <a:ext cx="1527048" cy="0"/>
          </a:xfrm>
          <a:prstGeom prst="line">
            <a:avLst/>
          </a:prstGeom>
          <a:noFill/>
          <a:ln w="10160">
            <a:solidFill>
              <a:srgbClr val="CBD5E1"/>
            </a:solidFill>
            <a:prstDash val="solid"/>
          </a:ln>
        </p:spPr>
        <p:txBody>
          <a:bodyPr/>
          <a:lstStyle/>
          <a:p>
            <a:endParaRPr lang="en-US"/>
          </a:p>
        </p:txBody>
      </p:sp>
      <p:sp>
        <p:nvSpPr>
          <p:cNvPr id="40" name="Text 38"/>
          <p:cNvSpPr/>
          <p:nvPr/>
        </p:nvSpPr>
        <p:spPr>
          <a:xfrm>
            <a:off x="9756648" y="3639312"/>
            <a:ext cx="1600200" cy="420624"/>
          </a:xfrm>
          <a:prstGeom prst="rect">
            <a:avLst/>
          </a:prstGeom>
          <a:noFill/>
          <a:ln/>
        </p:spPr>
        <p:txBody>
          <a:bodyPr wrap="square" lIns="127" tIns="127" rIns="127" bIns="127" rtlCol="0" anchor="ctr">
            <a:normAutofit/>
          </a:bodyPr>
          <a:lstStyle/>
          <a:p>
            <a:pPr marL="0" indent="0" algn="ctr">
              <a:buNone/>
            </a:pPr>
            <a:r>
              <a:rPr lang="en-US" sz="940" dirty="0">
                <a:solidFill>
                  <a:srgbClr val="334155"/>
                </a:solidFill>
                <a:latin typeface="Aptos" pitchFamily="34" charset="0"/>
                <a:ea typeface="Aptos" pitchFamily="34" charset="-122"/>
                <a:cs typeface="Aptos" pitchFamily="34" charset="-120"/>
              </a:rPr>
              <a:t>Payback and uncertainty</a:t>
            </a:r>
            <a:endParaRPr lang="en-US" sz="940" dirty="0"/>
          </a:p>
        </p:txBody>
      </p:sp>
      <p:sp>
        <p:nvSpPr>
          <p:cNvPr id="41" name="Text 39"/>
          <p:cNvSpPr/>
          <p:nvPr/>
        </p:nvSpPr>
        <p:spPr>
          <a:xfrm>
            <a:off x="9756648" y="4206240"/>
            <a:ext cx="1600200" cy="384048"/>
          </a:xfrm>
          <a:prstGeom prst="rect">
            <a:avLst/>
          </a:prstGeom>
          <a:noFill/>
          <a:ln/>
        </p:spPr>
        <p:txBody>
          <a:bodyPr wrap="square" lIns="127" tIns="127" rIns="127" bIns="127" rtlCol="0" anchor="ctr">
            <a:normAutofit/>
          </a:bodyPr>
          <a:lstStyle/>
          <a:p>
            <a:pPr marL="0" indent="0" algn="ctr">
              <a:buNone/>
            </a:pPr>
            <a:r>
              <a:rPr lang="en-US" sz="920" b="1" dirty="0">
                <a:solidFill>
                  <a:srgbClr val="111827"/>
                </a:solidFill>
                <a:latin typeface="Aptos" pitchFamily="34" charset="0"/>
                <a:ea typeface="Aptos" pitchFamily="34" charset="-122"/>
                <a:cs typeface="Aptos" pitchFamily="34" charset="-120"/>
              </a:rPr>
              <a:t>Message: ranges + assumptions + milestones</a:t>
            </a:r>
            <a:endParaRPr lang="en-US" sz="920" dirty="0"/>
          </a:p>
        </p:txBody>
      </p:sp>
      <p:sp>
        <p:nvSpPr>
          <p:cNvPr id="42" name="Text 40"/>
          <p:cNvSpPr/>
          <p:nvPr/>
        </p:nvSpPr>
        <p:spPr>
          <a:xfrm>
            <a:off x="1143000" y="5742432"/>
            <a:ext cx="9921240" cy="274320"/>
          </a:xfrm>
          <a:prstGeom prst="rect">
            <a:avLst/>
          </a:prstGeom>
          <a:noFill/>
          <a:ln/>
        </p:spPr>
        <p:txBody>
          <a:bodyPr wrap="square" lIns="127" tIns="127" rIns="127" bIns="127" rtlCol="0" anchor="ctr"/>
          <a:lstStyle/>
          <a:p>
            <a:pPr marL="0" indent="0" algn="ctr">
              <a:buNone/>
            </a:pPr>
            <a:r>
              <a:rPr lang="en-US" sz="1280" dirty="0">
                <a:solidFill>
                  <a:srgbClr val="334155"/>
                </a:solidFill>
                <a:latin typeface="Aptos" pitchFamily="34" charset="0"/>
                <a:ea typeface="Aptos" pitchFamily="34" charset="-122"/>
                <a:cs typeface="Aptos" pitchFamily="34" charset="-120"/>
              </a:rPr>
              <a:t>Facilitator cue: ask which stakeholder would object first if the seller only talks about robot price and payload.</a:t>
            </a:r>
            <a:endParaRPr lang="en-US" sz="1280" dirty="0"/>
          </a:p>
        </p:txBody>
      </p:sp>
      <p:sp>
        <p:nvSpPr>
          <p:cNvPr id="43" name="Shape 41"/>
          <p:cNvSpPr/>
          <p:nvPr/>
        </p:nvSpPr>
        <p:spPr>
          <a:xfrm>
            <a:off x="502920" y="6473952"/>
            <a:ext cx="11155680" cy="0"/>
          </a:xfrm>
          <a:prstGeom prst="line">
            <a:avLst/>
          </a:prstGeom>
          <a:noFill/>
          <a:ln w="9525">
            <a:solidFill>
              <a:srgbClr val="334155">
                <a:alpha val="30000"/>
              </a:srgbClr>
            </a:solidFill>
            <a:prstDash val="solid"/>
          </a:ln>
        </p:spPr>
        <p:txBody>
          <a:bodyPr/>
          <a:lstStyle/>
          <a:p>
            <a:endParaRPr lang="en-US"/>
          </a:p>
        </p:txBody>
      </p:sp>
      <p:sp>
        <p:nvSpPr>
          <p:cNvPr id="44" name="Text 42"/>
          <p:cNvSpPr/>
          <p:nvPr/>
        </p:nvSpPr>
        <p:spPr>
          <a:xfrm>
            <a:off x="502920" y="6565392"/>
            <a:ext cx="5029200" cy="146304"/>
          </a:xfrm>
          <a:prstGeom prst="rect">
            <a:avLst/>
          </a:prstGeom>
          <a:noFill/>
          <a:ln/>
        </p:spPr>
        <p:txBody>
          <a:bodyPr wrap="square" rtlCol="0" anchor="ctr"/>
          <a:lstStyle/>
          <a:p>
            <a:pPr marL="0" indent="0">
              <a:buNone/>
            </a:pPr>
            <a:r>
              <a:rPr lang="en-US" sz="750" dirty="0">
                <a:solidFill>
                  <a:srgbClr val="334155"/>
                </a:solidFill>
                <a:latin typeface="Aptos" pitchFamily="34" charset="0"/>
                <a:ea typeface="Aptos" pitchFamily="34" charset="-122"/>
                <a:cs typeface="Aptos" pitchFamily="34" charset="-120"/>
              </a:rPr>
              <a:t>Beyond the Robot</a:t>
            </a:r>
            <a:endParaRPr lang="en-US" sz="750" dirty="0"/>
          </a:p>
        </p:txBody>
      </p:sp>
      <p:sp>
        <p:nvSpPr>
          <p:cNvPr id="45" name="Text 43"/>
          <p:cNvSpPr/>
          <p:nvPr/>
        </p:nvSpPr>
        <p:spPr>
          <a:xfrm>
            <a:off x="11018520" y="6565392"/>
            <a:ext cx="640080" cy="146304"/>
          </a:xfrm>
          <a:prstGeom prst="rect">
            <a:avLst/>
          </a:prstGeom>
          <a:noFill/>
          <a:ln/>
        </p:spPr>
        <p:txBody>
          <a:bodyPr wrap="square" rtlCol="0" anchor="ctr"/>
          <a:lstStyle/>
          <a:p>
            <a:pPr marL="0" indent="0" algn="r">
              <a:buNone/>
            </a:pPr>
            <a:r>
              <a:rPr lang="en-US" sz="750" dirty="0">
                <a:solidFill>
                  <a:srgbClr val="334155"/>
                </a:solidFill>
                <a:latin typeface="Aptos" pitchFamily="34" charset="0"/>
                <a:ea typeface="Aptos" pitchFamily="34" charset="-122"/>
                <a:cs typeface="Aptos" pitchFamily="34" charset="-120"/>
              </a:rPr>
              <a:t>13</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8046720" cy="402336"/>
          </a:xfrm>
          <a:prstGeom prst="rect">
            <a:avLst/>
          </a:prstGeom>
          <a:noFill/>
          <a:ln/>
        </p:spPr>
        <p:txBody>
          <a:bodyPr wrap="square" lIns="254" tIns="254" rIns="254" bIns="254" rtlCol="0" anchor="ctr">
            <a:normAutofit/>
          </a:bodyPr>
          <a:lstStyle/>
          <a:p>
            <a:pPr marL="0" indent="0">
              <a:buNone/>
            </a:pPr>
            <a:r>
              <a:rPr lang="en-US" sz="2700" b="1" dirty="0">
                <a:solidFill>
                  <a:srgbClr val="111827"/>
                </a:solidFill>
                <a:latin typeface="Aptos Display" pitchFamily="34" charset="0"/>
                <a:ea typeface="Aptos Display" pitchFamily="34" charset="-122"/>
                <a:cs typeface="Aptos Display" pitchFamily="34" charset="-120"/>
              </a:rPr>
              <a:t>Stage 5: Advance</a:t>
            </a:r>
            <a:endParaRPr lang="en-US" sz="2700" dirty="0"/>
          </a:p>
        </p:txBody>
      </p:sp>
      <p:sp>
        <p:nvSpPr>
          <p:cNvPr id="3" name="Text 1"/>
          <p:cNvSpPr/>
          <p:nvPr/>
        </p:nvSpPr>
        <p:spPr>
          <a:xfrm>
            <a:off x="585216" y="804672"/>
            <a:ext cx="8046720" cy="219456"/>
          </a:xfrm>
          <a:prstGeom prst="rect">
            <a:avLst/>
          </a:prstGeom>
          <a:noFill/>
          <a:ln/>
        </p:spPr>
        <p:txBody>
          <a:bodyPr wrap="square" lIns="127" tIns="127" rIns="127" bIns="127" rtlCol="0" anchor="ctr"/>
          <a:lstStyle/>
          <a:p>
            <a:pPr marL="0" indent="0">
              <a:buNone/>
            </a:pPr>
            <a:r>
              <a:rPr lang="en-US" sz="1150" dirty="0">
                <a:solidFill>
                  <a:srgbClr val="334155"/>
                </a:solidFill>
                <a:latin typeface="Aptos" pitchFamily="34" charset="0"/>
                <a:ea typeface="Aptos" pitchFamily="34" charset="-122"/>
                <a:cs typeface="Aptos" pitchFamily="34" charset="-120"/>
              </a:rPr>
              <a:t>Taking control means guiding the customer toward the next useful decision.</a:t>
            </a:r>
            <a:endParaRPr lang="en-US" sz="1150" dirty="0"/>
          </a:p>
        </p:txBody>
      </p:sp>
      <p:sp>
        <p:nvSpPr>
          <p:cNvPr id="4" name="Shape 2"/>
          <p:cNvSpPr/>
          <p:nvPr/>
        </p:nvSpPr>
        <p:spPr>
          <a:xfrm>
            <a:off x="566928" y="1078992"/>
            <a:ext cx="640080" cy="54864"/>
          </a:xfrm>
          <a:prstGeom prst="rect">
            <a:avLst/>
          </a:prstGeom>
          <a:solidFill>
            <a:srgbClr val="F97316"/>
          </a:solidFill>
          <a:ln w="12700">
            <a:solidFill>
              <a:srgbClr val="F97316"/>
            </a:solidFill>
            <a:prstDash val="solid"/>
          </a:ln>
        </p:spPr>
        <p:txBody>
          <a:bodyPr/>
          <a:lstStyle/>
          <a:p>
            <a:endParaRPr lang="en-US"/>
          </a:p>
        </p:txBody>
      </p:sp>
      <p:sp>
        <p:nvSpPr>
          <p:cNvPr id="5" name="Shape 3"/>
          <p:cNvSpPr/>
          <p:nvPr/>
        </p:nvSpPr>
        <p:spPr>
          <a:xfrm>
            <a:off x="1746504" y="2470903"/>
            <a:ext cx="8705088" cy="0"/>
          </a:xfrm>
          <a:prstGeom prst="line">
            <a:avLst/>
          </a:prstGeom>
          <a:noFill/>
          <a:ln w="15240">
            <a:solidFill>
              <a:srgbClr val="CBD5E1"/>
            </a:solidFill>
            <a:prstDash val="solid"/>
          </a:ln>
        </p:spPr>
        <p:txBody>
          <a:bodyPr/>
          <a:lstStyle/>
          <a:p>
            <a:endParaRPr lang="en-US"/>
          </a:p>
        </p:txBody>
      </p:sp>
      <p:sp>
        <p:nvSpPr>
          <p:cNvPr id="6" name="Text 4"/>
          <p:cNvSpPr/>
          <p:nvPr/>
        </p:nvSpPr>
        <p:spPr>
          <a:xfrm>
            <a:off x="1517904" y="2212848"/>
            <a:ext cx="457200" cy="457200"/>
          </a:xfrm>
          <a:prstGeom prst="rect">
            <a:avLst/>
          </a:prstGeom>
          <a:solidFill>
            <a:srgbClr val="0F172A"/>
          </a:solidFill>
          <a:ln>
            <a:solidFill>
              <a:srgbClr val="0F172A"/>
            </a:solidFill>
          </a:ln>
        </p:spPr>
        <p:txBody>
          <a:bodyPr wrap="square" lIns="127" tIns="127" rIns="127" bIns="127" rtlCol="0" anchor="ctr"/>
          <a:lstStyle/>
          <a:p>
            <a:pPr marL="0" indent="0" algn="ctr">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7" name="Text 5"/>
          <p:cNvSpPr/>
          <p:nvPr/>
        </p:nvSpPr>
        <p:spPr>
          <a:xfrm>
            <a:off x="731520" y="2944368"/>
            <a:ext cx="2029968" cy="274320"/>
          </a:xfrm>
          <a:prstGeom prst="rect">
            <a:avLst/>
          </a:prstGeom>
          <a:noFill/>
          <a:ln/>
        </p:spPr>
        <p:txBody>
          <a:bodyPr wrap="square" lIns="127" tIns="127" rIns="127" bIns="127" rtlCol="0" anchor="ctr">
            <a:normAutofit/>
          </a:bodyPr>
          <a:lstStyle/>
          <a:p>
            <a:pPr marL="0" indent="0" algn="ctr">
              <a:buNone/>
            </a:pPr>
            <a:r>
              <a:rPr lang="en-US" sz="1320" b="1" dirty="0">
                <a:solidFill>
                  <a:srgbClr val="111827"/>
                </a:solidFill>
                <a:latin typeface="Aptos" pitchFamily="34" charset="0"/>
                <a:ea typeface="Aptos" pitchFamily="34" charset="-122"/>
                <a:cs typeface="Aptos" pitchFamily="34" charset="-120"/>
              </a:rPr>
              <a:t>Discovery call</a:t>
            </a:r>
            <a:endParaRPr lang="en-US" sz="1320" dirty="0"/>
          </a:p>
        </p:txBody>
      </p:sp>
      <p:sp>
        <p:nvSpPr>
          <p:cNvPr id="8" name="Text 6"/>
          <p:cNvSpPr/>
          <p:nvPr/>
        </p:nvSpPr>
        <p:spPr>
          <a:xfrm>
            <a:off x="731520" y="3291840"/>
            <a:ext cx="2029968" cy="310896"/>
          </a:xfrm>
          <a:prstGeom prst="rect">
            <a:avLst/>
          </a:prstGeom>
          <a:noFill/>
          <a:ln/>
        </p:spPr>
        <p:txBody>
          <a:bodyPr wrap="square" lIns="127" tIns="127" rIns="127" bIns="127" rtlCol="0" anchor="ctr">
            <a:normAutofit/>
          </a:bodyPr>
          <a:lstStyle/>
          <a:p>
            <a:pPr marL="0" indent="0" algn="ctr">
              <a:buNone/>
            </a:pPr>
            <a:r>
              <a:rPr lang="en-US" sz="1020" dirty="0">
                <a:solidFill>
                  <a:srgbClr val="334155"/>
                </a:solidFill>
                <a:latin typeface="Aptos" pitchFamily="34" charset="0"/>
                <a:ea typeface="Aptos" pitchFamily="34" charset="-122"/>
                <a:cs typeface="Aptos" pitchFamily="34" charset="-120"/>
              </a:rPr>
              <a:t>align on problem</a:t>
            </a:r>
            <a:endParaRPr lang="en-US" sz="1020" dirty="0"/>
          </a:p>
        </p:txBody>
      </p:sp>
      <p:sp>
        <p:nvSpPr>
          <p:cNvPr id="9" name="Text 7"/>
          <p:cNvSpPr/>
          <p:nvPr/>
        </p:nvSpPr>
        <p:spPr>
          <a:xfrm>
            <a:off x="3694176" y="2212848"/>
            <a:ext cx="457200" cy="457200"/>
          </a:xfrm>
          <a:prstGeom prst="rect">
            <a:avLst/>
          </a:prstGeom>
          <a:solidFill>
            <a:srgbClr val="0F172A"/>
          </a:solidFill>
          <a:ln>
            <a:solidFill>
              <a:srgbClr val="0F172A"/>
            </a:solidFill>
          </a:ln>
        </p:spPr>
        <p:txBody>
          <a:bodyPr wrap="square" lIns="127" tIns="127" rIns="127" bIns="127" rtlCol="0" anchor="ctr"/>
          <a:lstStyle/>
          <a:p>
            <a:pPr marL="0" indent="0" algn="ctr">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0" name="Text 8"/>
          <p:cNvSpPr/>
          <p:nvPr/>
        </p:nvSpPr>
        <p:spPr>
          <a:xfrm>
            <a:off x="2907792" y="2944368"/>
            <a:ext cx="2029968" cy="274320"/>
          </a:xfrm>
          <a:prstGeom prst="rect">
            <a:avLst/>
          </a:prstGeom>
          <a:noFill/>
          <a:ln/>
        </p:spPr>
        <p:txBody>
          <a:bodyPr wrap="square" lIns="127" tIns="127" rIns="127" bIns="127" rtlCol="0" anchor="ctr">
            <a:normAutofit/>
          </a:bodyPr>
          <a:lstStyle/>
          <a:p>
            <a:pPr marL="0" indent="0" algn="ctr">
              <a:buNone/>
            </a:pPr>
            <a:r>
              <a:rPr lang="en-US" sz="1320" b="1" dirty="0">
                <a:solidFill>
                  <a:srgbClr val="111827"/>
                </a:solidFill>
                <a:latin typeface="Aptos" pitchFamily="34" charset="0"/>
                <a:ea typeface="Aptos" pitchFamily="34" charset="-122"/>
                <a:cs typeface="Aptos" pitchFamily="34" charset="-120"/>
              </a:rPr>
              <a:t>Application review</a:t>
            </a:r>
            <a:endParaRPr lang="en-US" sz="1320" dirty="0"/>
          </a:p>
        </p:txBody>
      </p:sp>
      <p:sp>
        <p:nvSpPr>
          <p:cNvPr id="11" name="Text 9"/>
          <p:cNvSpPr/>
          <p:nvPr/>
        </p:nvSpPr>
        <p:spPr>
          <a:xfrm>
            <a:off x="2907792" y="3291840"/>
            <a:ext cx="2029968" cy="310896"/>
          </a:xfrm>
          <a:prstGeom prst="rect">
            <a:avLst/>
          </a:prstGeom>
          <a:noFill/>
          <a:ln/>
        </p:spPr>
        <p:txBody>
          <a:bodyPr wrap="square" lIns="127" tIns="127" rIns="127" bIns="127" rtlCol="0" anchor="ctr">
            <a:normAutofit/>
          </a:bodyPr>
          <a:lstStyle/>
          <a:p>
            <a:pPr marL="0" indent="0" algn="ctr">
              <a:buNone/>
            </a:pPr>
            <a:r>
              <a:rPr lang="en-US" sz="1020" dirty="0">
                <a:solidFill>
                  <a:srgbClr val="334155"/>
                </a:solidFill>
                <a:latin typeface="Aptos" pitchFamily="34" charset="0"/>
                <a:ea typeface="Aptos" pitchFamily="34" charset="-122"/>
                <a:cs typeface="Aptos" pitchFamily="34" charset="-120"/>
              </a:rPr>
              <a:t>validate process data</a:t>
            </a:r>
            <a:endParaRPr lang="en-US" sz="1020" dirty="0"/>
          </a:p>
        </p:txBody>
      </p:sp>
      <p:sp>
        <p:nvSpPr>
          <p:cNvPr id="12" name="Text 10"/>
          <p:cNvSpPr/>
          <p:nvPr/>
        </p:nvSpPr>
        <p:spPr>
          <a:xfrm>
            <a:off x="5870448" y="2212848"/>
            <a:ext cx="457200" cy="457200"/>
          </a:xfrm>
          <a:prstGeom prst="rect">
            <a:avLst/>
          </a:prstGeom>
          <a:solidFill>
            <a:srgbClr val="0F172A"/>
          </a:solidFill>
          <a:ln>
            <a:solidFill>
              <a:srgbClr val="0F172A"/>
            </a:solidFill>
          </a:ln>
        </p:spPr>
        <p:txBody>
          <a:bodyPr wrap="square" lIns="127" tIns="127" rIns="127" bIns="127" rtlCol="0" anchor="ctr"/>
          <a:lstStyle/>
          <a:p>
            <a:pPr marL="0" indent="0" algn="ctr">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13" name="Text 11"/>
          <p:cNvSpPr/>
          <p:nvPr/>
        </p:nvSpPr>
        <p:spPr>
          <a:xfrm>
            <a:off x="5084064" y="2944368"/>
            <a:ext cx="2029968" cy="274320"/>
          </a:xfrm>
          <a:prstGeom prst="rect">
            <a:avLst/>
          </a:prstGeom>
          <a:noFill/>
          <a:ln/>
        </p:spPr>
        <p:txBody>
          <a:bodyPr wrap="square" lIns="127" tIns="127" rIns="127" bIns="127" rtlCol="0" anchor="ctr">
            <a:normAutofit/>
          </a:bodyPr>
          <a:lstStyle/>
          <a:p>
            <a:pPr marL="0" indent="0" algn="ctr">
              <a:buNone/>
            </a:pPr>
            <a:r>
              <a:rPr lang="en-US" sz="1320" b="1" dirty="0">
                <a:solidFill>
                  <a:srgbClr val="111827"/>
                </a:solidFill>
                <a:latin typeface="Aptos" pitchFamily="34" charset="0"/>
                <a:ea typeface="Aptos" pitchFamily="34" charset="-122"/>
                <a:cs typeface="Aptos" pitchFamily="34" charset="-120"/>
              </a:rPr>
              <a:t>Part testing</a:t>
            </a:r>
            <a:endParaRPr lang="en-US" sz="1320" dirty="0"/>
          </a:p>
        </p:txBody>
      </p:sp>
      <p:sp>
        <p:nvSpPr>
          <p:cNvPr id="14" name="Text 12"/>
          <p:cNvSpPr/>
          <p:nvPr/>
        </p:nvSpPr>
        <p:spPr>
          <a:xfrm>
            <a:off x="5084064" y="3291840"/>
            <a:ext cx="2029968" cy="310896"/>
          </a:xfrm>
          <a:prstGeom prst="rect">
            <a:avLst/>
          </a:prstGeom>
          <a:noFill/>
          <a:ln/>
        </p:spPr>
        <p:txBody>
          <a:bodyPr wrap="square" lIns="127" tIns="127" rIns="127" bIns="127" rtlCol="0" anchor="ctr">
            <a:normAutofit/>
          </a:bodyPr>
          <a:lstStyle/>
          <a:p>
            <a:pPr marL="0" indent="0" algn="ctr">
              <a:buNone/>
            </a:pPr>
            <a:r>
              <a:rPr lang="en-US" sz="1020" dirty="0">
                <a:solidFill>
                  <a:srgbClr val="334155"/>
                </a:solidFill>
                <a:latin typeface="Aptos" pitchFamily="34" charset="0"/>
                <a:ea typeface="Aptos" pitchFamily="34" charset="-122"/>
                <a:cs typeface="Aptos" pitchFamily="34" charset="-120"/>
              </a:rPr>
              <a:t>prove handling feasibility</a:t>
            </a:r>
            <a:endParaRPr lang="en-US" sz="1020" dirty="0"/>
          </a:p>
        </p:txBody>
      </p:sp>
      <p:sp>
        <p:nvSpPr>
          <p:cNvPr id="15" name="Text 13"/>
          <p:cNvSpPr/>
          <p:nvPr/>
        </p:nvSpPr>
        <p:spPr>
          <a:xfrm>
            <a:off x="8046720" y="2212848"/>
            <a:ext cx="457200" cy="457200"/>
          </a:xfrm>
          <a:prstGeom prst="rect">
            <a:avLst/>
          </a:prstGeom>
          <a:solidFill>
            <a:srgbClr val="0F172A"/>
          </a:solidFill>
          <a:ln>
            <a:solidFill>
              <a:srgbClr val="0F172A"/>
            </a:solidFill>
          </a:ln>
        </p:spPr>
        <p:txBody>
          <a:bodyPr wrap="square" lIns="127" tIns="127" rIns="127" bIns="127" rtlCol="0" anchor="ctr"/>
          <a:lstStyle/>
          <a:p>
            <a:pPr marL="0" indent="0" algn="ctr">
              <a:buNone/>
            </a:pPr>
            <a:r>
              <a:rPr lang="en-US" sz="1300" b="1" dirty="0">
                <a:solidFill>
                  <a:srgbClr val="FFFFFF"/>
                </a:solidFill>
                <a:latin typeface="Aptos" pitchFamily="34" charset="0"/>
                <a:ea typeface="Aptos" pitchFamily="34" charset="-122"/>
                <a:cs typeface="Aptos" pitchFamily="34" charset="-120"/>
              </a:rPr>
              <a:t>4</a:t>
            </a:r>
            <a:endParaRPr lang="en-US" sz="1300" dirty="0"/>
          </a:p>
        </p:txBody>
      </p:sp>
      <p:sp>
        <p:nvSpPr>
          <p:cNvPr id="16" name="Text 14"/>
          <p:cNvSpPr/>
          <p:nvPr/>
        </p:nvSpPr>
        <p:spPr>
          <a:xfrm>
            <a:off x="7260336" y="2944368"/>
            <a:ext cx="2029968" cy="274320"/>
          </a:xfrm>
          <a:prstGeom prst="rect">
            <a:avLst/>
          </a:prstGeom>
          <a:noFill/>
          <a:ln/>
        </p:spPr>
        <p:txBody>
          <a:bodyPr wrap="square" lIns="127" tIns="127" rIns="127" bIns="127" rtlCol="0" anchor="ctr">
            <a:normAutofit/>
          </a:bodyPr>
          <a:lstStyle/>
          <a:p>
            <a:pPr marL="0" indent="0" algn="ctr">
              <a:buNone/>
            </a:pPr>
            <a:r>
              <a:rPr lang="en-US" sz="1320" b="1" dirty="0">
                <a:solidFill>
                  <a:srgbClr val="111827"/>
                </a:solidFill>
                <a:latin typeface="Aptos" pitchFamily="34" charset="0"/>
                <a:ea typeface="Aptos" pitchFamily="34" charset="-122"/>
                <a:cs typeface="Aptos" pitchFamily="34" charset="-120"/>
              </a:rPr>
              <a:t>Risk assessment</a:t>
            </a:r>
            <a:endParaRPr lang="en-US" sz="1320" dirty="0"/>
          </a:p>
        </p:txBody>
      </p:sp>
      <p:sp>
        <p:nvSpPr>
          <p:cNvPr id="17" name="Text 15"/>
          <p:cNvSpPr/>
          <p:nvPr/>
        </p:nvSpPr>
        <p:spPr>
          <a:xfrm>
            <a:off x="7260336" y="3291840"/>
            <a:ext cx="2029968" cy="310896"/>
          </a:xfrm>
          <a:prstGeom prst="rect">
            <a:avLst/>
          </a:prstGeom>
          <a:noFill/>
          <a:ln/>
        </p:spPr>
        <p:txBody>
          <a:bodyPr wrap="square" lIns="127" tIns="127" rIns="127" bIns="127" rtlCol="0" anchor="ctr">
            <a:normAutofit/>
          </a:bodyPr>
          <a:lstStyle/>
          <a:p>
            <a:pPr marL="0" indent="0" algn="ctr">
              <a:buNone/>
            </a:pPr>
            <a:r>
              <a:rPr lang="en-US" sz="1020" dirty="0">
                <a:solidFill>
                  <a:srgbClr val="334155"/>
                </a:solidFill>
                <a:latin typeface="Aptos" pitchFamily="34" charset="0"/>
                <a:ea typeface="Aptos" pitchFamily="34" charset="-122"/>
                <a:cs typeface="Aptos" pitchFamily="34" charset="-120"/>
              </a:rPr>
              <a:t>define safety concept</a:t>
            </a:r>
            <a:endParaRPr lang="en-US" sz="1020" dirty="0"/>
          </a:p>
        </p:txBody>
      </p:sp>
      <p:sp>
        <p:nvSpPr>
          <p:cNvPr id="18" name="Text 16"/>
          <p:cNvSpPr/>
          <p:nvPr/>
        </p:nvSpPr>
        <p:spPr>
          <a:xfrm>
            <a:off x="10222992" y="2212848"/>
            <a:ext cx="457200" cy="457200"/>
          </a:xfrm>
          <a:prstGeom prst="rect">
            <a:avLst/>
          </a:prstGeom>
          <a:solidFill>
            <a:srgbClr val="0F172A"/>
          </a:solidFill>
          <a:ln>
            <a:solidFill>
              <a:srgbClr val="0F172A"/>
            </a:solidFill>
          </a:ln>
        </p:spPr>
        <p:txBody>
          <a:bodyPr wrap="square" lIns="127" tIns="127" rIns="127" bIns="127" rtlCol="0" anchor="ctr"/>
          <a:lstStyle/>
          <a:p>
            <a:pPr marL="0" indent="0" algn="ctr">
              <a:buNone/>
            </a:pPr>
            <a:r>
              <a:rPr lang="en-US" sz="1300" b="1" dirty="0">
                <a:solidFill>
                  <a:srgbClr val="FFFFFF"/>
                </a:solidFill>
                <a:latin typeface="Aptos" pitchFamily="34" charset="0"/>
                <a:ea typeface="Aptos" pitchFamily="34" charset="-122"/>
                <a:cs typeface="Aptos" pitchFamily="34" charset="-120"/>
              </a:rPr>
              <a:t>5</a:t>
            </a:r>
            <a:endParaRPr lang="en-US" sz="1300" dirty="0"/>
          </a:p>
        </p:txBody>
      </p:sp>
      <p:sp>
        <p:nvSpPr>
          <p:cNvPr id="19" name="Text 17"/>
          <p:cNvSpPr/>
          <p:nvPr/>
        </p:nvSpPr>
        <p:spPr>
          <a:xfrm>
            <a:off x="9436608" y="2944368"/>
            <a:ext cx="2029968" cy="274320"/>
          </a:xfrm>
          <a:prstGeom prst="rect">
            <a:avLst/>
          </a:prstGeom>
          <a:noFill/>
          <a:ln/>
        </p:spPr>
        <p:txBody>
          <a:bodyPr wrap="square" lIns="127" tIns="127" rIns="127" bIns="127" rtlCol="0" anchor="ctr">
            <a:normAutofit/>
          </a:bodyPr>
          <a:lstStyle/>
          <a:p>
            <a:pPr marL="0" indent="0" algn="ctr">
              <a:buNone/>
            </a:pPr>
            <a:r>
              <a:rPr lang="en-US" sz="1320" b="1" dirty="0">
                <a:solidFill>
                  <a:srgbClr val="111827"/>
                </a:solidFill>
                <a:latin typeface="Aptos" pitchFamily="34" charset="0"/>
                <a:ea typeface="Aptos" pitchFamily="34" charset="-122"/>
                <a:cs typeface="Aptos" pitchFamily="34" charset="-120"/>
              </a:rPr>
              <a:t>Proposal</a:t>
            </a:r>
            <a:endParaRPr lang="en-US" sz="1320" dirty="0"/>
          </a:p>
        </p:txBody>
      </p:sp>
      <p:sp>
        <p:nvSpPr>
          <p:cNvPr id="20" name="Text 18"/>
          <p:cNvSpPr/>
          <p:nvPr/>
        </p:nvSpPr>
        <p:spPr>
          <a:xfrm>
            <a:off x="9436608" y="3291840"/>
            <a:ext cx="2029968" cy="310896"/>
          </a:xfrm>
          <a:prstGeom prst="rect">
            <a:avLst/>
          </a:prstGeom>
          <a:noFill/>
          <a:ln/>
        </p:spPr>
        <p:txBody>
          <a:bodyPr wrap="square" lIns="127" tIns="127" rIns="127" bIns="127" rtlCol="0" anchor="ctr">
            <a:normAutofit/>
          </a:bodyPr>
          <a:lstStyle/>
          <a:p>
            <a:pPr marL="0" indent="0" algn="ctr">
              <a:buNone/>
            </a:pPr>
            <a:r>
              <a:rPr lang="en-US" sz="1020" dirty="0">
                <a:solidFill>
                  <a:srgbClr val="334155"/>
                </a:solidFill>
                <a:latin typeface="Aptos" pitchFamily="34" charset="0"/>
                <a:ea typeface="Aptos" pitchFamily="34" charset="-122"/>
                <a:cs typeface="Aptos" pitchFamily="34" charset="-120"/>
              </a:rPr>
              <a:t>scope the business case</a:t>
            </a:r>
            <a:endParaRPr lang="en-US" sz="1020" dirty="0"/>
          </a:p>
        </p:txBody>
      </p:sp>
      <p:sp>
        <p:nvSpPr>
          <p:cNvPr id="21" name="Shape 19"/>
          <p:cNvSpPr/>
          <p:nvPr/>
        </p:nvSpPr>
        <p:spPr>
          <a:xfrm>
            <a:off x="822960" y="4663440"/>
            <a:ext cx="4892040" cy="841248"/>
          </a:xfrm>
          <a:prstGeom prst="roundRect">
            <a:avLst>
              <a:gd name="adj" fmla="val 13043"/>
            </a:avLst>
          </a:prstGeom>
          <a:solidFill>
            <a:srgbClr val="FEF2F2"/>
          </a:solidFill>
          <a:ln w="12700">
            <a:solidFill>
              <a:srgbClr val="FCA5A5"/>
            </a:solidFill>
            <a:prstDash val="solid"/>
          </a:ln>
        </p:spPr>
        <p:txBody>
          <a:bodyPr/>
          <a:lstStyle/>
          <a:p>
            <a:endParaRPr lang="en-US"/>
          </a:p>
        </p:txBody>
      </p:sp>
      <p:sp>
        <p:nvSpPr>
          <p:cNvPr id="22" name="Text 20"/>
          <p:cNvSpPr/>
          <p:nvPr/>
        </p:nvSpPr>
        <p:spPr>
          <a:xfrm>
            <a:off x="1051560" y="4828032"/>
            <a:ext cx="1280160" cy="182880"/>
          </a:xfrm>
          <a:prstGeom prst="rect">
            <a:avLst/>
          </a:prstGeom>
          <a:noFill/>
          <a:ln/>
        </p:spPr>
        <p:txBody>
          <a:bodyPr wrap="square" lIns="127" tIns="127" rIns="127" bIns="127" rtlCol="0" anchor="ctr"/>
          <a:lstStyle/>
          <a:p>
            <a:pPr marL="0" indent="0">
              <a:buNone/>
            </a:pPr>
            <a:r>
              <a:rPr lang="en-US" sz="1250" b="1" dirty="0">
                <a:solidFill>
                  <a:srgbClr val="B91C1C"/>
                </a:solidFill>
                <a:latin typeface="Aptos" pitchFamily="34" charset="0"/>
                <a:ea typeface="Aptos" pitchFamily="34" charset="-122"/>
                <a:cs typeface="Aptos" pitchFamily="34" charset="-120"/>
              </a:rPr>
              <a:t>Weak close</a:t>
            </a:r>
            <a:endParaRPr lang="en-US" sz="1250" dirty="0"/>
          </a:p>
        </p:txBody>
      </p:sp>
      <p:sp>
        <p:nvSpPr>
          <p:cNvPr id="23" name="Text 21"/>
          <p:cNvSpPr/>
          <p:nvPr/>
        </p:nvSpPr>
        <p:spPr>
          <a:xfrm>
            <a:off x="1051560" y="5074920"/>
            <a:ext cx="4297680" cy="219456"/>
          </a:xfrm>
          <a:prstGeom prst="rect">
            <a:avLst/>
          </a:prstGeom>
          <a:noFill/>
          <a:ln/>
        </p:spPr>
        <p:txBody>
          <a:bodyPr wrap="square" lIns="127" tIns="127" rIns="127" bIns="127" rtlCol="0" anchor="ctr"/>
          <a:lstStyle/>
          <a:p>
            <a:pPr marL="0" indent="0">
              <a:buNone/>
            </a:pPr>
            <a:r>
              <a:rPr lang="en-US" sz="1350" dirty="0">
                <a:solidFill>
                  <a:srgbClr val="111827"/>
                </a:solidFill>
                <a:latin typeface="Aptos" pitchFamily="34" charset="0"/>
                <a:ea typeface="Aptos" pitchFamily="34" charset="-122"/>
                <a:cs typeface="Aptos" pitchFamily="34" charset="-120"/>
              </a:rPr>
              <a:t>“Should I send a proposal?”</a:t>
            </a:r>
            <a:endParaRPr lang="en-US" sz="1350" dirty="0"/>
          </a:p>
        </p:txBody>
      </p:sp>
      <p:sp>
        <p:nvSpPr>
          <p:cNvPr id="24" name="Shape 22"/>
          <p:cNvSpPr/>
          <p:nvPr/>
        </p:nvSpPr>
        <p:spPr>
          <a:xfrm>
            <a:off x="6492240" y="4663440"/>
            <a:ext cx="4892040" cy="841248"/>
          </a:xfrm>
          <a:prstGeom prst="roundRect">
            <a:avLst>
              <a:gd name="adj" fmla="val 13043"/>
            </a:avLst>
          </a:prstGeom>
          <a:solidFill>
            <a:srgbClr val="F3F4F6"/>
          </a:solidFill>
          <a:ln w="12700">
            <a:solidFill>
              <a:srgbClr val="CBD5E1"/>
            </a:solidFill>
            <a:prstDash val="solid"/>
          </a:ln>
        </p:spPr>
        <p:txBody>
          <a:bodyPr/>
          <a:lstStyle/>
          <a:p>
            <a:endParaRPr lang="en-US"/>
          </a:p>
        </p:txBody>
      </p:sp>
      <p:sp>
        <p:nvSpPr>
          <p:cNvPr id="25" name="Text 23"/>
          <p:cNvSpPr/>
          <p:nvPr/>
        </p:nvSpPr>
        <p:spPr>
          <a:xfrm>
            <a:off x="6720840" y="4828032"/>
            <a:ext cx="1600200" cy="182880"/>
          </a:xfrm>
          <a:prstGeom prst="rect">
            <a:avLst/>
          </a:prstGeom>
          <a:noFill/>
          <a:ln/>
        </p:spPr>
        <p:txBody>
          <a:bodyPr wrap="square" lIns="127" tIns="127" rIns="127" bIns="127" rtlCol="0" anchor="ctr"/>
          <a:lstStyle/>
          <a:p>
            <a:pPr marL="0" indent="0">
              <a:buNone/>
            </a:pPr>
            <a:r>
              <a:rPr lang="en-US" sz="1250" b="1" dirty="0">
                <a:solidFill>
                  <a:srgbClr val="111827"/>
                </a:solidFill>
                <a:latin typeface="Aptos" pitchFamily="34" charset="0"/>
                <a:ea typeface="Aptos" pitchFamily="34" charset="-122"/>
                <a:cs typeface="Aptos" pitchFamily="34" charset="-120"/>
              </a:rPr>
              <a:t>Strong advance</a:t>
            </a:r>
            <a:endParaRPr lang="en-US" sz="1250" dirty="0"/>
          </a:p>
        </p:txBody>
      </p:sp>
      <p:sp>
        <p:nvSpPr>
          <p:cNvPr id="26" name="Text 24"/>
          <p:cNvSpPr/>
          <p:nvPr/>
        </p:nvSpPr>
        <p:spPr>
          <a:xfrm>
            <a:off x="6720840" y="5047488"/>
            <a:ext cx="4297680" cy="292608"/>
          </a:xfrm>
          <a:prstGeom prst="rect">
            <a:avLst/>
          </a:prstGeom>
          <a:noFill/>
          <a:ln/>
        </p:spPr>
        <p:txBody>
          <a:bodyPr wrap="square" lIns="127" tIns="127" rIns="127" bIns="127" rtlCol="0" anchor="ctr">
            <a:normAutofit/>
          </a:bodyPr>
          <a:lstStyle/>
          <a:p>
            <a:pPr marL="0" indent="0">
              <a:buNone/>
            </a:pPr>
            <a:r>
              <a:rPr lang="en-US" sz="1240" dirty="0">
                <a:solidFill>
                  <a:srgbClr val="111827"/>
                </a:solidFill>
                <a:latin typeface="Aptos" pitchFamily="34" charset="0"/>
                <a:ea typeface="Aptos" pitchFamily="34" charset="-122"/>
                <a:cs typeface="Aptos" pitchFamily="34" charset="-120"/>
              </a:rPr>
              <a:t>“Let’s validate cycle time, part handling, changeover, and safety before selecting equipment.”</a:t>
            </a:r>
            <a:endParaRPr lang="en-US" sz="1240" dirty="0"/>
          </a:p>
        </p:txBody>
      </p:sp>
      <p:sp>
        <p:nvSpPr>
          <p:cNvPr id="27" name="Shape 25"/>
          <p:cNvSpPr/>
          <p:nvPr/>
        </p:nvSpPr>
        <p:spPr>
          <a:xfrm>
            <a:off x="502920" y="6473952"/>
            <a:ext cx="11155680" cy="0"/>
          </a:xfrm>
          <a:prstGeom prst="line">
            <a:avLst/>
          </a:prstGeom>
          <a:noFill/>
          <a:ln w="9525">
            <a:solidFill>
              <a:srgbClr val="334155">
                <a:alpha val="30000"/>
              </a:srgbClr>
            </a:solidFill>
            <a:prstDash val="solid"/>
          </a:ln>
        </p:spPr>
        <p:txBody>
          <a:bodyPr/>
          <a:lstStyle/>
          <a:p>
            <a:endParaRPr lang="en-US"/>
          </a:p>
        </p:txBody>
      </p:sp>
      <p:sp>
        <p:nvSpPr>
          <p:cNvPr id="28" name="Text 26"/>
          <p:cNvSpPr/>
          <p:nvPr/>
        </p:nvSpPr>
        <p:spPr>
          <a:xfrm>
            <a:off x="502920" y="6565392"/>
            <a:ext cx="5029200" cy="146304"/>
          </a:xfrm>
          <a:prstGeom prst="rect">
            <a:avLst/>
          </a:prstGeom>
          <a:noFill/>
          <a:ln/>
        </p:spPr>
        <p:txBody>
          <a:bodyPr wrap="square" rtlCol="0" anchor="ctr"/>
          <a:lstStyle/>
          <a:p>
            <a:pPr marL="0" indent="0">
              <a:buNone/>
            </a:pPr>
            <a:r>
              <a:rPr lang="en-US" sz="750" dirty="0">
                <a:solidFill>
                  <a:srgbClr val="334155"/>
                </a:solidFill>
                <a:latin typeface="Aptos" pitchFamily="34" charset="0"/>
                <a:ea typeface="Aptos" pitchFamily="34" charset="-122"/>
                <a:cs typeface="Aptos" pitchFamily="34" charset="-120"/>
              </a:rPr>
              <a:t>Advance the decision</a:t>
            </a:r>
            <a:endParaRPr lang="en-US" sz="750" dirty="0"/>
          </a:p>
        </p:txBody>
      </p:sp>
      <p:sp>
        <p:nvSpPr>
          <p:cNvPr id="29" name="Text 27"/>
          <p:cNvSpPr/>
          <p:nvPr/>
        </p:nvSpPr>
        <p:spPr>
          <a:xfrm>
            <a:off x="11018520" y="6565392"/>
            <a:ext cx="640080" cy="146304"/>
          </a:xfrm>
          <a:prstGeom prst="rect">
            <a:avLst/>
          </a:prstGeom>
          <a:noFill/>
          <a:ln/>
        </p:spPr>
        <p:txBody>
          <a:bodyPr wrap="square" rtlCol="0" anchor="ctr"/>
          <a:lstStyle/>
          <a:p>
            <a:pPr marL="0" indent="0" algn="r">
              <a:buNone/>
            </a:pPr>
            <a:r>
              <a:rPr lang="en-US" sz="750" dirty="0">
                <a:solidFill>
                  <a:srgbClr val="334155"/>
                </a:solidFill>
                <a:latin typeface="Aptos" pitchFamily="34" charset="0"/>
                <a:ea typeface="Aptos" pitchFamily="34" charset="-122"/>
                <a:cs typeface="Aptos" pitchFamily="34" charset="-120"/>
              </a:rPr>
              <a:t>14</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566928" y="329184"/>
            <a:ext cx="8046720" cy="402336"/>
          </a:xfrm>
          <a:prstGeom prst="rect">
            <a:avLst/>
          </a:prstGeom>
          <a:noFill/>
          <a:ln/>
        </p:spPr>
        <p:txBody>
          <a:bodyPr wrap="square" lIns="254" tIns="254" rIns="254" bIns="254" rtlCol="0" anchor="ctr">
            <a:normAutofit/>
          </a:bodyPr>
          <a:lstStyle/>
          <a:p>
            <a:pPr marL="0" indent="0">
              <a:buNone/>
            </a:pPr>
            <a:r>
              <a:rPr lang="en-US" sz="2700" b="1" dirty="0">
                <a:solidFill>
                  <a:srgbClr val="FFFFFF"/>
                </a:solidFill>
                <a:latin typeface="Aptos Display" pitchFamily="34" charset="0"/>
                <a:ea typeface="Aptos Display" pitchFamily="34" charset="-122"/>
                <a:cs typeface="Aptos Display" pitchFamily="34" charset="-120"/>
              </a:rPr>
              <a:t>Final application: respond to Northstar</a:t>
            </a:r>
            <a:endParaRPr lang="en-US" sz="2700" dirty="0"/>
          </a:p>
        </p:txBody>
      </p:sp>
      <p:sp>
        <p:nvSpPr>
          <p:cNvPr id="3" name="Text 1"/>
          <p:cNvSpPr/>
          <p:nvPr/>
        </p:nvSpPr>
        <p:spPr>
          <a:xfrm>
            <a:off x="585216" y="804672"/>
            <a:ext cx="8046720" cy="219456"/>
          </a:xfrm>
          <a:prstGeom prst="rect">
            <a:avLst/>
          </a:prstGeom>
          <a:noFill/>
          <a:ln/>
        </p:spPr>
        <p:txBody>
          <a:bodyPr wrap="square" lIns="127" tIns="127" rIns="127" bIns="127" rtlCol="0" anchor="ctr"/>
          <a:lstStyle/>
          <a:p>
            <a:pPr marL="0" indent="0">
              <a:buNone/>
            </a:pPr>
            <a:r>
              <a:rPr lang="en-US" sz="1150" dirty="0">
                <a:solidFill>
                  <a:srgbClr val="CBD5E1"/>
                </a:solidFill>
                <a:latin typeface="Aptos" pitchFamily="34" charset="0"/>
                <a:ea typeface="Aptos" pitchFamily="34" charset="-122"/>
                <a:cs typeface="Aptos" pitchFamily="34" charset="-120"/>
              </a:rPr>
              <a:t>Learners build a spoken or written response, then compare it to a model answer.</a:t>
            </a:r>
            <a:endParaRPr lang="en-US" sz="1150" dirty="0"/>
          </a:p>
        </p:txBody>
      </p:sp>
      <p:sp>
        <p:nvSpPr>
          <p:cNvPr id="4" name="Shape 2"/>
          <p:cNvSpPr/>
          <p:nvPr/>
        </p:nvSpPr>
        <p:spPr>
          <a:xfrm>
            <a:off x="566928" y="1078992"/>
            <a:ext cx="640080" cy="54864"/>
          </a:xfrm>
          <a:prstGeom prst="rect">
            <a:avLst/>
          </a:prstGeom>
          <a:solidFill>
            <a:srgbClr val="F97316"/>
          </a:solidFill>
          <a:ln w="12700">
            <a:solidFill>
              <a:srgbClr val="F97316"/>
            </a:solidFill>
            <a:prstDash val="solid"/>
          </a:ln>
        </p:spPr>
        <p:txBody>
          <a:bodyPr/>
          <a:lstStyle/>
          <a:p>
            <a:endParaRPr lang="en-US"/>
          </a:p>
        </p:txBody>
      </p:sp>
      <p:sp>
        <p:nvSpPr>
          <p:cNvPr id="5" name="Shape 3"/>
          <p:cNvSpPr/>
          <p:nvPr/>
        </p:nvSpPr>
        <p:spPr>
          <a:xfrm>
            <a:off x="777240" y="1417320"/>
            <a:ext cx="5166360" cy="4343400"/>
          </a:xfrm>
          <a:prstGeom prst="roundRect">
            <a:avLst>
              <a:gd name="adj" fmla="val 3368"/>
            </a:avLst>
          </a:prstGeom>
          <a:solidFill>
            <a:srgbClr val="162034"/>
          </a:solidFill>
          <a:ln w="12700">
            <a:solidFill>
              <a:srgbClr val="475569"/>
            </a:solidFill>
            <a:prstDash val="solid"/>
          </a:ln>
        </p:spPr>
        <p:txBody>
          <a:bodyPr/>
          <a:lstStyle/>
          <a:p>
            <a:endParaRPr lang="en-US"/>
          </a:p>
        </p:txBody>
      </p:sp>
      <p:sp>
        <p:nvSpPr>
          <p:cNvPr id="6" name="Text 4"/>
          <p:cNvSpPr/>
          <p:nvPr/>
        </p:nvSpPr>
        <p:spPr>
          <a:xfrm>
            <a:off x="1143000" y="1755648"/>
            <a:ext cx="4434840" cy="292608"/>
          </a:xfrm>
          <a:prstGeom prst="rect">
            <a:avLst/>
          </a:prstGeom>
          <a:noFill/>
          <a:ln/>
        </p:spPr>
        <p:txBody>
          <a:bodyPr wrap="square" lIns="127" tIns="127" rIns="127" bIns="127" rtlCol="0" anchor="ctr"/>
          <a:lstStyle/>
          <a:p>
            <a:pPr marL="0" indent="0">
              <a:buNone/>
            </a:pPr>
            <a:r>
              <a:rPr lang="en-US" sz="2300" b="1" dirty="0">
                <a:solidFill>
                  <a:srgbClr val="FFFFFF"/>
                </a:solidFill>
                <a:latin typeface="Aptos Display" pitchFamily="34" charset="0"/>
                <a:ea typeface="Aptos Display" pitchFamily="34" charset="-122"/>
                <a:cs typeface="Aptos Display" pitchFamily="34" charset="-120"/>
              </a:rPr>
              <a:t>Learner task</a:t>
            </a:r>
            <a:endParaRPr lang="en-US" sz="2300" dirty="0"/>
          </a:p>
        </p:txBody>
      </p:sp>
      <p:sp>
        <p:nvSpPr>
          <p:cNvPr id="7" name="Text 5"/>
          <p:cNvSpPr/>
          <p:nvPr/>
        </p:nvSpPr>
        <p:spPr>
          <a:xfrm>
            <a:off x="1143000" y="2331720"/>
            <a:ext cx="329184" cy="329184"/>
          </a:xfrm>
          <a:prstGeom prst="rect">
            <a:avLst/>
          </a:prstGeom>
          <a:solidFill>
            <a:srgbClr val="14B8A6"/>
          </a:solidFill>
          <a:ln>
            <a:solidFill>
              <a:srgbClr val="14B8A6"/>
            </a:solidFill>
          </a:ln>
        </p:spPr>
        <p:txBody>
          <a:bodyPr wrap="square" lIns="127" tIns="127" rIns="127" bIns="127" rtlCol="0" anchor="ctr"/>
          <a:lstStyle/>
          <a:p>
            <a:pPr marL="0" indent="0" algn="ctr">
              <a:buNone/>
            </a:pPr>
            <a:r>
              <a:rPr lang="en-US" sz="1050" b="1" dirty="0">
                <a:solidFill>
                  <a:srgbClr val="FFFFFF"/>
                </a:solidFill>
                <a:latin typeface="Aptos" pitchFamily="34" charset="0"/>
                <a:ea typeface="Aptos" pitchFamily="34" charset="-122"/>
                <a:cs typeface="Aptos" pitchFamily="34" charset="-120"/>
              </a:rPr>
              <a:t>1</a:t>
            </a:r>
            <a:endParaRPr lang="en-US" sz="1050" dirty="0"/>
          </a:p>
        </p:txBody>
      </p:sp>
      <p:sp>
        <p:nvSpPr>
          <p:cNvPr id="8" name="Text 6"/>
          <p:cNvSpPr/>
          <p:nvPr/>
        </p:nvSpPr>
        <p:spPr>
          <a:xfrm>
            <a:off x="1627632" y="2313432"/>
            <a:ext cx="1005840" cy="201168"/>
          </a:xfrm>
          <a:prstGeom prst="rect">
            <a:avLst/>
          </a:prstGeom>
          <a:noFill/>
          <a:ln/>
        </p:spPr>
        <p:txBody>
          <a:bodyPr wrap="square" lIns="127" tIns="127" rIns="127" bIns="127" rtlCol="0" anchor="ctr"/>
          <a:lstStyle/>
          <a:p>
            <a:pPr marL="0" indent="0">
              <a:buNone/>
            </a:pPr>
            <a:r>
              <a:rPr lang="en-US" sz="1250" b="1" dirty="0">
                <a:solidFill>
                  <a:srgbClr val="FFFFFF"/>
                </a:solidFill>
                <a:latin typeface="Aptos" pitchFamily="34" charset="0"/>
                <a:ea typeface="Aptos" pitchFamily="34" charset="-122"/>
                <a:cs typeface="Aptos" pitchFamily="34" charset="-120"/>
              </a:rPr>
              <a:t>Reframe</a:t>
            </a:r>
            <a:endParaRPr lang="en-US" sz="1250" dirty="0"/>
          </a:p>
        </p:txBody>
      </p:sp>
      <p:sp>
        <p:nvSpPr>
          <p:cNvPr id="9" name="Text 7"/>
          <p:cNvSpPr/>
          <p:nvPr/>
        </p:nvSpPr>
        <p:spPr>
          <a:xfrm>
            <a:off x="2651760" y="2313432"/>
            <a:ext cx="2651760" cy="201168"/>
          </a:xfrm>
          <a:prstGeom prst="rect">
            <a:avLst/>
          </a:prstGeom>
          <a:noFill/>
          <a:ln/>
        </p:spPr>
        <p:txBody>
          <a:bodyPr wrap="square" lIns="127" tIns="127" rIns="127" bIns="127" rtlCol="0" anchor="ctr">
            <a:normAutofit/>
          </a:bodyPr>
          <a:lstStyle/>
          <a:p>
            <a:pPr marL="0" indent="0">
              <a:buNone/>
            </a:pPr>
            <a:r>
              <a:rPr lang="en-US" sz="1100" dirty="0">
                <a:solidFill>
                  <a:srgbClr val="CBD5E1"/>
                </a:solidFill>
                <a:latin typeface="Aptos" pitchFamily="34" charset="0"/>
                <a:ea typeface="Aptos" pitchFamily="34" charset="-122"/>
                <a:cs typeface="Aptos" pitchFamily="34" charset="-120"/>
              </a:rPr>
              <a:t>What assumption will you challenge?</a:t>
            </a:r>
            <a:endParaRPr lang="en-US" sz="1100" dirty="0"/>
          </a:p>
        </p:txBody>
      </p:sp>
      <p:sp>
        <p:nvSpPr>
          <p:cNvPr id="10" name="Text 8"/>
          <p:cNvSpPr/>
          <p:nvPr/>
        </p:nvSpPr>
        <p:spPr>
          <a:xfrm>
            <a:off x="1143000" y="2990088"/>
            <a:ext cx="329184" cy="329184"/>
          </a:xfrm>
          <a:prstGeom prst="rect">
            <a:avLst/>
          </a:prstGeom>
          <a:solidFill>
            <a:srgbClr val="14B8A6"/>
          </a:solidFill>
          <a:ln>
            <a:solidFill>
              <a:srgbClr val="14B8A6"/>
            </a:solidFill>
          </a:ln>
        </p:spPr>
        <p:txBody>
          <a:bodyPr wrap="square" lIns="127" tIns="127" rIns="127" bIns="127" rtlCol="0" anchor="ctr"/>
          <a:lstStyle/>
          <a:p>
            <a:pPr marL="0" indent="0" algn="ctr">
              <a:buNone/>
            </a:pPr>
            <a:r>
              <a:rPr lang="en-US" sz="1050" b="1" dirty="0">
                <a:solidFill>
                  <a:srgbClr val="FFFFFF"/>
                </a:solidFill>
                <a:latin typeface="Aptos" pitchFamily="34" charset="0"/>
                <a:ea typeface="Aptos" pitchFamily="34" charset="-122"/>
                <a:cs typeface="Aptos" pitchFamily="34" charset="-120"/>
              </a:rPr>
              <a:t>2</a:t>
            </a:r>
            <a:endParaRPr lang="en-US" sz="1050" dirty="0"/>
          </a:p>
        </p:txBody>
      </p:sp>
      <p:sp>
        <p:nvSpPr>
          <p:cNvPr id="11" name="Text 9"/>
          <p:cNvSpPr/>
          <p:nvPr/>
        </p:nvSpPr>
        <p:spPr>
          <a:xfrm>
            <a:off x="1627632" y="2971800"/>
            <a:ext cx="1005840" cy="201168"/>
          </a:xfrm>
          <a:prstGeom prst="rect">
            <a:avLst/>
          </a:prstGeom>
          <a:noFill/>
          <a:ln/>
        </p:spPr>
        <p:txBody>
          <a:bodyPr wrap="square" lIns="127" tIns="127" rIns="127" bIns="127" rtlCol="0" anchor="ctr"/>
          <a:lstStyle/>
          <a:p>
            <a:pPr marL="0" indent="0">
              <a:buNone/>
            </a:pPr>
            <a:r>
              <a:rPr lang="en-US" sz="1250" b="1" dirty="0">
                <a:solidFill>
                  <a:srgbClr val="FFFFFF"/>
                </a:solidFill>
                <a:latin typeface="Aptos" pitchFamily="34" charset="0"/>
                <a:ea typeface="Aptos" pitchFamily="34" charset="-122"/>
                <a:cs typeface="Aptos" pitchFamily="34" charset="-120"/>
              </a:rPr>
              <a:t>Ask</a:t>
            </a:r>
            <a:endParaRPr lang="en-US" sz="1250" dirty="0"/>
          </a:p>
        </p:txBody>
      </p:sp>
      <p:sp>
        <p:nvSpPr>
          <p:cNvPr id="12" name="Text 10"/>
          <p:cNvSpPr/>
          <p:nvPr/>
        </p:nvSpPr>
        <p:spPr>
          <a:xfrm>
            <a:off x="2651760" y="2971800"/>
            <a:ext cx="2651760" cy="201168"/>
          </a:xfrm>
          <a:prstGeom prst="rect">
            <a:avLst/>
          </a:prstGeom>
          <a:noFill/>
          <a:ln/>
        </p:spPr>
        <p:txBody>
          <a:bodyPr wrap="square" lIns="127" tIns="127" rIns="127" bIns="127" rtlCol="0" anchor="ctr">
            <a:normAutofit/>
          </a:bodyPr>
          <a:lstStyle/>
          <a:p>
            <a:pPr marL="0" indent="0">
              <a:buNone/>
            </a:pPr>
            <a:r>
              <a:rPr lang="en-US" sz="1100" dirty="0">
                <a:solidFill>
                  <a:srgbClr val="CBD5E1"/>
                </a:solidFill>
                <a:latin typeface="Aptos" pitchFamily="34" charset="0"/>
                <a:ea typeface="Aptos" pitchFamily="34" charset="-122"/>
                <a:cs typeface="Aptos" pitchFamily="34" charset="-120"/>
              </a:rPr>
              <a:t>Which two questions matter first?</a:t>
            </a:r>
            <a:endParaRPr lang="en-US" sz="1100" dirty="0"/>
          </a:p>
        </p:txBody>
      </p:sp>
      <p:sp>
        <p:nvSpPr>
          <p:cNvPr id="13" name="Text 11"/>
          <p:cNvSpPr/>
          <p:nvPr/>
        </p:nvSpPr>
        <p:spPr>
          <a:xfrm>
            <a:off x="1143000" y="3648456"/>
            <a:ext cx="329184" cy="329184"/>
          </a:xfrm>
          <a:prstGeom prst="rect">
            <a:avLst/>
          </a:prstGeom>
          <a:solidFill>
            <a:srgbClr val="14B8A6"/>
          </a:solidFill>
          <a:ln>
            <a:solidFill>
              <a:srgbClr val="14B8A6"/>
            </a:solidFill>
          </a:ln>
        </p:spPr>
        <p:txBody>
          <a:bodyPr wrap="square" lIns="127" tIns="127" rIns="127" bIns="127" rtlCol="0" anchor="ctr"/>
          <a:lstStyle/>
          <a:p>
            <a:pPr marL="0" indent="0" algn="ctr">
              <a:buNone/>
            </a:pPr>
            <a:r>
              <a:rPr lang="en-US" sz="1050" b="1" dirty="0">
                <a:solidFill>
                  <a:srgbClr val="FFFFFF"/>
                </a:solidFill>
                <a:latin typeface="Aptos" pitchFamily="34" charset="0"/>
                <a:ea typeface="Aptos" pitchFamily="34" charset="-122"/>
                <a:cs typeface="Aptos" pitchFamily="34" charset="-120"/>
              </a:rPr>
              <a:t>3</a:t>
            </a:r>
            <a:endParaRPr lang="en-US" sz="1050" dirty="0"/>
          </a:p>
        </p:txBody>
      </p:sp>
      <p:sp>
        <p:nvSpPr>
          <p:cNvPr id="14" name="Text 12"/>
          <p:cNvSpPr/>
          <p:nvPr/>
        </p:nvSpPr>
        <p:spPr>
          <a:xfrm>
            <a:off x="1627632" y="3630168"/>
            <a:ext cx="1005840" cy="201168"/>
          </a:xfrm>
          <a:prstGeom prst="rect">
            <a:avLst/>
          </a:prstGeom>
          <a:noFill/>
          <a:ln/>
        </p:spPr>
        <p:txBody>
          <a:bodyPr wrap="square" lIns="127" tIns="127" rIns="127" bIns="127" rtlCol="0" anchor="ctr"/>
          <a:lstStyle/>
          <a:p>
            <a:pPr marL="0" indent="0">
              <a:buNone/>
            </a:pPr>
            <a:r>
              <a:rPr lang="en-US" sz="1250" b="1" dirty="0">
                <a:solidFill>
                  <a:srgbClr val="FFFFFF"/>
                </a:solidFill>
                <a:latin typeface="Aptos" pitchFamily="34" charset="0"/>
                <a:ea typeface="Aptos" pitchFamily="34" charset="-122"/>
                <a:cs typeface="Aptos" pitchFamily="34" charset="-120"/>
              </a:rPr>
              <a:t>Quantify</a:t>
            </a:r>
            <a:endParaRPr lang="en-US" sz="1250" dirty="0"/>
          </a:p>
        </p:txBody>
      </p:sp>
      <p:sp>
        <p:nvSpPr>
          <p:cNvPr id="15" name="Text 13"/>
          <p:cNvSpPr/>
          <p:nvPr/>
        </p:nvSpPr>
        <p:spPr>
          <a:xfrm>
            <a:off x="2651760" y="3630168"/>
            <a:ext cx="2651760" cy="201168"/>
          </a:xfrm>
          <a:prstGeom prst="rect">
            <a:avLst/>
          </a:prstGeom>
          <a:noFill/>
          <a:ln/>
        </p:spPr>
        <p:txBody>
          <a:bodyPr wrap="square" lIns="127" tIns="127" rIns="127" bIns="127" rtlCol="0" anchor="ctr">
            <a:normAutofit/>
          </a:bodyPr>
          <a:lstStyle/>
          <a:p>
            <a:pPr marL="0" indent="0">
              <a:buNone/>
            </a:pPr>
            <a:r>
              <a:rPr lang="en-US" sz="1100" dirty="0">
                <a:solidFill>
                  <a:srgbClr val="CBD5E1"/>
                </a:solidFill>
                <a:latin typeface="Aptos" pitchFamily="34" charset="0"/>
                <a:ea typeface="Aptos" pitchFamily="34" charset="-122"/>
                <a:cs typeface="Aptos" pitchFamily="34" charset="-120"/>
              </a:rPr>
              <a:t>Which impact must be validated?</a:t>
            </a:r>
            <a:endParaRPr lang="en-US" sz="1100" dirty="0"/>
          </a:p>
        </p:txBody>
      </p:sp>
      <p:sp>
        <p:nvSpPr>
          <p:cNvPr id="16" name="Text 14"/>
          <p:cNvSpPr/>
          <p:nvPr/>
        </p:nvSpPr>
        <p:spPr>
          <a:xfrm>
            <a:off x="1143000" y="4306824"/>
            <a:ext cx="329184" cy="329184"/>
          </a:xfrm>
          <a:prstGeom prst="rect">
            <a:avLst/>
          </a:prstGeom>
          <a:solidFill>
            <a:srgbClr val="14B8A6"/>
          </a:solidFill>
          <a:ln>
            <a:solidFill>
              <a:srgbClr val="14B8A6"/>
            </a:solidFill>
          </a:ln>
        </p:spPr>
        <p:txBody>
          <a:bodyPr wrap="square" lIns="127" tIns="127" rIns="127" bIns="127" rtlCol="0" anchor="ctr"/>
          <a:lstStyle/>
          <a:p>
            <a:pPr marL="0" indent="0" algn="ctr">
              <a:buNone/>
            </a:pPr>
            <a:r>
              <a:rPr lang="en-US" sz="1050" b="1" dirty="0">
                <a:solidFill>
                  <a:srgbClr val="FFFFFF"/>
                </a:solidFill>
                <a:latin typeface="Aptos" pitchFamily="34" charset="0"/>
                <a:ea typeface="Aptos" pitchFamily="34" charset="-122"/>
                <a:cs typeface="Aptos" pitchFamily="34" charset="-120"/>
              </a:rPr>
              <a:t>4</a:t>
            </a:r>
            <a:endParaRPr lang="en-US" sz="1050" dirty="0"/>
          </a:p>
        </p:txBody>
      </p:sp>
      <p:sp>
        <p:nvSpPr>
          <p:cNvPr id="17" name="Text 15"/>
          <p:cNvSpPr/>
          <p:nvPr/>
        </p:nvSpPr>
        <p:spPr>
          <a:xfrm>
            <a:off x="1627632" y="4288536"/>
            <a:ext cx="1005840" cy="201168"/>
          </a:xfrm>
          <a:prstGeom prst="rect">
            <a:avLst/>
          </a:prstGeom>
          <a:noFill/>
          <a:ln/>
        </p:spPr>
        <p:txBody>
          <a:bodyPr wrap="square" lIns="127" tIns="127" rIns="127" bIns="127" rtlCol="0" anchor="ctr"/>
          <a:lstStyle/>
          <a:p>
            <a:pPr marL="0" indent="0">
              <a:buNone/>
            </a:pPr>
            <a:r>
              <a:rPr lang="en-US" sz="1250" b="1" dirty="0">
                <a:solidFill>
                  <a:srgbClr val="FFFFFF"/>
                </a:solidFill>
                <a:latin typeface="Aptos" pitchFamily="34" charset="0"/>
                <a:ea typeface="Aptos" pitchFamily="34" charset="-122"/>
                <a:cs typeface="Aptos" pitchFamily="34" charset="-120"/>
              </a:rPr>
              <a:t>Advance</a:t>
            </a:r>
            <a:endParaRPr lang="en-US" sz="1250" dirty="0"/>
          </a:p>
        </p:txBody>
      </p:sp>
      <p:sp>
        <p:nvSpPr>
          <p:cNvPr id="18" name="Text 16"/>
          <p:cNvSpPr/>
          <p:nvPr/>
        </p:nvSpPr>
        <p:spPr>
          <a:xfrm>
            <a:off x="2651760" y="4288536"/>
            <a:ext cx="2651760" cy="201168"/>
          </a:xfrm>
          <a:prstGeom prst="rect">
            <a:avLst/>
          </a:prstGeom>
          <a:noFill/>
          <a:ln/>
        </p:spPr>
        <p:txBody>
          <a:bodyPr wrap="square" lIns="127" tIns="127" rIns="127" bIns="127" rtlCol="0" anchor="ctr">
            <a:normAutofit/>
          </a:bodyPr>
          <a:lstStyle/>
          <a:p>
            <a:pPr marL="0" indent="0">
              <a:buNone/>
            </a:pPr>
            <a:r>
              <a:rPr lang="en-US" sz="1100" dirty="0">
                <a:solidFill>
                  <a:srgbClr val="CBD5E1"/>
                </a:solidFill>
                <a:latin typeface="Aptos" pitchFamily="34" charset="0"/>
                <a:ea typeface="Aptos" pitchFamily="34" charset="-122"/>
                <a:cs typeface="Aptos" pitchFamily="34" charset="-120"/>
              </a:rPr>
              <a:t>What step should happen before proposal?</a:t>
            </a:r>
            <a:endParaRPr lang="en-US" sz="1100" dirty="0"/>
          </a:p>
        </p:txBody>
      </p:sp>
      <p:sp>
        <p:nvSpPr>
          <p:cNvPr id="19" name="Shape 17"/>
          <p:cNvSpPr/>
          <p:nvPr/>
        </p:nvSpPr>
        <p:spPr>
          <a:xfrm>
            <a:off x="6400800" y="1417320"/>
            <a:ext cx="4983480" cy="4343400"/>
          </a:xfrm>
          <a:prstGeom prst="roundRect">
            <a:avLst>
              <a:gd name="adj" fmla="val 3368"/>
            </a:avLst>
          </a:prstGeom>
          <a:solidFill>
            <a:srgbClr val="FFFFFF"/>
          </a:solidFill>
          <a:ln w="12700">
            <a:solidFill>
              <a:srgbClr val="CBD5E1"/>
            </a:solidFill>
            <a:prstDash val="solid"/>
          </a:ln>
        </p:spPr>
        <p:txBody>
          <a:bodyPr/>
          <a:lstStyle/>
          <a:p>
            <a:endParaRPr lang="en-US"/>
          </a:p>
        </p:txBody>
      </p:sp>
      <p:sp>
        <p:nvSpPr>
          <p:cNvPr id="20" name="Text 18"/>
          <p:cNvSpPr/>
          <p:nvPr/>
        </p:nvSpPr>
        <p:spPr>
          <a:xfrm>
            <a:off x="6766560" y="1755648"/>
            <a:ext cx="4206240" cy="292608"/>
          </a:xfrm>
          <a:prstGeom prst="rect">
            <a:avLst/>
          </a:prstGeom>
          <a:noFill/>
          <a:ln/>
        </p:spPr>
        <p:txBody>
          <a:bodyPr wrap="square" lIns="127" tIns="127" rIns="127" bIns="127" rtlCol="0" anchor="ctr"/>
          <a:lstStyle/>
          <a:p>
            <a:pPr marL="0" indent="0">
              <a:buNone/>
            </a:pPr>
            <a:r>
              <a:rPr lang="en-US" sz="2300" b="1" dirty="0">
                <a:solidFill>
                  <a:srgbClr val="111827"/>
                </a:solidFill>
                <a:latin typeface="Aptos Display" pitchFamily="34" charset="0"/>
                <a:ea typeface="Aptos Display" pitchFamily="34" charset="-122"/>
                <a:cs typeface="Aptos Display" pitchFamily="34" charset="-120"/>
              </a:rPr>
              <a:t>Facilitator listens for</a:t>
            </a:r>
            <a:endParaRPr lang="en-US" sz="2300" dirty="0"/>
          </a:p>
        </p:txBody>
      </p:sp>
      <p:sp>
        <p:nvSpPr>
          <p:cNvPr id="21" name="Text 19"/>
          <p:cNvSpPr/>
          <p:nvPr/>
        </p:nvSpPr>
        <p:spPr>
          <a:xfrm>
            <a:off x="6784848" y="2322576"/>
            <a:ext cx="256032" cy="237744"/>
          </a:xfrm>
          <a:prstGeom prst="rect">
            <a:avLst/>
          </a:prstGeom>
          <a:noFill/>
          <a:ln/>
        </p:spPr>
        <p:txBody>
          <a:bodyPr wrap="square" lIns="127" tIns="127" rIns="127" bIns="127" rtlCol="0" anchor="ctr"/>
          <a:lstStyle/>
          <a:p>
            <a:pPr marL="0" indent="0">
              <a:buNone/>
            </a:pPr>
            <a:r>
              <a:rPr lang="en-US" sz="1400" b="1" dirty="0">
                <a:solidFill>
                  <a:srgbClr val="14B8A6"/>
                </a:solidFill>
                <a:latin typeface="Aptos" pitchFamily="34" charset="0"/>
                <a:ea typeface="Aptos" pitchFamily="34" charset="-122"/>
                <a:cs typeface="Aptos" pitchFamily="34" charset="-120"/>
              </a:rPr>
              <a:t>✓</a:t>
            </a:r>
            <a:endParaRPr lang="en-US" sz="1400" dirty="0"/>
          </a:p>
        </p:txBody>
      </p:sp>
      <p:sp>
        <p:nvSpPr>
          <p:cNvPr id="22" name="Text 20"/>
          <p:cNvSpPr/>
          <p:nvPr/>
        </p:nvSpPr>
        <p:spPr>
          <a:xfrm>
            <a:off x="7132320" y="2359152"/>
            <a:ext cx="3840480" cy="219456"/>
          </a:xfrm>
          <a:prstGeom prst="rect">
            <a:avLst/>
          </a:prstGeom>
          <a:noFill/>
          <a:ln/>
        </p:spPr>
        <p:txBody>
          <a:bodyPr wrap="square" lIns="127" tIns="127" rIns="127" bIns="127" rtlCol="0" anchor="ctr">
            <a:normAutofit/>
          </a:bodyPr>
          <a:lstStyle/>
          <a:p>
            <a:pPr marL="0" indent="0">
              <a:buNone/>
            </a:pPr>
            <a:r>
              <a:rPr lang="en-US" sz="1120" dirty="0">
                <a:solidFill>
                  <a:srgbClr val="334155"/>
                </a:solidFill>
                <a:latin typeface="Aptos" pitchFamily="34" charset="0"/>
                <a:ea typeface="Aptos" pitchFamily="34" charset="-122"/>
                <a:cs typeface="Aptos" pitchFamily="34" charset="-120"/>
              </a:rPr>
              <a:t>Starts with a useful decision risk, not a feature claim</a:t>
            </a:r>
            <a:endParaRPr lang="en-US" sz="1120" dirty="0"/>
          </a:p>
        </p:txBody>
      </p:sp>
      <p:sp>
        <p:nvSpPr>
          <p:cNvPr id="23" name="Text 21"/>
          <p:cNvSpPr/>
          <p:nvPr/>
        </p:nvSpPr>
        <p:spPr>
          <a:xfrm>
            <a:off x="6784848" y="2926080"/>
            <a:ext cx="256032" cy="237744"/>
          </a:xfrm>
          <a:prstGeom prst="rect">
            <a:avLst/>
          </a:prstGeom>
          <a:noFill/>
          <a:ln/>
        </p:spPr>
        <p:txBody>
          <a:bodyPr wrap="square" lIns="127" tIns="127" rIns="127" bIns="127" rtlCol="0" anchor="ctr"/>
          <a:lstStyle/>
          <a:p>
            <a:pPr marL="0" indent="0">
              <a:buNone/>
            </a:pPr>
            <a:r>
              <a:rPr lang="en-US" sz="1400" b="1" dirty="0">
                <a:solidFill>
                  <a:srgbClr val="14B8A6"/>
                </a:solidFill>
                <a:latin typeface="Aptos" pitchFamily="34" charset="0"/>
                <a:ea typeface="Aptos" pitchFamily="34" charset="-122"/>
                <a:cs typeface="Aptos" pitchFamily="34" charset="-120"/>
              </a:rPr>
              <a:t>✓</a:t>
            </a:r>
            <a:endParaRPr lang="en-US" sz="1400" dirty="0"/>
          </a:p>
        </p:txBody>
      </p:sp>
      <p:sp>
        <p:nvSpPr>
          <p:cNvPr id="24" name="Text 22"/>
          <p:cNvSpPr/>
          <p:nvPr/>
        </p:nvSpPr>
        <p:spPr>
          <a:xfrm>
            <a:off x="7132320" y="2962656"/>
            <a:ext cx="3840480" cy="219456"/>
          </a:xfrm>
          <a:prstGeom prst="rect">
            <a:avLst/>
          </a:prstGeom>
          <a:noFill/>
          <a:ln/>
        </p:spPr>
        <p:txBody>
          <a:bodyPr wrap="square" lIns="127" tIns="127" rIns="127" bIns="127" rtlCol="0" anchor="ctr">
            <a:normAutofit/>
          </a:bodyPr>
          <a:lstStyle/>
          <a:p>
            <a:pPr marL="0" indent="0">
              <a:buNone/>
            </a:pPr>
            <a:r>
              <a:rPr lang="en-US" sz="1120" dirty="0">
                <a:solidFill>
                  <a:srgbClr val="334155"/>
                </a:solidFill>
                <a:latin typeface="Aptos" pitchFamily="34" charset="0"/>
                <a:ea typeface="Aptos" pitchFamily="34" charset="-122"/>
                <a:cs typeface="Aptos" pitchFamily="34" charset="-120"/>
              </a:rPr>
              <a:t>Prioritizes missing evidence over broad questioning</a:t>
            </a:r>
            <a:endParaRPr lang="en-US" sz="1120" dirty="0"/>
          </a:p>
        </p:txBody>
      </p:sp>
      <p:sp>
        <p:nvSpPr>
          <p:cNvPr id="25" name="Text 23"/>
          <p:cNvSpPr/>
          <p:nvPr/>
        </p:nvSpPr>
        <p:spPr>
          <a:xfrm>
            <a:off x="6784848" y="3529584"/>
            <a:ext cx="256032" cy="237744"/>
          </a:xfrm>
          <a:prstGeom prst="rect">
            <a:avLst/>
          </a:prstGeom>
          <a:noFill/>
          <a:ln/>
        </p:spPr>
        <p:txBody>
          <a:bodyPr wrap="square" lIns="127" tIns="127" rIns="127" bIns="127" rtlCol="0" anchor="ctr"/>
          <a:lstStyle/>
          <a:p>
            <a:pPr marL="0" indent="0">
              <a:buNone/>
            </a:pPr>
            <a:r>
              <a:rPr lang="en-US" sz="1400" b="1" dirty="0">
                <a:solidFill>
                  <a:srgbClr val="14B8A6"/>
                </a:solidFill>
                <a:latin typeface="Aptos" pitchFamily="34" charset="0"/>
                <a:ea typeface="Aptos" pitchFamily="34" charset="-122"/>
                <a:cs typeface="Aptos" pitchFamily="34" charset="-120"/>
              </a:rPr>
              <a:t>✓</a:t>
            </a:r>
            <a:endParaRPr lang="en-US" sz="1400" dirty="0"/>
          </a:p>
        </p:txBody>
      </p:sp>
      <p:sp>
        <p:nvSpPr>
          <p:cNvPr id="26" name="Text 24"/>
          <p:cNvSpPr/>
          <p:nvPr/>
        </p:nvSpPr>
        <p:spPr>
          <a:xfrm>
            <a:off x="7132320" y="3566160"/>
            <a:ext cx="3840480" cy="219456"/>
          </a:xfrm>
          <a:prstGeom prst="rect">
            <a:avLst/>
          </a:prstGeom>
          <a:noFill/>
          <a:ln/>
        </p:spPr>
        <p:txBody>
          <a:bodyPr wrap="square" lIns="127" tIns="127" rIns="127" bIns="127" rtlCol="0" anchor="ctr">
            <a:normAutofit/>
          </a:bodyPr>
          <a:lstStyle/>
          <a:p>
            <a:pPr marL="0" indent="0">
              <a:buNone/>
            </a:pPr>
            <a:r>
              <a:rPr lang="en-US" sz="1120" dirty="0">
                <a:solidFill>
                  <a:srgbClr val="334155"/>
                </a:solidFill>
                <a:latin typeface="Aptos" pitchFamily="34" charset="0"/>
                <a:ea typeface="Aptos" pitchFamily="34" charset="-122"/>
                <a:cs typeface="Aptos" pitchFamily="34" charset="-120"/>
              </a:rPr>
              <a:t>Connects impact to capacity, quality, labor, or risk</a:t>
            </a:r>
            <a:endParaRPr lang="en-US" sz="1120" dirty="0"/>
          </a:p>
        </p:txBody>
      </p:sp>
      <p:sp>
        <p:nvSpPr>
          <p:cNvPr id="27" name="Text 25"/>
          <p:cNvSpPr/>
          <p:nvPr/>
        </p:nvSpPr>
        <p:spPr>
          <a:xfrm>
            <a:off x="6784848" y="4133088"/>
            <a:ext cx="256032" cy="237744"/>
          </a:xfrm>
          <a:prstGeom prst="rect">
            <a:avLst/>
          </a:prstGeom>
          <a:noFill/>
          <a:ln/>
        </p:spPr>
        <p:txBody>
          <a:bodyPr wrap="square" lIns="127" tIns="127" rIns="127" bIns="127" rtlCol="0" anchor="ctr"/>
          <a:lstStyle/>
          <a:p>
            <a:pPr marL="0" indent="0">
              <a:buNone/>
            </a:pPr>
            <a:r>
              <a:rPr lang="en-US" sz="1400" b="1" dirty="0">
                <a:solidFill>
                  <a:srgbClr val="14B8A6"/>
                </a:solidFill>
                <a:latin typeface="Aptos" pitchFamily="34" charset="0"/>
                <a:ea typeface="Aptos" pitchFamily="34" charset="-122"/>
                <a:cs typeface="Aptos" pitchFamily="34" charset="-120"/>
              </a:rPr>
              <a:t>✓</a:t>
            </a:r>
            <a:endParaRPr lang="en-US" sz="1400" dirty="0"/>
          </a:p>
        </p:txBody>
      </p:sp>
      <p:sp>
        <p:nvSpPr>
          <p:cNvPr id="28" name="Text 26"/>
          <p:cNvSpPr/>
          <p:nvPr/>
        </p:nvSpPr>
        <p:spPr>
          <a:xfrm>
            <a:off x="7132320" y="4169664"/>
            <a:ext cx="3840480" cy="219456"/>
          </a:xfrm>
          <a:prstGeom prst="rect">
            <a:avLst/>
          </a:prstGeom>
          <a:noFill/>
          <a:ln/>
        </p:spPr>
        <p:txBody>
          <a:bodyPr wrap="square" lIns="127" tIns="127" rIns="127" bIns="127" rtlCol="0" anchor="ctr">
            <a:normAutofit/>
          </a:bodyPr>
          <a:lstStyle/>
          <a:p>
            <a:pPr marL="0" indent="0">
              <a:buNone/>
            </a:pPr>
            <a:r>
              <a:rPr lang="en-US" sz="1120" dirty="0">
                <a:solidFill>
                  <a:srgbClr val="334155"/>
                </a:solidFill>
                <a:latin typeface="Aptos" pitchFamily="34" charset="0"/>
                <a:ea typeface="Aptos" pitchFamily="34" charset="-122"/>
                <a:cs typeface="Aptos" pitchFamily="34" charset="-120"/>
              </a:rPr>
              <a:t>Guides the buyer to validation rather than a premature quote</a:t>
            </a:r>
            <a:endParaRPr lang="en-US" sz="1120" dirty="0"/>
          </a:p>
        </p:txBody>
      </p:sp>
      <p:sp>
        <p:nvSpPr>
          <p:cNvPr id="29" name="Text 27"/>
          <p:cNvSpPr/>
          <p:nvPr/>
        </p:nvSpPr>
        <p:spPr>
          <a:xfrm>
            <a:off x="914400" y="5989320"/>
            <a:ext cx="10332720" cy="256032"/>
          </a:xfrm>
          <a:prstGeom prst="rect">
            <a:avLst/>
          </a:prstGeom>
          <a:noFill/>
          <a:ln/>
        </p:spPr>
        <p:txBody>
          <a:bodyPr wrap="square" lIns="127" tIns="127" rIns="127" bIns="127" rtlCol="0" anchor="ctr"/>
          <a:lstStyle/>
          <a:p>
            <a:pPr marL="0" indent="0" algn="ctr">
              <a:buNone/>
            </a:pPr>
            <a:r>
              <a:rPr lang="en-US" sz="1350" dirty="0">
                <a:solidFill>
                  <a:srgbClr val="FFFFFF"/>
                </a:solidFill>
                <a:latin typeface="Aptos" pitchFamily="34" charset="0"/>
                <a:ea typeface="Aptos" pitchFamily="34" charset="-122"/>
                <a:cs typeface="Aptos" pitchFamily="34" charset="-120"/>
              </a:rPr>
              <a:t>Response pattern: credible hypothesis → prioritized discovery → validated value driver → specific technical validation step</a:t>
            </a:r>
            <a:endParaRPr lang="en-US" sz="1350" dirty="0"/>
          </a:p>
        </p:txBody>
      </p:sp>
      <p:sp>
        <p:nvSpPr>
          <p:cNvPr id="30" name="Shape 28"/>
          <p:cNvSpPr/>
          <p:nvPr/>
        </p:nvSpPr>
        <p:spPr>
          <a:xfrm>
            <a:off x="502920" y="6473952"/>
            <a:ext cx="11155680" cy="0"/>
          </a:xfrm>
          <a:prstGeom prst="line">
            <a:avLst/>
          </a:prstGeom>
          <a:noFill/>
          <a:ln w="9525">
            <a:solidFill>
              <a:srgbClr val="334155">
                <a:alpha val="30000"/>
              </a:srgbClr>
            </a:solidFill>
            <a:prstDash val="solid"/>
          </a:ln>
        </p:spPr>
        <p:txBody>
          <a:bodyPr/>
          <a:lstStyle/>
          <a:p>
            <a:endParaRPr lang="en-US"/>
          </a:p>
        </p:txBody>
      </p:sp>
      <p:sp>
        <p:nvSpPr>
          <p:cNvPr id="31" name="Text 29"/>
          <p:cNvSpPr/>
          <p:nvPr/>
        </p:nvSpPr>
        <p:spPr>
          <a:xfrm>
            <a:off x="502920" y="6565392"/>
            <a:ext cx="5029200" cy="146304"/>
          </a:xfrm>
          <a:prstGeom prst="rect">
            <a:avLst/>
          </a:prstGeom>
          <a:noFill/>
          <a:ln/>
        </p:spPr>
        <p:txBody>
          <a:bodyPr wrap="square" rtlCol="0" anchor="ctr"/>
          <a:lstStyle/>
          <a:p>
            <a:pPr marL="0" indent="0">
              <a:buNone/>
            </a:pPr>
            <a:r>
              <a:rPr lang="en-US" sz="750" dirty="0">
                <a:solidFill>
                  <a:srgbClr val="334155"/>
                </a:solidFill>
                <a:latin typeface="Aptos" pitchFamily="34" charset="0"/>
                <a:ea typeface="Aptos" pitchFamily="34" charset="-122"/>
                <a:cs typeface="Aptos" pitchFamily="34" charset="-120"/>
              </a:rPr>
              <a:t>Application</a:t>
            </a:r>
            <a:endParaRPr lang="en-US" sz="750" dirty="0"/>
          </a:p>
        </p:txBody>
      </p:sp>
      <p:sp>
        <p:nvSpPr>
          <p:cNvPr id="32" name="Text 30"/>
          <p:cNvSpPr/>
          <p:nvPr/>
        </p:nvSpPr>
        <p:spPr>
          <a:xfrm>
            <a:off x="11018520" y="6565392"/>
            <a:ext cx="640080" cy="146304"/>
          </a:xfrm>
          <a:prstGeom prst="rect">
            <a:avLst/>
          </a:prstGeom>
          <a:noFill/>
          <a:ln/>
        </p:spPr>
        <p:txBody>
          <a:bodyPr wrap="square" rtlCol="0" anchor="ctr"/>
          <a:lstStyle/>
          <a:p>
            <a:pPr marL="0" indent="0" algn="r">
              <a:buNone/>
            </a:pPr>
            <a:r>
              <a:rPr lang="en-US" sz="750" dirty="0">
                <a:solidFill>
                  <a:srgbClr val="334155"/>
                </a:solidFill>
                <a:latin typeface="Aptos" pitchFamily="34" charset="0"/>
                <a:ea typeface="Aptos" pitchFamily="34" charset="-122"/>
                <a:cs typeface="Aptos" pitchFamily="34" charset="-120"/>
              </a:rPr>
              <a:t>15</a:t>
            </a:r>
            <a:endParaRPr lang="en-US" sz="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8046720" cy="402336"/>
          </a:xfrm>
          <a:prstGeom prst="rect">
            <a:avLst/>
          </a:prstGeom>
          <a:noFill/>
          <a:ln/>
        </p:spPr>
        <p:txBody>
          <a:bodyPr wrap="square" lIns="254" tIns="254" rIns="254" bIns="254" rtlCol="0" anchor="ctr">
            <a:normAutofit lnSpcReduction="10000"/>
          </a:bodyPr>
          <a:lstStyle/>
          <a:p>
            <a:pPr marL="0" indent="0">
              <a:buNone/>
            </a:pPr>
            <a:r>
              <a:rPr lang="en-US" sz="2700" b="1" dirty="0">
                <a:solidFill>
                  <a:srgbClr val="111827"/>
                </a:solidFill>
                <a:latin typeface="Aptos Display" pitchFamily="34" charset="0"/>
                <a:ea typeface="Aptos Display" pitchFamily="34" charset="-122"/>
                <a:cs typeface="Aptos Display" pitchFamily="34" charset="-120"/>
              </a:rPr>
              <a:t>Facilitator debrief - what good looks like</a:t>
            </a:r>
            <a:endParaRPr lang="en-US" sz="2700" dirty="0"/>
          </a:p>
        </p:txBody>
      </p:sp>
      <p:sp>
        <p:nvSpPr>
          <p:cNvPr id="3" name="Text 1"/>
          <p:cNvSpPr/>
          <p:nvPr/>
        </p:nvSpPr>
        <p:spPr>
          <a:xfrm>
            <a:off x="585216" y="804672"/>
            <a:ext cx="8046720" cy="219456"/>
          </a:xfrm>
          <a:prstGeom prst="rect">
            <a:avLst/>
          </a:prstGeom>
          <a:noFill/>
          <a:ln/>
        </p:spPr>
        <p:txBody>
          <a:bodyPr wrap="square" lIns="127" tIns="127" rIns="127" bIns="127" rtlCol="0" anchor="ctr"/>
          <a:lstStyle/>
          <a:p>
            <a:pPr marL="0" indent="0">
              <a:buNone/>
            </a:pPr>
            <a:r>
              <a:rPr lang="en-US" sz="1150" dirty="0">
                <a:solidFill>
                  <a:srgbClr val="334155"/>
                </a:solidFill>
                <a:latin typeface="Aptos" pitchFamily="34" charset="0"/>
                <a:ea typeface="Aptos" pitchFamily="34" charset="-122"/>
                <a:cs typeface="Aptos" pitchFamily="34" charset="-120"/>
              </a:rPr>
              <a:t>Use this example after learners build their own Northstar response.</a:t>
            </a:r>
            <a:endParaRPr lang="en-US" sz="1150" dirty="0"/>
          </a:p>
        </p:txBody>
      </p:sp>
      <p:sp>
        <p:nvSpPr>
          <p:cNvPr id="4" name="Shape 2"/>
          <p:cNvSpPr/>
          <p:nvPr/>
        </p:nvSpPr>
        <p:spPr>
          <a:xfrm>
            <a:off x="566928" y="1078992"/>
            <a:ext cx="640080" cy="54864"/>
          </a:xfrm>
          <a:prstGeom prst="rect">
            <a:avLst/>
          </a:prstGeom>
          <a:solidFill>
            <a:srgbClr val="F97316"/>
          </a:solidFill>
          <a:ln w="12700">
            <a:solidFill>
              <a:srgbClr val="F97316"/>
            </a:solidFill>
            <a:prstDash val="solid"/>
          </a:ln>
        </p:spPr>
        <p:txBody>
          <a:bodyPr/>
          <a:lstStyle/>
          <a:p>
            <a:endParaRPr lang="en-US"/>
          </a:p>
        </p:txBody>
      </p:sp>
      <p:sp>
        <p:nvSpPr>
          <p:cNvPr id="5" name="Shape 3"/>
          <p:cNvSpPr/>
          <p:nvPr/>
        </p:nvSpPr>
        <p:spPr>
          <a:xfrm>
            <a:off x="868680" y="1417320"/>
            <a:ext cx="10469880" cy="4389120"/>
          </a:xfrm>
          <a:prstGeom prst="roundRect">
            <a:avLst>
              <a:gd name="adj" fmla="val 2500"/>
            </a:avLst>
          </a:prstGeom>
          <a:solidFill>
            <a:srgbClr val="F3F4F6"/>
          </a:solidFill>
          <a:ln w="12700">
            <a:solidFill>
              <a:srgbClr val="CBD5E1"/>
            </a:solidFill>
            <a:prstDash val="solid"/>
          </a:ln>
        </p:spPr>
        <p:txBody>
          <a:bodyPr/>
          <a:lstStyle/>
          <a:p>
            <a:endParaRPr lang="en-US"/>
          </a:p>
        </p:txBody>
      </p:sp>
      <p:sp>
        <p:nvSpPr>
          <p:cNvPr id="6" name="Text 4"/>
          <p:cNvSpPr/>
          <p:nvPr/>
        </p:nvSpPr>
        <p:spPr>
          <a:xfrm>
            <a:off x="1234440" y="1783080"/>
            <a:ext cx="9692640" cy="2011680"/>
          </a:xfrm>
          <a:prstGeom prst="rect">
            <a:avLst/>
          </a:prstGeom>
          <a:noFill/>
          <a:ln/>
        </p:spPr>
        <p:txBody>
          <a:bodyPr wrap="square" lIns="508" tIns="508" rIns="508" bIns="508" rtlCol="0" anchor="ctr">
            <a:normAutofit/>
          </a:bodyPr>
          <a:lstStyle/>
          <a:p>
            <a:pPr marL="0" indent="0">
              <a:buNone/>
            </a:pPr>
            <a:r>
              <a:rPr lang="en-US" sz="1750" i="1" dirty="0">
                <a:solidFill>
                  <a:srgbClr val="111827"/>
                </a:solidFill>
                <a:latin typeface="Aptos" pitchFamily="34" charset="0"/>
                <a:ea typeface="Aptos" pitchFamily="34" charset="-122"/>
                <a:cs typeface="Aptos" pitchFamily="34" charset="-120"/>
              </a:rPr>
              <a:t>“A cobot may be the right answer, but selecting the arm before validating cycle time, part mix, changeover, and safety could create a system that works technically but misses the business case. Before we quote, I recommend a 90-minute application review with manufacturing, maintenance, and safety. We should confirm where machine time is being lost, what changeover frequency the cell must support, and what payback threshold finance will use. From there, we can provide a responsible budget range tied to validated assumptions.”</a:t>
            </a:r>
            <a:endParaRPr lang="en-US" sz="1750" dirty="0"/>
          </a:p>
        </p:txBody>
      </p:sp>
      <p:sp>
        <p:nvSpPr>
          <p:cNvPr id="7" name="Text 5"/>
          <p:cNvSpPr/>
          <p:nvPr/>
        </p:nvSpPr>
        <p:spPr>
          <a:xfrm>
            <a:off x="1897380" y="4424725"/>
            <a:ext cx="1051560" cy="310896"/>
          </a:xfrm>
          <a:prstGeom prst="rect">
            <a:avLst/>
          </a:prstGeom>
          <a:solidFill>
            <a:srgbClr val="0F172A"/>
          </a:solidFill>
          <a:ln>
            <a:solidFill>
              <a:srgbClr val="0F172A"/>
            </a:solidFill>
          </a:ln>
        </p:spPr>
        <p:txBody>
          <a:bodyPr wrap="square" lIns="254" tIns="254" rIns="254" bIns="254" rtlCol="0" anchor="ctr"/>
          <a:lstStyle/>
          <a:p>
            <a:pPr marL="0" indent="0" algn="ctr">
              <a:buNone/>
            </a:pPr>
            <a:r>
              <a:rPr lang="en-US" sz="1050" b="1" dirty="0">
                <a:solidFill>
                  <a:srgbClr val="FFFFFF"/>
                </a:solidFill>
                <a:latin typeface="Aptos" pitchFamily="34" charset="0"/>
                <a:ea typeface="Aptos" pitchFamily="34" charset="-122"/>
                <a:cs typeface="Aptos" pitchFamily="34" charset="-120"/>
              </a:rPr>
              <a:t>Reframe</a:t>
            </a:r>
            <a:endParaRPr lang="en-US" sz="1050" dirty="0"/>
          </a:p>
        </p:txBody>
      </p:sp>
      <p:sp>
        <p:nvSpPr>
          <p:cNvPr id="8" name="Text 6"/>
          <p:cNvSpPr/>
          <p:nvPr/>
        </p:nvSpPr>
        <p:spPr>
          <a:xfrm>
            <a:off x="1760220" y="4836205"/>
            <a:ext cx="1325880" cy="457200"/>
          </a:xfrm>
          <a:prstGeom prst="rect">
            <a:avLst/>
          </a:prstGeom>
          <a:noFill/>
          <a:ln/>
        </p:spPr>
        <p:txBody>
          <a:bodyPr wrap="square" lIns="254" tIns="254" rIns="254" bIns="254" rtlCol="0" anchor="ctr">
            <a:normAutofit/>
          </a:bodyPr>
          <a:lstStyle/>
          <a:p>
            <a:pPr marL="0" indent="0" algn="ctr">
              <a:buNone/>
            </a:pPr>
            <a:r>
              <a:rPr lang="en-US" sz="950" dirty="0">
                <a:solidFill>
                  <a:srgbClr val="334155"/>
                </a:solidFill>
                <a:latin typeface="Aptos" pitchFamily="34" charset="0"/>
                <a:ea typeface="Aptos" pitchFamily="34" charset="-122"/>
                <a:cs typeface="Aptos" pitchFamily="34" charset="-120"/>
              </a:rPr>
              <a:t>selecting the arm first may create risk</a:t>
            </a:r>
            <a:endParaRPr lang="en-US" sz="950" dirty="0"/>
          </a:p>
        </p:txBody>
      </p:sp>
      <p:sp>
        <p:nvSpPr>
          <p:cNvPr id="9" name="Text 7"/>
          <p:cNvSpPr/>
          <p:nvPr/>
        </p:nvSpPr>
        <p:spPr>
          <a:xfrm>
            <a:off x="4320540" y="4424725"/>
            <a:ext cx="1051560" cy="310896"/>
          </a:xfrm>
          <a:prstGeom prst="rect">
            <a:avLst/>
          </a:prstGeom>
          <a:solidFill>
            <a:srgbClr val="0F172A"/>
          </a:solidFill>
          <a:ln>
            <a:solidFill>
              <a:srgbClr val="0F172A"/>
            </a:solidFill>
          </a:ln>
        </p:spPr>
        <p:txBody>
          <a:bodyPr wrap="square" lIns="254" tIns="254" rIns="254" bIns="254" rtlCol="0" anchor="ctr"/>
          <a:lstStyle/>
          <a:p>
            <a:pPr marL="0" indent="0" algn="ctr">
              <a:buNone/>
            </a:pPr>
            <a:r>
              <a:rPr lang="en-US" sz="1050" b="1" dirty="0">
                <a:solidFill>
                  <a:srgbClr val="FFFFFF"/>
                </a:solidFill>
                <a:latin typeface="Aptos" pitchFamily="34" charset="0"/>
                <a:ea typeface="Aptos" pitchFamily="34" charset="-122"/>
                <a:cs typeface="Aptos" pitchFamily="34" charset="-120"/>
              </a:rPr>
              <a:t>Diagnose</a:t>
            </a:r>
            <a:endParaRPr lang="en-US" sz="1050" dirty="0"/>
          </a:p>
        </p:txBody>
      </p:sp>
      <p:sp>
        <p:nvSpPr>
          <p:cNvPr id="10" name="Text 8"/>
          <p:cNvSpPr/>
          <p:nvPr/>
        </p:nvSpPr>
        <p:spPr>
          <a:xfrm>
            <a:off x="4183380" y="4836205"/>
            <a:ext cx="1325880" cy="457200"/>
          </a:xfrm>
          <a:prstGeom prst="rect">
            <a:avLst/>
          </a:prstGeom>
          <a:noFill/>
          <a:ln/>
        </p:spPr>
        <p:txBody>
          <a:bodyPr wrap="square" lIns="254" tIns="254" rIns="254" bIns="254" rtlCol="0" anchor="ctr">
            <a:normAutofit/>
          </a:bodyPr>
          <a:lstStyle/>
          <a:p>
            <a:pPr marL="0" indent="0" algn="ctr">
              <a:buNone/>
            </a:pPr>
            <a:r>
              <a:rPr lang="en-US" sz="950" dirty="0">
                <a:solidFill>
                  <a:srgbClr val="334155"/>
                </a:solidFill>
                <a:latin typeface="Aptos" pitchFamily="34" charset="0"/>
                <a:ea typeface="Aptos" pitchFamily="34" charset="-122"/>
                <a:cs typeface="Aptos" pitchFamily="34" charset="-120"/>
              </a:rPr>
              <a:t>cycle time, part mix, changeover, safety</a:t>
            </a:r>
            <a:endParaRPr lang="en-US" sz="950" dirty="0"/>
          </a:p>
        </p:txBody>
      </p:sp>
      <p:sp>
        <p:nvSpPr>
          <p:cNvPr id="11" name="Text 9"/>
          <p:cNvSpPr/>
          <p:nvPr/>
        </p:nvSpPr>
        <p:spPr>
          <a:xfrm>
            <a:off x="6743700" y="4424725"/>
            <a:ext cx="1051560" cy="310896"/>
          </a:xfrm>
          <a:prstGeom prst="rect">
            <a:avLst/>
          </a:prstGeom>
          <a:solidFill>
            <a:srgbClr val="0F172A"/>
          </a:solidFill>
          <a:ln>
            <a:solidFill>
              <a:srgbClr val="0F172A"/>
            </a:solidFill>
          </a:ln>
        </p:spPr>
        <p:txBody>
          <a:bodyPr wrap="square" lIns="254" tIns="254" rIns="254" bIns="254" rtlCol="0" anchor="ctr"/>
          <a:lstStyle/>
          <a:p>
            <a:pPr marL="0" indent="0" algn="ctr">
              <a:buNone/>
            </a:pPr>
            <a:r>
              <a:rPr lang="en-US" sz="1050" b="1" dirty="0">
                <a:solidFill>
                  <a:srgbClr val="FFFFFF"/>
                </a:solidFill>
                <a:latin typeface="Aptos" pitchFamily="34" charset="0"/>
                <a:ea typeface="Aptos" pitchFamily="34" charset="-122"/>
                <a:cs typeface="Aptos" pitchFamily="34" charset="-120"/>
              </a:rPr>
              <a:t>Quantify</a:t>
            </a:r>
            <a:endParaRPr lang="en-US" sz="1050" dirty="0"/>
          </a:p>
        </p:txBody>
      </p:sp>
      <p:sp>
        <p:nvSpPr>
          <p:cNvPr id="12" name="Text 10"/>
          <p:cNvSpPr/>
          <p:nvPr/>
        </p:nvSpPr>
        <p:spPr>
          <a:xfrm>
            <a:off x="6606540" y="4836205"/>
            <a:ext cx="1325880" cy="457200"/>
          </a:xfrm>
          <a:prstGeom prst="rect">
            <a:avLst/>
          </a:prstGeom>
          <a:noFill/>
          <a:ln/>
        </p:spPr>
        <p:txBody>
          <a:bodyPr wrap="square" lIns="254" tIns="254" rIns="254" bIns="254" rtlCol="0" anchor="ctr">
            <a:normAutofit/>
          </a:bodyPr>
          <a:lstStyle/>
          <a:p>
            <a:pPr marL="0" indent="0" algn="ctr">
              <a:buNone/>
            </a:pPr>
            <a:r>
              <a:rPr lang="en-US" sz="950" dirty="0">
                <a:solidFill>
                  <a:srgbClr val="334155"/>
                </a:solidFill>
                <a:latin typeface="Aptos" pitchFamily="34" charset="0"/>
                <a:ea typeface="Aptos" pitchFamily="34" charset="-122"/>
                <a:cs typeface="Aptos" pitchFamily="34" charset="-120"/>
              </a:rPr>
              <a:t>payback threshold and validated assumptions</a:t>
            </a:r>
            <a:endParaRPr lang="en-US" sz="950" dirty="0"/>
          </a:p>
        </p:txBody>
      </p:sp>
      <p:sp>
        <p:nvSpPr>
          <p:cNvPr id="13" name="Text 11"/>
          <p:cNvSpPr/>
          <p:nvPr/>
        </p:nvSpPr>
        <p:spPr>
          <a:xfrm>
            <a:off x="9166860" y="4424725"/>
            <a:ext cx="1051560" cy="310896"/>
          </a:xfrm>
          <a:prstGeom prst="rect">
            <a:avLst/>
          </a:prstGeom>
          <a:solidFill>
            <a:srgbClr val="0F172A"/>
          </a:solidFill>
          <a:ln>
            <a:solidFill>
              <a:srgbClr val="0F172A"/>
            </a:solidFill>
          </a:ln>
        </p:spPr>
        <p:txBody>
          <a:bodyPr wrap="square" lIns="254" tIns="254" rIns="254" bIns="254" rtlCol="0" anchor="ctr"/>
          <a:lstStyle/>
          <a:p>
            <a:pPr marL="0" indent="0" algn="ctr">
              <a:buNone/>
            </a:pPr>
            <a:r>
              <a:rPr lang="en-US" sz="1050" b="1" dirty="0">
                <a:solidFill>
                  <a:srgbClr val="FFFFFF"/>
                </a:solidFill>
                <a:latin typeface="Aptos" pitchFamily="34" charset="0"/>
                <a:ea typeface="Aptos" pitchFamily="34" charset="-122"/>
                <a:cs typeface="Aptos" pitchFamily="34" charset="-120"/>
              </a:rPr>
              <a:t>Advance</a:t>
            </a:r>
            <a:endParaRPr lang="en-US" sz="1050" dirty="0"/>
          </a:p>
        </p:txBody>
      </p:sp>
      <p:sp>
        <p:nvSpPr>
          <p:cNvPr id="14" name="Text 12"/>
          <p:cNvSpPr/>
          <p:nvPr/>
        </p:nvSpPr>
        <p:spPr>
          <a:xfrm>
            <a:off x="9029700" y="4836205"/>
            <a:ext cx="1325880" cy="457200"/>
          </a:xfrm>
          <a:prstGeom prst="rect">
            <a:avLst/>
          </a:prstGeom>
          <a:noFill/>
          <a:ln/>
        </p:spPr>
        <p:txBody>
          <a:bodyPr wrap="square" lIns="254" tIns="254" rIns="254" bIns="254" rtlCol="0" anchor="ctr">
            <a:normAutofit/>
          </a:bodyPr>
          <a:lstStyle/>
          <a:p>
            <a:pPr marL="0" indent="0" algn="ctr">
              <a:buNone/>
            </a:pPr>
            <a:r>
              <a:rPr lang="en-US" sz="950" dirty="0">
                <a:solidFill>
                  <a:srgbClr val="334155"/>
                </a:solidFill>
                <a:latin typeface="Aptos" pitchFamily="34" charset="0"/>
                <a:ea typeface="Aptos" pitchFamily="34" charset="-122"/>
                <a:cs typeface="Aptos" pitchFamily="34" charset="-120"/>
              </a:rPr>
              <a:t>90-minute application review</a:t>
            </a:r>
            <a:endParaRPr lang="en-US" sz="950" dirty="0"/>
          </a:p>
        </p:txBody>
      </p:sp>
      <p:sp>
        <p:nvSpPr>
          <p:cNvPr id="15" name="Shape 13"/>
          <p:cNvSpPr/>
          <p:nvPr/>
        </p:nvSpPr>
        <p:spPr>
          <a:xfrm>
            <a:off x="502920" y="6473952"/>
            <a:ext cx="11155680" cy="0"/>
          </a:xfrm>
          <a:prstGeom prst="line">
            <a:avLst/>
          </a:prstGeom>
          <a:noFill/>
          <a:ln w="9525">
            <a:solidFill>
              <a:srgbClr val="334155">
                <a:alpha val="30000"/>
              </a:srgbClr>
            </a:solidFill>
            <a:prstDash val="solid"/>
          </a:ln>
        </p:spPr>
        <p:txBody>
          <a:bodyPr/>
          <a:lstStyle/>
          <a:p>
            <a:endParaRPr lang="en-US"/>
          </a:p>
        </p:txBody>
      </p:sp>
      <p:sp>
        <p:nvSpPr>
          <p:cNvPr id="16" name="Text 14"/>
          <p:cNvSpPr/>
          <p:nvPr/>
        </p:nvSpPr>
        <p:spPr>
          <a:xfrm>
            <a:off x="502920" y="6565392"/>
            <a:ext cx="5029200" cy="146304"/>
          </a:xfrm>
          <a:prstGeom prst="rect">
            <a:avLst/>
          </a:prstGeom>
          <a:noFill/>
          <a:ln/>
        </p:spPr>
        <p:txBody>
          <a:bodyPr wrap="square" rtlCol="0" anchor="ctr"/>
          <a:lstStyle/>
          <a:p>
            <a:pPr marL="0" indent="0">
              <a:buNone/>
            </a:pPr>
            <a:r>
              <a:rPr lang="en-US" sz="750" dirty="0">
                <a:solidFill>
                  <a:srgbClr val="334155"/>
                </a:solidFill>
                <a:latin typeface="Aptos" pitchFamily="34" charset="0"/>
                <a:ea typeface="Aptos" pitchFamily="34" charset="-122"/>
                <a:cs typeface="Aptos" pitchFamily="34" charset="-120"/>
              </a:rPr>
              <a:t>Beyond the Robot</a:t>
            </a:r>
            <a:endParaRPr lang="en-US" sz="750" dirty="0"/>
          </a:p>
        </p:txBody>
      </p:sp>
      <p:sp>
        <p:nvSpPr>
          <p:cNvPr id="17" name="Text 15"/>
          <p:cNvSpPr/>
          <p:nvPr/>
        </p:nvSpPr>
        <p:spPr>
          <a:xfrm>
            <a:off x="11018520" y="6565392"/>
            <a:ext cx="640080" cy="146304"/>
          </a:xfrm>
          <a:prstGeom prst="rect">
            <a:avLst/>
          </a:prstGeom>
          <a:noFill/>
          <a:ln/>
        </p:spPr>
        <p:txBody>
          <a:bodyPr wrap="square" rtlCol="0" anchor="ctr"/>
          <a:lstStyle/>
          <a:p>
            <a:pPr marL="0" indent="0" algn="r">
              <a:buNone/>
            </a:pPr>
            <a:r>
              <a:rPr lang="en-US" sz="750" dirty="0">
                <a:solidFill>
                  <a:srgbClr val="334155"/>
                </a:solidFill>
                <a:latin typeface="Aptos" pitchFamily="34" charset="0"/>
                <a:ea typeface="Aptos" pitchFamily="34" charset="-122"/>
                <a:cs typeface="Aptos" pitchFamily="34" charset="-120"/>
              </a:rPr>
              <a:t>16</a:t>
            </a:r>
            <a:endParaRPr lang="en-US" sz="750" dirty="0"/>
          </a:p>
        </p:txBody>
      </p:sp>
      <mc:AlternateContent xmlns:mc="http://schemas.openxmlformats.org/markup-compatibility/2006">
        <mc:Choice xmlns:pslz="http://schemas.microsoft.com/office/powerpoint/2016/slidezoom" Requires="pslz">
          <p:graphicFrame>
            <p:nvGraphicFramePr>
              <p:cNvPr id="19" name="Slide Zoom 18">
                <a:extLst>
                  <a:ext uri="{FF2B5EF4-FFF2-40B4-BE49-F238E27FC236}">
                    <a16:creationId xmlns:a16="http://schemas.microsoft.com/office/drawing/2014/main" id="{CA282158-BD39-5C36-78A1-ED918951EAE8}"/>
                  </a:ext>
                </a:extLst>
              </p:cNvPr>
              <p:cNvGraphicFramePr>
                <a:graphicFrameLocks noChangeAspect="1"/>
              </p:cNvGraphicFramePr>
              <p:nvPr>
                <p:extLst>
                  <p:ext uri="{D42A27DB-BD31-4B8C-83A1-F6EECF244321}">
                    <p14:modId xmlns:p14="http://schemas.microsoft.com/office/powerpoint/2010/main" val="1793844602"/>
                  </p:ext>
                </p:extLst>
              </p:nvPr>
            </p:nvGraphicFramePr>
            <p:xfrm>
              <a:off x="174952" y="5078802"/>
              <a:ext cx="3048000" cy="1714500"/>
            </p:xfrm>
            <a:graphic>
              <a:graphicData uri="http://schemas.microsoft.com/office/powerpoint/2016/slidezoom">
                <pslz:sldZm>
                  <pslz:sldZmObj sldId="271" cId="0">
                    <pslz:zmPr id="{B6B393B9-36AC-41DC-A8E4-9D5667359344}" returnToParent="0" transitionDur="1000">
                      <p166:blipFill xmlns:p166="http://schemas.microsoft.com/office/powerpoint/2016/6/main">
                        <a:blip r:embed="rId3"/>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p:pic>
            <p:nvPicPr>
              <p:cNvPr id="19" name="Slide Zoom 18">
                <a:hlinkClick r:id="rId4" action="ppaction://hlinksldjump"/>
                <a:extLst>
                  <a:ext uri="{FF2B5EF4-FFF2-40B4-BE49-F238E27FC236}">
                    <a16:creationId xmlns:a16="http://schemas.microsoft.com/office/drawing/2014/main" id="{CA282158-BD39-5C36-78A1-ED918951EAE8}"/>
                  </a:ext>
                </a:extLst>
              </p:cNvPr>
              <p:cNvPicPr>
                <a:picLocks noGrp="1" noRot="1" noChangeAspect="1" noMove="1" noResize="1" noEditPoints="1" noAdjustHandles="1" noChangeArrowheads="1" noChangeShapeType="1"/>
              </p:cNvPicPr>
              <p:nvPr/>
            </p:nvPicPr>
            <p:blipFill>
              <a:blip r:embed="rId3"/>
              <a:stretch>
                <a:fillRect/>
              </a:stretch>
            </p:blipFill>
            <p:spPr>
              <a:xfrm>
                <a:off x="174952" y="5078802"/>
                <a:ext cx="3048000" cy="1714500"/>
              </a:xfrm>
              <a:prstGeom prst="rect">
                <a:avLst/>
              </a:prstGeom>
              <a:ln w="3175">
                <a:solidFill>
                  <a:prstClr val="ltGray"/>
                </a:solidFill>
              </a:ln>
            </p:spPr>
          </p:pic>
        </mc:Fallback>
      </mc:AlternateContent>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566928" y="329184"/>
            <a:ext cx="8046720" cy="402336"/>
          </a:xfrm>
          <a:prstGeom prst="rect">
            <a:avLst/>
          </a:prstGeom>
          <a:noFill/>
          <a:ln/>
        </p:spPr>
        <p:txBody>
          <a:bodyPr wrap="square" lIns="254" tIns="254" rIns="254" bIns="254" rtlCol="0" anchor="ctr">
            <a:normAutofit/>
          </a:bodyPr>
          <a:lstStyle/>
          <a:p>
            <a:pPr marL="0" indent="0">
              <a:buNone/>
            </a:pPr>
            <a:r>
              <a:rPr lang="en-US" sz="2700" b="1" dirty="0">
                <a:solidFill>
                  <a:srgbClr val="FFFFFF"/>
                </a:solidFill>
                <a:latin typeface="Aptos Display" pitchFamily="34" charset="0"/>
                <a:ea typeface="Aptos Display" pitchFamily="34" charset="-122"/>
                <a:cs typeface="Aptos Display" pitchFamily="34" charset="-120"/>
              </a:rPr>
              <a:t>Takeaways</a:t>
            </a:r>
            <a:endParaRPr lang="en-US" sz="2700" dirty="0"/>
          </a:p>
        </p:txBody>
      </p:sp>
      <p:sp>
        <p:nvSpPr>
          <p:cNvPr id="3" name="Text 1"/>
          <p:cNvSpPr/>
          <p:nvPr/>
        </p:nvSpPr>
        <p:spPr>
          <a:xfrm>
            <a:off x="585216" y="804672"/>
            <a:ext cx="8046720" cy="219456"/>
          </a:xfrm>
          <a:prstGeom prst="rect">
            <a:avLst/>
          </a:prstGeom>
          <a:noFill/>
          <a:ln/>
        </p:spPr>
        <p:txBody>
          <a:bodyPr wrap="square" lIns="127" tIns="127" rIns="127" bIns="127" rtlCol="0" anchor="ctr"/>
          <a:lstStyle/>
          <a:p>
            <a:pPr marL="0" indent="0">
              <a:buNone/>
            </a:pPr>
            <a:r>
              <a:rPr lang="en-US" sz="1150" dirty="0">
                <a:solidFill>
                  <a:srgbClr val="CBD5E1"/>
                </a:solidFill>
                <a:latin typeface="Aptos" pitchFamily="34" charset="0"/>
                <a:ea typeface="Aptos" pitchFamily="34" charset="-122"/>
                <a:cs typeface="Aptos" pitchFamily="34" charset="-120"/>
              </a:rPr>
              <a:t>The best automation seller protects the customer from premature product selection.</a:t>
            </a:r>
            <a:endParaRPr lang="en-US" sz="1150" dirty="0"/>
          </a:p>
        </p:txBody>
      </p:sp>
      <p:sp>
        <p:nvSpPr>
          <p:cNvPr id="4" name="Shape 2"/>
          <p:cNvSpPr/>
          <p:nvPr/>
        </p:nvSpPr>
        <p:spPr>
          <a:xfrm>
            <a:off x="566928" y="1078992"/>
            <a:ext cx="640080" cy="54864"/>
          </a:xfrm>
          <a:prstGeom prst="rect">
            <a:avLst/>
          </a:prstGeom>
          <a:solidFill>
            <a:srgbClr val="F97316"/>
          </a:solidFill>
          <a:ln w="12700">
            <a:solidFill>
              <a:srgbClr val="F97316"/>
            </a:solidFill>
            <a:prstDash val="solid"/>
          </a:ln>
        </p:spPr>
        <p:txBody>
          <a:bodyPr/>
          <a:lstStyle/>
          <a:p>
            <a:endParaRPr lang="en-US"/>
          </a:p>
        </p:txBody>
      </p:sp>
      <p:sp>
        <p:nvSpPr>
          <p:cNvPr id="5" name="Text 3"/>
          <p:cNvSpPr/>
          <p:nvPr/>
        </p:nvSpPr>
        <p:spPr>
          <a:xfrm>
            <a:off x="1051560" y="1645920"/>
            <a:ext cx="438912" cy="438912"/>
          </a:xfrm>
          <a:prstGeom prst="rect">
            <a:avLst/>
          </a:prstGeom>
          <a:solidFill>
            <a:srgbClr val="162034"/>
          </a:solidFill>
          <a:ln>
            <a:solidFill>
              <a:srgbClr val="475569"/>
            </a:solidFill>
          </a:ln>
        </p:spPr>
        <p:txBody>
          <a:bodyPr wrap="square" lIns="127" tIns="127" rIns="127" bIns="127" rtlCol="0" anchor="ctr"/>
          <a:lstStyle/>
          <a:p>
            <a:pPr marL="0" indent="0" algn="ctr">
              <a:buNone/>
            </a:pPr>
            <a:r>
              <a:rPr lang="en-US" sz="1700" b="1" dirty="0">
                <a:solidFill>
                  <a:srgbClr val="FFFFFF"/>
                </a:solidFill>
                <a:latin typeface="Aptos Display" pitchFamily="34" charset="0"/>
                <a:ea typeface="Aptos Display" pitchFamily="34" charset="-122"/>
                <a:cs typeface="Aptos Display" pitchFamily="34" charset="-120"/>
              </a:rPr>
              <a:t>1</a:t>
            </a:r>
            <a:endParaRPr lang="en-US" sz="1700" dirty="0"/>
          </a:p>
        </p:txBody>
      </p:sp>
      <p:sp>
        <p:nvSpPr>
          <p:cNvPr id="6" name="Text 4"/>
          <p:cNvSpPr/>
          <p:nvPr/>
        </p:nvSpPr>
        <p:spPr>
          <a:xfrm>
            <a:off x="1691640" y="1627632"/>
            <a:ext cx="3200400" cy="274320"/>
          </a:xfrm>
          <a:prstGeom prst="rect">
            <a:avLst/>
          </a:prstGeom>
          <a:noFill/>
          <a:ln/>
        </p:spPr>
        <p:txBody>
          <a:bodyPr wrap="square" lIns="127" tIns="127" rIns="127" bIns="127" rtlCol="0" anchor="ctr"/>
          <a:lstStyle/>
          <a:p>
            <a:pPr marL="0" indent="0">
              <a:buNone/>
            </a:pPr>
            <a:r>
              <a:rPr lang="en-US" sz="2000" b="1" dirty="0">
                <a:solidFill>
                  <a:srgbClr val="FFFFFF"/>
                </a:solidFill>
                <a:latin typeface="Aptos Display" pitchFamily="34" charset="0"/>
                <a:ea typeface="Aptos Display" pitchFamily="34" charset="-122"/>
                <a:cs typeface="Aptos Display" pitchFamily="34" charset="-120"/>
              </a:rPr>
              <a:t>Start with insight</a:t>
            </a:r>
            <a:endParaRPr lang="en-US" sz="2000" dirty="0"/>
          </a:p>
        </p:txBody>
      </p:sp>
      <p:sp>
        <p:nvSpPr>
          <p:cNvPr id="7" name="Text 5"/>
          <p:cNvSpPr/>
          <p:nvPr/>
        </p:nvSpPr>
        <p:spPr>
          <a:xfrm>
            <a:off x="1691640" y="1993392"/>
            <a:ext cx="8869680" cy="292608"/>
          </a:xfrm>
          <a:prstGeom prst="rect">
            <a:avLst/>
          </a:prstGeom>
          <a:noFill/>
          <a:ln/>
        </p:spPr>
        <p:txBody>
          <a:bodyPr wrap="square" lIns="127" tIns="127" rIns="127" bIns="127" rtlCol="0" anchor="ctr">
            <a:normAutofit/>
          </a:bodyPr>
          <a:lstStyle/>
          <a:p>
            <a:pPr marL="0" indent="0">
              <a:buNone/>
            </a:pPr>
            <a:r>
              <a:rPr lang="en-US" sz="1300" dirty="0">
                <a:solidFill>
                  <a:srgbClr val="CBD5E1"/>
                </a:solidFill>
                <a:latin typeface="Aptos" pitchFamily="34" charset="0"/>
                <a:ea typeface="Aptos" pitchFamily="34" charset="-122"/>
                <a:cs typeface="Aptos" pitchFamily="34" charset="-120"/>
              </a:rPr>
              <a:t>Teach the customer something useful about the decision they are about to make.</a:t>
            </a:r>
            <a:endParaRPr lang="en-US" sz="1300" dirty="0"/>
          </a:p>
        </p:txBody>
      </p:sp>
      <p:sp>
        <p:nvSpPr>
          <p:cNvPr id="8" name="Text 6"/>
          <p:cNvSpPr/>
          <p:nvPr/>
        </p:nvSpPr>
        <p:spPr>
          <a:xfrm>
            <a:off x="1051560" y="2606040"/>
            <a:ext cx="438912" cy="438912"/>
          </a:xfrm>
          <a:prstGeom prst="rect">
            <a:avLst/>
          </a:prstGeom>
          <a:solidFill>
            <a:srgbClr val="162034"/>
          </a:solidFill>
          <a:ln>
            <a:solidFill>
              <a:srgbClr val="475569"/>
            </a:solidFill>
          </a:ln>
        </p:spPr>
        <p:txBody>
          <a:bodyPr wrap="square" lIns="127" tIns="127" rIns="127" bIns="127" rtlCol="0" anchor="ctr"/>
          <a:lstStyle/>
          <a:p>
            <a:pPr marL="0" indent="0" algn="ctr">
              <a:buNone/>
            </a:pPr>
            <a:r>
              <a:rPr lang="en-US" sz="1700" b="1" dirty="0">
                <a:solidFill>
                  <a:srgbClr val="FFFFFF"/>
                </a:solidFill>
                <a:latin typeface="Aptos Display" pitchFamily="34" charset="0"/>
                <a:ea typeface="Aptos Display" pitchFamily="34" charset="-122"/>
                <a:cs typeface="Aptos Display" pitchFamily="34" charset="-120"/>
              </a:rPr>
              <a:t>2</a:t>
            </a:r>
            <a:endParaRPr lang="en-US" sz="1700" dirty="0"/>
          </a:p>
        </p:txBody>
      </p:sp>
      <p:sp>
        <p:nvSpPr>
          <p:cNvPr id="9" name="Text 7"/>
          <p:cNvSpPr/>
          <p:nvPr/>
        </p:nvSpPr>
        <p:spPr>
          <a:xfrm>
            <a:off x="1691640" y="2587752"/>
            <a:ext cx="3200400" cy="274320"/>
          </a:xfrm>
          <a:prstGeom prst="rect">
            <a:avLst/>
          </a:prstGeom>
          <a:noFill/>
          <a:ln/>
        </p:spPr>
        <p:txBody>
          <a:bodyPr wrap="square" lIns="127" tIns="127" rIns="127" bIns="127" rtlCol="0" anchor="ctr"/>
          <a:lstStyle/>
          <a:p>
            <a:pPr marL="0" indent="0">
              <a:buNone/>
            </a:pPr>
            <a:r>
              <a:rPr lang="en-US" sz="2000" b="1" dirty="0">
                <a:solidFill>
                  <a:srgbClr val="FFFFFF"/>
                </a:solidFill>
                <a:latin typeface="Aptos Display" pitchFamily="34" charset="0"/>
                <a:ea typeface="Aptos Display" pitchFamily="34" charset="-122"/>
                <a:cs typeface="Aptos Display" pitchFamily="34" charset="-120"/>
              </a:rPr>
              <a:t>Earn the specs</a:t>
            </a:r>
            <a:endParaRPr lang="en-US" sz="2000" dirty="0"/>
          </a:p>
        </p:txBody>
      </p:sp>
      <p:sp>
        <p:nvSpPr>
          <p:cNvPr id="10" name="Text 8"/>
          <p:cNvSpPr/>
          <p:nvPr/>
        </p:nvSpPr>
        <p:spPr>
          <a:xfrm>
            <a:off x="1691640" y="2953512"/>
            <a:ext cx="8869680" cy="292608"/>
          </a:xfrm>
          <a:prstGeom prst="rect">
            <a:avLst/>
          </a:prstGeom>
          <a:noFill/>
          <a:ln/>
        </p:spPr>
        <p:txBody>
          <a:bodyPr wrap="square" lIns="127" tIns="127" rIns="127" bIns="127" rtlCol="0" anchor="ctr">
            <a:normAutofit/>
          </a:bodyPr>
          <a:lstStyle/>
          <a:p>
            <a:pPr marL="0" indent="0">
              <a:buNone/>
            </a:pPr>
            <a:r>
              <a:rPr lang="en-US" sz="1300" dirty="0">
                <a:solidFill>
                  <a:srgbClr val="CBD5E1"/>
                </a:solidFill>
                <a:latin typeface="Aptos" pitchFamily="34" charset="0"/>
                <a:ea typeface="Aptos" pitchFamily="34" charset="-122"/>
                <a:cs typeface="Aptos" pitchFamily="34" charset="-120"/>
              </a:rPr>
              <a:t>Use discovery to prove which specifications matter and why.</a:t>
            </a:r>
            <a:endParaRPr lang="en-US" sz="1300" dirty="0"/>
          </a:p>
        </p:txBody>
      </p:sp>
      <p:sp>
        <p:nvSpPr>
          <p:cNvPr id="11" name="Text 9"/>
          <p:cNvSpPr/>
          <p:nvPr/>
        </p:nvSpPr>
        <p:spPr>
          <a:xfrm>
            <a:off x="1051560" y="3566160"/>
            <a:ext cx="438912" cy="438912"/>
          </a:xfrm>
          <a:prstGeom prst="rect">
            <a:avLst/>
          </a:prstGeom>
          <a:solidFill>
            <a:srgbClr val="162034"/>
          </a:solidFill>
          <a:ln>
            <a:solidFill>
              <a:srgbClr val="475569"/>
            </a:solidFill>
          </a:ln>
        </p:spPr>
        <p:txBody>
          <a:bodyPr wrap="square" lIns="127" tIns="127" rIns="127" bIns="127" rtlCol="0" anchor="ctr"/>
          <a:lstStyle/>
          <a:p>
            <a:pPr marL="0" indent="0" algn="ctr">
              <a:buNone/>
            </a:pPr>
            <a:r>
              <a:rPr lang="en-US" sz="1700" b="1" dirty="0">
                <a:solidFill>
                  <a:srgbClr val="FFFFFF"/>
                </a:solidFill>
                <a:latin typeface="Aptos Display" pitchFamily="34" charset="0"/>
                <a:ea typeface="Aptos Display" pitchFamily="34" charset="-122"/>
                <a:cs typeface="Aptos Display" pitchFamily="34" charset="-120"/>
              </a:rPr>
              <a:t>3</a:t>
            </a:r>
            <a:endParaRPr lang="en-US" sz="1700" dirty="0"/>
          </a:p>
        </p:txBody>
      </p:sp>
      <p:sp>
        <p:nvSpPr>
          <p:cNvPr id="12" name="Text 10"/>
          <p:cNvSpPr/>
          <p:nvPr/>
        </p:nvSpPr>
        <p:spPr>
          <a:xfrm>
            <a:off x="1691640" y="3547872"/>
            <a:ext cx="3200400" cy="274320"/>
          </a:xfrm>
          <a:prstGeom prst="rect">
            <a:avLst/>
          </a:prstGeom>
          <a:noFill/>
          <a:ln/>
        </p:spPr>
        <p:txBody>
          <a:bodyPr wrap="square" lIns="127" tIns="127" rIns="127" bIns="127" rtlCol="0" anchor="ctr"/>
          <a:lstStyle/>
          <a:p>
            <a:pPr marL="0" indent="0">
              <a:buNone/>
            </a:pPr>
            <a:r>
              <a:rPr lang="en-US" sz="2000" b="1" dirty="0">
                <a:solidFill>
                  <a:srgbClr val="FFFFFF"/>
                </a:solidFill>
                <a:latin typeface="Aptos Display" pitchFamily="34" charset="0"/>
                <a:ea typeface="Aptos Display" pitchFamily="34" charset="-122"/>
                <a:cs typeface="Aptos Display" pitchFamily="34" charset="-120"/>
              </a:rPr>
              <a:t>Quantify responsibly</a:t>
            </a:r>
            <a:endParaRPr lang="en-US" sz="2000" dirty="0"/>
          </a:p>
        </p:txBody>
      </p:sp>
      <p:sp>
        <p:nvSpPr>
          <p:cNvPr id="13" name="Text 11"/>
          <p:cNvSpPr/>
          <p:nvPr/>
        </p:nvSpPr>
        <p:spPr>
          <a:xfrm>
            <a:off x="1691640" y="3913632"/>
            <a:ext cx="8869680" cy="292608"/>
          </a:xfrm>
          <a:prstGeom prst="rect">
            <a:avLst/>
          </a:prstGeom>
          <a:noFill/>
          <a:ln/>
        </p:spPr>
        <p:txBody>
          <a:bodyPr wrap="square" lIns="127" tIns="127" rIns="127" bIns="127" rtlCol="0" anchor="ctr">
            <a:normAutofit/>
          </a:bodyPr>
          <a:lstStyle/>
          <a:p>
            <a:pPr marL="0" indent="0">
              <a:buNone/>
            </a:pPr>
            <a:r>
              <a:rPr lang="en-US" sz="1300" dirty="0">
                <a:solidFill>
                  <a:srgbClr val="CBD5E1"/>
                </a:solidFill>
                <a:latin typeface="Aptos" pitchFamily="34" charset="0"/>
                <a:ea typeface="Aptos" pitchFamily="34" charset="-122"/>
                <a:cs typeface="Aptos" pitchFamily="34" charset="-120"/>
              </a:rPr>
              <a:t>Tie the business case to validated assumptions and ranges.</a:t>
            </a:r>
            <a:endParaRPr lang="en-US" sz="1300" dirty="0"/>
          </a:p>
        </p:txBody>
      </p:sp>
      <p:sp>
        <p:nvSpPr>
          <p:cNvPr id="14" name="Text 12"/>
          <p:cNvSpPr/>
          <p:nvPr/>
        </p:nvSpPr>
        <p:spPr>
          <a:xfrm>
            <a:off x="1051560" y="4526280"/>
            <a:ext cx="438912" cy="438912"/>
          </a:xfrm>
          <a:prstGeom prst="rect">
            <a:avLst/>
          </a:prstGeom>
          <a:solidFill>
            <a:srgbClr val="162034"/>
          </a:solidFill>
          <a:ln>
            <a:solidFill>
              <a:srgbClr val="475569"/>
            </a:solidFill>
          </a:ln>
        </p:spPr>
        <p:txBody>
          <a:bodyPr wrap="square" lIns="127" tIns="127" rIns="127" bIns="127" rtlCol="0" anchor="ctr"/>
          <a:lstStyle/>
          <a:p>
            <a:pPr marL="0" indent="0" algn="ctr">
              <a:buNone/>
            </a:pPr>
            <a:r>
              <a:rPr lang="en-US" sz="1700" b="1" dirty="0">
                <a:solidFill>
                  <a:srgbClr val="FFFFFF"/>
                </a:solidFill>
                <a:latin typeface="Aptos Display" pitchFamily="34" charset="0"/>
                <a:ea typeface="Aptos Display" pitchFamily="34" charset="-122"/>
                <a:cs typeface="Aptos Display" pitchFamily="34" charset="-120"/>
              </a:rPr>
              <a:t>4</a:t>
            </a:r>
            <a:endParaRPr lang="en-US" sz="1700" dirty="0"/>
          </a:p>
        </p:txBody>
      </p:sp>
      <p:sp>
        <p:nvSpPr>
          <p:cNvPr id="15" name="Text 13"/>
          <p:cNvSpPr/>
          <p:nvPr/>
        </p:nvSpPr>
        <p:spPr>
          <a:xfrm>
            <a:off x="1691640" y="4507992"/>
            <a:ext cx="3200400" cy="274320"/>
          </a:xfrm>
          <a:prstGeom prst="rect">
            <a:avLst/>
          </a:prstGeom>
          <a:noFill/>
          <a:ln/>
        </p:spPr>
        <p:txBody>
          <a:bodyPr wrap="square" lIns="127" tIns="127" rIns="127" bIns="127" rtlCol="0" anchor="ctr"/>
          <a:lstStyle/>
          <a:p>
            <a:pPr marL="0" indent="0">
              <a:buNone/>
            </a:pPr>
            <a:r>
              <a:rPr lang="en-US" sz="2000" b="1" dirty="0">
                <a:solidFill>
                  <a:srgbClr val="FFFFFF"/>
                </a:solidFill>
                <a:latin typeface="Aptos Display" pitchFamily="34" charset="0"/>
                <a:ea typeface="Aptos Display" pitchFamily="34" charset="-122"/>
                <a:cs typeface="Aptos Display" pitchFamily="34" charset="-120"/>
              </a:rPr>
              <a:t>Guide the next step</a:t>
            </a:r>
            <a:endParaRPr lang="en-US" sz="2000" dirty="0"/>
          </a:p>
        </p:txBody>
      </p:sp>
      <p:sp>
        <p:nvSpPr>
          <p:cNvPr id="16" name="Text 14"/>
          <p:cNvSpPr/>
          <p:nvPr/>
        </p:nvSpPr>
        <p:spPr>
          <a:xfrm>
            <a:off x="1691640" y="4873752"/>
            <a:ext cx="8869680" cy="292608"/>
          </a:xfrm>
          <a:prstGeom prst="rect">
            <a:avLst/>
          </a:prstGeom>
          <a:noFill/>
          <a:ln/>
        </p:spPr>
        <p:txBody>
          <a:bodyPr wrap="square" lIns="127" tIns="127" rIns="127" bIns="127" rtlCol="0" anchor="ctr">
            <a:normAutofit/>
          </a:bodyPr>
          <a:lstStyle/>
          <a:p>
            <a:pPr marL="0" indent="0">
              <a:buNone/>
            </a:pPr>
            <a:r>
              <a:rPr lang="en-US" sz="1300" dirty="0">
                <a:solidFill>
                  <a:srgbClr val="CBD5E1"/>
                </a:solidFill>
                <a:latin typeface="Aptos" pitchFamily="34" charset="0"/>
                <a:ea typeface="Aptos" pitchFamily="34" charset="-122"/>
                <a:cs typeface="Aptos" pitchFamily="34" charset="-120"/>
              </a:rPr>
              <a:t>Move the opportunity toward technical validation, not just a quote.</a:t>
            </a:r>
            <a:endParaRPr lang="en-US" sz="1300" dirty="0"/>
          </a:p>
        </p:txBody>
      </p:sp>
      <p:sp>
        <p:nvSpPr>
          <p:cNvPr id="17" name="Text 15"/>
          <p:cNvSpPr/>
          <p:nvPr/>
        </p:nvSpPr>
        <p:spPr>
          <a:xfrm>
            <a:off x="914400" y="5577840"/>
            <a:ext cx="10424160" cy="402336"/>
          </a:xfrm>
          <a:prstGeom prst="rect">
            <a:avLst/>
          </a:prstGeom>
          <a:noFill/>
          <a:ln/>
        </p:spPr>
        <p:txBody>
          <a:bodyPr wrap="square" lIns="127" tIns="127" rIns="127" bIns="127" rtlCol="0" anchor="ctr"/>
          <a:lstStyle/>
          <a:p>
            <a:pPr marL="0" indent="0" algn="ctr">
              <a:buNone/>
            </a:pPr>
            <a:r>
              <a:rPr lang="en-US" sz="2500" b="1" dirty="0">
                <a:solidFill>
                  <a:srgbClr val="14B8A6"/>
                </a:solidFill>
                <a:latin typeface="Aptos Display" pitchFamily="34" charset="0"/>
                <a:ea typeface="Aptos Display" pitchFamily="34" charset="-122"/>
                <a:cs typeface="Aptos Display" pitchFamily="34" charset="-120"/>
              </a:rPr>
              <a:t>Automation Advisor = insight + diagnosis + value + momentum</a:t>
            </a:r>
            <a:endParaRPr lang="en-US" sz="2500" dirty="0"/>
          </a:p>
        </p:txBody>
      </p:sp>
      <p:sp>
        <p:nvSpPr>
          <p:cNvPr id="18" name="Shape 16"/>
          <p:cNvSpPr/>
          <p:nvPr/>
        </p:nvSpPr>
        <p:spPr>
          <a:xfrm>
            <a:off x="502920" y="6473952"/>
            <a:ext cx="11155680" cy="0"/>
          </a:xfrm>
          <a:prstGeom prst="line">
            <a:avLst/>
          </a:prstGeom>
          <a:noFill/>
          <a:ln w="9525">
            <a:solidFill>
              <a:srgbClr val="334155">
                <a:alpha val="30000"/>
              </a:srgbClr>
            </a:solidFill>
            <a:prstDash val="solid"/>
          </a:ln>
        </p:spPr>
        <p:txBody>
          <a:bodyPr/>
          <a:lstStyle/>
          <a:p>
            <a:endParaRPr lang="en-US"/>
          </a:p>
        </p:txBody>
      </p:sp>
      <p:sp>
        <p:nvSpPr>
          <p:cNvPr id="19" name="Text 17"/>
          <p:cNvSpPr/>
          <p:nvPr/>
        </p:nvSpPr>
        <p:spPr>
          <a:xfrm>
            <a:off x="502920" y="6565392"/>
            <a:ext cx="5029200" cy="146304"/>
          </a:xfrm>
          <a:prstGeom prst="rect">
            <a:avLst/>
          </a:prstGeom>
          <a:noFill/>
          <a:ln/>
        </p:spPr>
        <p:txBody>
          <a:bodyPr wrap="square" rtlCol="0" anchor="ctr"/>
          <a:lstStyle/>
          <a:p>
            <a:pPr marL="0" indent="0">
              <a:buNone/>
            </a:pPr>
            <a:r>
              <a:rPr lang="en-US" sz="750" dirty="0">
                <a:solidFill>
                  <a:srgbClr val="334155"/>
                </a:solidFill>
                <a:latin typeface="Aptos" pitchFamily="34" charset="0"/>
                <a:ea typeface="Aptos" pitchFamily="34" charset="-122"/>
                <a:cs typeface="Aptos" pitchFamily="34" charset="-120"/>
              </a:rPr>
              <a:t>Close</a:t>
            </a:r>
            <a:endParaRPr lang="en-US" sz="750" dirty="0"/>
          </a:p>
        </p:txBody>
      </p:sp>
      <p:sp>
        <p:nvSpPr>
          <p:cNvPr id="20" name="Text 18"/>
          <p:cNvSpPr/>
          <p:nvPr/>
        </p:nvSpPr>
        <p:spPr>
          <a:xfrm>
            <a:off x="11018520" y="6565392"/>
            <a:ext cx="640080" cy="146304"/>
          </a:xfrm>
          <a:prstGeom prst="rect">
            <a:avLst/>
          </a:prstGeom>
          <a:noFill/>
          <a:ln/>
        </p:spPr>
        <p:txBody>
          <a:bodyPr wrap="square" rtlCol="0" anchor="ctr"/>
          <a:lstStyle/>
          <a:p>
            <a:pPr marL="0" indent="0" algn="r">
              <a:buNone/>
            </a:pPr>
            <a:r>
              <a:rPr lang="en-US" sz="750" dirty="0">
                <a:solidFill>
                  <a:srgbClr val="334155"/>
                </a:solidFill>
                <a:latin typeface="Aptos" pitchFamily="34" charset="0"/>
                <a:ea typeface="Aptos" pitchFamily="34" charset="-122"/>
                <a:cs typeface="Aptos" pitchFamily="34" charset="-120"/>
              </a:rPr>
              <a:t>17</a:t>
            </a:r>
            <a:endParaRPr lang="en-US" sz="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8046720" cy="402336"/>
          </a:xfrm>
          <a:prstGeom prst="rect">
            <a:avLst/>
          </a:prstGeom>
          <a:noFill/>
          <a:ln/>
        </p:spPr>
        <p:txBody>
          <a:bodyPr wrap="square" lIns="254" tIns="254" rIns="254" bIns="254" rtlCol="0" anchor="ctr">
            <a:normAutofit/>
          </a:bodyPr>
          <a:lstStyle/>
          <a:p>
            <a:pPr marL="0" indent="0">
              <a:buNone/>
            </a:pPr>
            <a:r>
              <a:rPr lang="en-US" sz="2700" b="1" dirty="0">
                <a:solidFill>
                  <a:srgbClr val="111827"/>
                </a:solidFill>
                <a:latin typeface="Aptos Display" pitchFamily="34" charset="0"/>
                <a:ea typeface="Aptos Display" pitchFamily="34" charset="-122"/>
                <a:cs typeface="Aptos Display" pitchFamily="34" charset="-120"/>
              </a:rPr>
              <a:t>Appendix: 45-minute timing plan</a:t>
            </a:r>
            <a:endParaRPr lang="en-US" sz="2700" dirty="0"/>
          </a:p>
        </p:txBody>
      </p:sp>
      <p:sp>
        <p:nvSpPr>
          <p:cNvPr id="3" name="Text 1"/>
          <p:cNvSpPr/>
          <p:nvPr/>
        </p:nvSpPr>
        <p:spPr>
          <a:xfrm>
            <a:off x="585216" y="804672"/>
            <a:ext cx="8046720" cy="219456"/>
          </a:xfrm>
          <a:prstGeom prst="rect">
            <a:avLst/>
          </a:prstGeom>
          <a:noFill/>
          <a:ln/>
        </p:spPr>
        <p:txBody>
          <a:bodyPr wrap="square" lIns="127" tIns="127" rIns="127" bIns="127" rtlCol="0" anchor="ctr"/>
          <a:lstStyle/>
          <a:p>
            <a:pPr marL="0" indent="0">
              <a:buNone/>
            </a:pPr>
            <a:r>
              <a:rPr lang="en-US" sz="1150" dirty="0">
                <a:solidFill>
                  <a:srgbClr val="334155"/>
                </a:solidFill>
                <a:latin typeface="Aptos" pitchFamily="34" charset="0"/>
                <a:ea typeface="Aptos" pitchFamily="34" charset="-122"/>
                <a:cs typeface="Aptos" pitchFamily="34" charset="-120"/>
              </a:rPr>
              <a:t>Use as a facilitator reference slide or remove before presenting.</a:t>
            </a:r>
            <a:endParaRPr lang="en-US" sz="1150" dirty="0"/>
          </a:p>
        </p:txBody>
      </p:sp>
      <p:sp>
        <p:nvSpPr>
          <p:cNvPr id="4" name="Shape 2"/>
          <p:cNvSpPr/>
          <p:nvPr/>
        </p:nvSpPr>
        <p:spPr>
          <a:xfrm>
            <a:off x="566928" y="1078992"/>
            <a:ext cx="640080" cy="54864"/>
          </a:xfrm>
          <a:prstGeom prst="rect">
            <a:avLst/>
          </a:prstGeom>
          <a:solidFill>
            <a:srgbClr val="F97316"/>
          </a:solidFill>
          <a:ln w="12700">
            <a:solidFill>
              <a:srgbClr val="F97316"/>
            </a:solidFill>
            <a:prstDash val="solid"/>
          </a:ln>
        </p:spPr>
        <p:txBody>
          <a:bodyPr/>
          <a:lstStyle/>
          <a:p>
            <a:endParaRPr lang="en-US"/>
          </a:p>
        </p:txBody>
      </p:sp>
      <p:sp>
        <p:nvSpPr>
          <p:cNvPr id="5" name="Text 3"/>
          <p:cNvSpPr/>
          <p:nvPr/>
        </p:nvSpPr>
        <p:spPr>
          <a:xfrm>
            <a:off x="960120" y="1417320"/>
            <a:ext cx="685800" cy="274320"/>
          </a:xfrm>
          <a:prstGeom prst="rect">
            <a:avLst/>
          </a:prstGeom>
          <a:noFill/>
          <a:ln/>
        </p:spPr>
        <p:txBody>
          <a:bodyPr wrap="square" lIns="127" tIns="127" rIns="127" bIns="127" rtlCol="0" anchor="ctr"/>
          <a:lstStyle/>
          <a:p>
            <a:pPr marL="0" indent="0">
              <a:buNone/>
            </a:pPr>
            <a:r>
              <a:rPr lang="en-US" sz="1200" b="1" dirty="0">
                <a:solidFill>
                  <a:srgbClr val="F97316"/>
                </a:solidFill>
                <a:latin typeface="Aptos" pitchFamily="34" charset="0"/>
                <a:ea typeface="Aptos" pitchFamily="34" charset="-122"/>
                <a:cs typeface="Aptos" pitchFamily="34" charset="-120"/>
              </a:rPr>
              <a:t>0–3</a:t>
            </a:r>
            <a:endParaRPr lang="en-US" sz="1200" dirty="0"/>
          </a:p>
        </p:txBody>
      </p:sp>
      <p:sp>
        <p:nvSpPr>
          <p:cNvPr id="6" name="Text 4"/>
          <p:cNvSpPr/>
          <p:nvPr/>
        </p:nvSpPr>
        <p:spPr>
          <a:xfrm>
            <a:off x="1828800" y="1417320"/>
            <a:ext cx="8961120" cy="274320"/>
          </a:xfrm>
          <a:prstGeom prst="rect">
            <a:avLst/>
          </a:prstGeom>
          <a:noFill/>
          <a:ln/>
        </p:spPr>
        <p:txBody>
          <a:bodyPr wrap="square" lIns="127" tIns="127" rIns="127" bIns="127" rtlCol="0" anchor="ctr"/>
          <a:lstStyle/>
          <a:p>
            <a:pPr marL="0" indent="0">
              <a:buNone/>
            </a:pPr>
            <a:r>
              <a:rPr lang="en-US" sz="1250" dirty="0">
                <a:solidFill>
                  <a:srgbClr val="111827"/>
                </a:solidFill>
                <a:latin typeface="Aptos" pitchFamily="34" charset="0"/>
                <a:ea typeface="Aptos" pitchFamily="34" charset="-122"/>
                <a:cs typeface="Aptos" pitchFamily="34" charset="-120"/>
              </a:rPr>
              <a:t>Opening challenge</a:t>
            </a:r>
            <a:endParaRPr lang="en-US" sz="1250" dirty="0"/>
          </a:p>
        </p:txBody>
      </p:sp>
      <p:sp>
        <p:nvSpPr>
          <p:cNvPr id="7" name="Shape 5"/>
          <p:cNvSpPr/>
          <p:nvPr/>
        </p:nvSpPr>
        <p:spPr>
          <a:xfrm>
            <a:off x="914400" y="1764792"/>
            <a:ext cx="10241280" cy="0"/>
          </a:xfrm>
          <a:prstGeom prst="line">
            <a:avLst/>
          </a:prstGeom>
          <a:noFill/>
          <a:ln w="6350">
            <a:solidFill>
              <a:srgbClr val="E5E7EB"/>
            </a:solidFill>
            <a:prstDash val="solid"/>
          </a:ln>
        </p:spPr>
        <p:txBody>
          <a:bodyPr/>
          <a:lstStyle/>
          <a:p>
            <a:endParaRPr lang="en-US"/>
          </a:p>
        </p:txBody>
      </p:sp>
      <p:sp>
        <p:nvSpPr>
          <p:cNvPr id="8" name="Text 6"/>
          <p:cNvSpPr/>
          <p:nvPr/>
        </p:nvSpPr>
        <p:spPr>
          <a:xfrm>
            <a:off x="960120" y="1901952"/>
            <a:ext cx="685800" cy="274320"/>
          </a:xfrm>
          <a:prstGeom prst="rect">
            <a:avLst/>
          </a:prstGeom>
          <a:noFill/>
          <a:ln/>
        </p:spPr>
        <p:txBody>
          <a:bodyPr wrap="square" lIns="127" tIns="127" rIns="127" bIns="127" rtlCol="0" anchor="ctr"/>
          <a:lstStyle/>
          <a:p>
            <a:pPr marL="0" indent="0">
              <a:buNone/>
            </a:pPr>
            <a:r>
              <a:rPr lang="en-US" sz="1200" b="1" dirty="0">
                <a:solidFill>
                  <a:srgbClr val="F97316"/>
                </a:solidFill>
                <a:latin typeface="Aptos" pitchFamily="34" charset="0"/>
                <a:ea typeface="Aptos" pitchFamily="34" charset="-122"/>
                <a:cs typeface="Aptos" pitchFamily="34" charset="-120"/>
              </a:rPr>
              <a:t>3–7</a:t>
            </a:r>
            <a:endParaRPr lang="en-US" sz="1200" dirty="0"/>
          </a:p>
        </p:txBody>
      </p:sp>
      <p:sp>
        <p:nvSpPr>
          <p:cNvPr id="9" name="Text 7"/>
          <p:cNvSpPr/>
          <p:nvPr/>
        </p:nvSpPr>
        <p:spPr>
          <a:xfrm>
            <a:off x="1828800" y="1901952"/>
            <a:ext cx="8961120" cy="274320"/>
          </a:xfrm>
          <a:prstGeom prst="rect">
            <a:avLst/>
          </a:prstGeom>
          <a:noFill/>
          <a:ln/>
        </p:spPr>
        <p:txBody>
          <a:bodyPr wrap="square" lIns="127" tIns="127" rIns="127" bIns="127" rtlCol="0" anchor="ctr"/>
          <a:lstStyle/>
          <a:p>
            <a:pPr marL="0" indent="0">
              <a:buNone/>
            </a:pPr>
            <a:r>
              <a:rPr lang="en-US" sz="1250" dirty="0">
                <a:solidFill>
                  <a:srgbClr val="111827"/>
                </a:solidFill>
                <a:latin typeface="Aptos" pitchFamily="34" charset="0"/>
                <a:ea typeface="Aptos" pitchFamily="34" charset="-122"/>
                <a:cs typeface="Aptos" pitchFamily="34" charset="-120"/>
              </a:rPr>
              <a:t>What are we really selling?</a:t>
            </a:r>
            <a:endParaRPr lang="en-US" sz="1250" dirty="0"/>
          </a:p>
        </p:txBody>
      </p:sp>
      <p:sp>
        <p:nvSpPr>
          <p:cNvPr id="10" name="Shape 8"/>
          <p:cNvSpPr/>
          <p:nvPr/>
        </p:nvSpPr>
        <p:spPr>
          <a:xfrm>
            <a:off x="914400" y="2249424"/>
            <a:ext cx="10241280" cy="0"/>
          </a:xfrm>
          <a:prstGeom prst="line">
            <a:avLst/>
          </a:prstGeom>
          <a:noFill/>
          <a:ln w="6350">
            <a:solidFill>
              <a:srgbClr val="E5E7EB"/>
            </a:solidFill>
            <a:prstDash val="solid"/>
          </a:ln>
        </p:spPr>
        <p:txBody>
          <a:bodyPr/>
          <a:lstStyle/>
          <a:p>
            <a:endParaRPr lang="en-US"/>
          </a:p>
        </p:txBody>
      </p:sp>
      <p:sp>
        <p:nvSpPr>
          <p:cNvPr id="11" name="Text 9"/>
          <p:cNvSpPr/>
          <p:nvPr/>
        </p:nvSpPr>
        <p:spPr>
          <a:xfrm>
            <a:off x="960120" y="2386584"/>
            <a:ext cx="685800" cy="274320"/>
          </a:xfrm>
          <a:prstGeom prst="rect">
            <a:avLst/>
          </a:prstGeom>
          <a:noFill/>
          <a:ln/>
        </p:spPr>
        <p:txBody>
          <a:bodyPr wrap="square" lIns="127" tIns="127" rIns="127" bIns="127" rtlCol="0" anchor="ctr"/>
          <a:lstStyle/>
          <a:p>
            <a:pPr marL="0" indent="0">
              <a:buNone/>
            </a:pPr>
            <a:r>
              <a:rPr lang="en-US" sz="1200" b="1" dirty="0">
                <a:solidFill>
                  <a:srgbClr val="F97316"/>
                </a:solidFill>
                <a:latin typeface="Aptos" pitchFamily="34" charset="0"/>
                <a:ea typeface="Aptos" pitchFamily="34" charset="-122"/>
                <a:cs typeface="Aptos" pitchFamily="34" charset="-120"/>
              </a:rPr>
              <a:t>7–12</a:t>
            </a:r>
            <a:endParaRPr lang="en-US" sz="1200" dirty="0"/>
          </a:p>
        </p:txBody>
      </p:sp>
      <p:sp>
        <p:nvSpPr>
          <p:cNvPr id="12" name="Text 10"/>
          <p:cNvSpPr/>
          <p:nvPr/>
        </p:nvSpPr>
        <p:spPr>
          <a:xfrm>
            <a:off x="1828800" y="2386584"/>
            <a:ext cx="8961120" cy="274320"/>
          </a:xfrm>
          <a:prstGeom prst="rect">
            <a:avLst/>
          </a:prstGeom>
          <a:noFill/>
          <a:ln/>
        </p:spPr>
        <p:txBody>
          <a:bodyPr wrap="square" lIns="127" tIns="127" rIns="127" bIns="127" rtlCol="0" anchor="ctr"/>
          <a:lstStyle/>
          <a:p>
            <a:pPr marL="0" indent="0">
              <a:buNone/>
            </a:pPr>
            <a:r>
              <a:rPr lang="en-US" sz="1250" dirty="0">
                <a:solidFill>
                  <a:srgbClr val="111827"/>
                </a:solidFill>
                <a:latin typeface="Aptos" pitchFamily="34" charset="0"/>
                <a:ea typeface="Aptos" pitchFamily="34" charset="-122"/>
                <a:cs typeface="Aptos" pitchFamily="34" charset="-120"/>
              </a:rPr>
              <a:t>Feature vs. outcome selling</a:t>
            </a:r>
            <a:endParaRPr lang="en-US" sz="1250" dirty="0"/>
          </a:p>
        </p:txBody>
      </p:sp>
      <p:sp>
        <p:nvSpPr>
          <p:cNvPr id="13" name="Shape 11"/>
          <p:cNvSpPr/>
          <p:nvPr/>
        </p:nvSpPr>
        <p:spPr>
          <a:xfrm>
            <a:off x="914400" y="2734056"/>
            <a:ext cx="10241280" cy="0"/>
          </a:xfrm>
          <a:prstGeom prst="line">
            <a:avLst/>
          </a:prstGeom>
          <a:noFill/>
          <a:ln w="6350">
            <a:solidFill>
              <a:srgbClr val="E5E7EB"/>
            </a:solidFill>
            <a:prstDash val="solid"/>
          </a:ln>
        </p:spPr>
        <p:txBody>
          <a:bodyPr/>
          <a:lstStyle/>
          <a:p>
            <a:endParaRPr lang="en-US"/>
          </a:p>
        </p:txBody>
      </p:sp>
      <p:sp>
        <p:nvSpPr>
          <p:cNvPr id="14" name="Text 12"/>
          <p:cNvSpPr/>
          <p:nvPr/>
        </p:nvSpPr>
        <p:spPr>
          <a:xfrm>
            <a:off x="960120" y="2871216"/>
            <a:ext cx="685800" cy="274320"/>
          </a:xfrm>
          <a:prstGeom prst="rect">
            <a:avLst/>
          </a:prstGeom>
          <a:noFill/>
          <a:ln/>
        </p:spPr>
        <p:txBody>
          <a:bodyPr wrap="square" lIns="127" tIns="127" rIns="127" bIns="127" rtlCol="0" anchor="ctr"/>
          <a:lstStyle/>
          <a:p>
            <a:pPr marL="0" indent="0">
              <a:buNone/>
            </a:pPr>
            <a:r>
              <a:rPr lang="en-US" sz="1200" b="1" dirty="0">
                <a:solidFill>
                  <a:srgbClr val="F97316"/>
                </a:solidFill>
                <a:latin typeface="Aptos" pitchFamily="34" charset="0"/>
                <a:ea typeface="Aptos" pitchFamily="34" charset="-122"/>
                <a:cs typeface="Aptos" pitchFamily="34" charset="-120"/>
              </a:rPr>
              <a:t>12–18</a:t>
            </a:r>
            <a:endParaRPr lang="en-US" sz="1200" dirty="0"/>
          </a:p>
        </p:txBody>
      </p:sp>
      <p:sp>
        <p:nvSpPr>
          <p:cNvPr id="15" name="Text 13"/>
          <p:cNvSpPr/>
          <p:nvPr/>
        </p:nvSpPr>
        <p:spPr>
          <a:xfrm>
            <a:off x="1828800" y="2871216"/>
            <a:ext cx="8961120" cy="274320"/>
          </a:xfrm>
          <a:prstGeom prst="rect">
            <a:avLst/>
          </a:prstGeom>
          <a:noFill/>
          <a:ln/>
        </p:spPr>
        <p:txBody>
          <a:bodyPr wrap="square" lIns="127" tIns="127" rIns="127" bIns="127" rtlCol="0" anchor="ctr"/>
          <a:lstStyle/>
          <a:p>
            <a:pPr marL="0" indent="0">
              <a:buNone/>
            </a:pPr>
            <a:r>
              <a:rPr lang="en-US" sz="1250" dirty="0">
                <a:solidFill>
                  <a:srgbClr val="111827"/>
                </a:solidFill>
                <a:latin typeface="Aptos" pitchFamily="34" charset="0"/>
                <a:ea typeface="Aptos" pitchFamily="34" charset="-122"/>
                <a:cs typeface="Aptos" pitchFamily="34" charset="-120"/>
              </a:rPr>
              <a:t>Reframe + activity</a:t>
            </a:r>
            <a:endParaRPr lang="en-US" sz="1250" dirty="0"/>
          </a:p>
        </p:txBody>
      </p:sp>
      <p:sp>
        <p:nvSpPr>
          <p:cNvPr id="16" name="Shape 14"/>
          <p:cNvSpPr/>
          <p:nvPr/>
        </p:nvSpPr>
        <p:spPr>
          <a:xfrm>
            <a:off x="914400" y="3218688"/>
            <a:ext cx="10241280" cy="0"/>
          </a:xfrm>
          <a:prstGeom prst="line">
            <a:avLst/>
          </a:prstGeom>
          <a:noFill/>
          <a:ln w="6350">
            <a:solidFill>
              <a:srgbClr val="E5E7EB"/>
            </a:solidFill>
            <a:prstDash val="solid"/>
          </a:ln>
        </p:spPr>
        <p:txBody>
          <a:bodyPr/>
          <a:lstStyle/>
          <a:p>
            <a:endParaRPr lang="en-US"/>
          </a:p>
        </p:txBody>
      </p:sp>
      <p:sp>
        <p:nvSpPr>
          <p:cNvPr id="17" name="Text 15"/>
          <p:cNvSpPr/>
          <p:nvPr/>
        </p:nvSpPr>
        <p:spPr>
          <a:xfrm>
            <a:off x="960120" y="3355848"/>
            <a:ext cx="685800" cy="274320"/>
          </a:xfrm>
          <a:prstGeom prst="rect">
            <a:avLst/>
          </a:prstGeom>
          <a:noFill/>
          <a:ln/>
        </p:spPr>
        <p:txBody>
          <a:bodyPr wrap="square" lIns="127" tIns="127" rIns="127" bIns="127" rtlCol="0" anchor="ctr"/>
          <a:lstStyle/>
          <a:p>
            <a:pPr marL="0" indent="0">
              <a:buNone/>
            </a:pPr>
            <a:r>
              <a:rPr lang="en-US" sz="1200" b="1" dirty="0">
                <a:solidFill>
                  <a:srgbClr val="F97316"/>
                </a:solidFill>
                <a:latin typeface="Aptos" pitchFamily="34" charset="0"/>
                <a:ea typeface="Aptos" pitchFamily="34" charset="-122"/>
                <a:cs typeface="Aptos" pitchFamily="34" charset="-120"/>
              </a:rPr>
              <a:t>18–26</a:t>
            </a:r>
            <a:endParaRPr lang="en-US" sz="1200" dirty="0"/>
          </a:p>
        </p:txBody>
      </p:sp>
      <p:sp>
        <p:nvSpPr>
          <p:cNvPr id="18" name="Text 16"/>
          <p:cNvSpPr/>
          <p:nvPr/>
        </p:nvSpPr>
        <p:spPr>
          <a:xfrm>
            <a:off x="1828800" y="3355848"/>
            <a:ext cx="8961120" cy="274320"/>
          </a:xfrm>
          <a:prstGeom prst="rect">
            <a:avLst/>
          </a:prstGeom>
          <a:noFill/>
          <a:ln/>
        </p:spPr>
        <p:txBody>
          <a:bodyPr wrap="square" lIns="127" tIns="127" rIns="127" bIns="127" rtlCol="0" anchor="ctr"/>
          <a:lstStyle/>
          <a:p>
            <a:pPr marL="0" indent="0">
              <a:buNone/>
            </a:pPr>
            <a:r>
              <a:rPr lang="en-US" sz="1250" dirty="0">
                <a:solidFill>
                  <a:srgbClr val="111827"/>
                </a:solidFill>
                <a:latin typeface="Aptos" pitchFamily="34" charset="0"/>
                <a:ea typeface="Aptos" pitchFamily="34" charset="-122"/>
                <a:cs typeface="Aptos" pitchFamily="34" charset="-120"/>
              </a:rPr>
              <a:t>Diagnose + question sequencing</a:t>
            </a:r>
            <a:endParaRPr lang="en-US" sz="1250" dirty="0"/>
          </a:p>
        </p:txBody>
      </p:sp>
      <p:sp>
        <p:nvSpPr>
          <p:cNvPr id="19" name="Shape 17"/>
          <p:cNvSpPr/>
          <p:nvPr/>
        </p:nvSpPr>
        <p:spPr>
          <a:xfrm>
            <a:off x="914400" y="3703320"/>
            <a:ext cx="10241280" cy="0"/>
          </a:xfrm>
          <a:prstGeom prst="line">
            <a:avLst/>
          </a:prstGeom>
          <a:noFill/>
          <a:ln w="6350">
            <a:solidFill>
              <a:srgbClr val="E5E7EB"/>
            </a:solidFill>
            <a:prstDash val="solid"/>
          </a:ln>
        </p:spPr>
        <p:txBody>
          <a:bodyPr/>
          <a:lstStyle/>
          <a:p>
            <a:endParaRPr lang="en-US"/>
          </a:p>
        </p:txBody>
      </p:sp>
      <p:sp>
        <p:nvSpPr>
          <p:cNvPr id="20" name="Text 18"/>
          <p:cNvSpPr/>
          <p:nvPr/>
        </p:nvSpPr>
        <p:spPr>
          <a:xfrm>
            <a:off x="960120" y="3840480"/>
            <a:ext cx="685800" cy="274320"/>
          </a:xfrm>
          <a:prstGeom prst="rect">
            <a:avLst/>
          </a:prstGeom>
          <a:noFill/>
          <a:ln/>
        </p:spPr>
        <p:txBody>
          <a:bodyPr wrap="square" lIns="127" tIns="127" rIns="127" bIns="127" rtlCol="0" anchor="ctr"/>
          <a:lstStyle/>
          <a:p>
            <a:pPr marL="0" indent="0">
              <a:buNone/>
            </a:pPr>
            <a:r>
              <a:rPr lang="en-US" sz="1200" b="1" dirty="0">
                <a:solidFill>
                  <a:srgbClr val="F97316"/>
                </a:solidFill>
                <a:latin typeface="Aptos" pitchFamily="34" charset="0"/>
                <a:ea typeface="Aptos" pitchFamily="34" charset="-122"/>
                <a:cs typeface="Aptos" pitchFamily="34" charset="-120"/>
              </a:rPr>
              <a:t>26–32</a:t>
            </a:r>
            <a:endParaRPr lang="en-US" sz="1200" dirty="0"/>
          </a:p>
        </p:txBody>
      </p:sp>
      <p:sp>
        <p:nvSpPr>
          <p:cNvPr id="21" name="Text 19"/>
          <p:cNvSpPr/>
          <p:nvPr/>
        </p:nvSpPr>
        <p:spPr>
          <a:xfrm>
            <a:off x="1828800" y="3840480"/>
            <a:ext cx="8961120" cy="274320"/>
          </a:xfrm>
          <a:prstGeom prst="rect">
            <a:avLst/>
          </a:prstGeom>
          <a:noFill/>
          <a:ln/>
        </p:spPr>
        <p:txBody>
          <a:bodyPr wrap="square" lIns="127" tIns="127" rIns="127" bIns="127" rtlCol="0" anchor="ctr"/>
          <a:lstStyle/>
          <a:p>
            <a:pPr marL="0" indent="0">
              <a:buNone/>
            </a:pPr>
            <a:r>
              <a:rPr lang="en-US" sz="1250" dirty="0">
                <a:solidFill>
                  <a:srgbClr val="111827"/>
                </a:solidFill>
                <a:latin typeface="Aptos" pitchFamily="34" charset="0"/>
                <a:ea typeface="Aptos" pitchFamily="34" charset="-122"/>
                <a:cs typeface="Aptos" pitchFamily="34" charset="-120"/>
              </a:rPr>
              <a:t>Quantify value</a:t>
            </a:r>
            <a:endParaRPr lang="en-US" sz="1250" dirty="0"/>
          </a:p>
        </p:txBody>
      </p:sp>
      <p:sp>
        <p:nvSpPr>
          <p:cNvPr id="22" name="Shape 20"/>
          <p:cNvSpPr/>
          <p:nvPr/>
        </p:nvSpPr>
        <p:spPr>
          <a:xfrm>
            <a:off x="914400" y="4187952"/>
            <a:ext cx="10241280" cy="0"/>
          </a:xfrm>
          <a:prstGeom prst="line">
            <a:avLst/>
          </a:prstGeom>
          <a:noFill/>
          <a:ln w="6350">
            <a:solidFill>
              <a:srgbClr val="E5E7EB"/>
            </a:solidFill>
            <a:prstDash val="solid"/>
          </a:ln>
        </p:spPr>
        <p:txBody>
          <a:bodyPr/>
          <a:lstStyle/>
          <a:p>
            <a:endParaRPr lang="en-US"/>
          </a:p>
        </p:txBody>
      </p:sp>
      <p:sp>
        <p:nvSpPr>
          <p:cNvPr id="23" name="Text 21"/>
          <p:cNvSpPr/>
          <p:nvPr/>
        </p:nvSpPr>
        <p:spPr>
          <a:xfrm>
            <a:off x="960120" y="4325112"/>
            <a:ext cx="685800" cy="274320"/>
          </a:xfrm>
          <a:prstGeom prst="rect">
            <a:avLst/>
          </a:prstGeom>
          <a:noFill/>
          <a:ln/>
        </p:spPr>
        <p:txBody>
          <a:bodyPr wrap="square" lIns="127" tIns="127" rIns="127" bIns="127" rtlCol="0" anchor="ctr"/>
          <a:lstStyle/>
          <a:p>
            <a:pPr marL="0" indent="0">
              <a:buNone/>
            </a:pPr>
            <a:r>
              <a:rPr lang="en-US" sz="1200" b="1" dirty="0">
                <a:solidFill>
                  <a:srgbClr val="F97316"/>
                </a:solidFill>
                <a:latin typeface="Aptos" pitchFamily="34" charset="0"/>
                <a:ea typeface="Aptos" pitchFamily="34" charset="-122"/>
                <a:cs typeface="Aptos" pitchFamily="34" charset="-120"/>
              </a:rPr>
              <a:t>32–37</a:t>
            </a:r>
            <a:endParaRPr lang="en-US" sz="1200" dirty="0"/>
          </a:p>
        </p:txBody>
      </p:sp>
      <p:sp>
        <p:nvSpPr>
          <p:cNvPr id="24" name="Text 22"/>
          <p:cNvSpPr/>
          <p:nvPr/>
        </p:nvSpPr>
        <p:spPr>
          <a:xfrm>
            <a:off x="1828800" y="4325112"/>
            <a:ext cx="8961120" cy="274320"/>
          </a:xfrm>
          <a:prstGeom prst="rect">
            <a:avLst/>
          </a:prstGeom>
          <a:noFill/>
          <a:ln/>
        </p:spPr>
        <p:txBody>
          <a:bodyPr wrap="square" lIns="127" tIns="127" rIns="127" bIns="127" rtlCol="0" anchor="ctr"/>
          <a:lstStyle/>
          <a:p>
            <a:pPr marL="0" indent="0">
              <a:buNone/>
            </a:pPr>
            <a:r>
              <a:rPr lang="en-US" sz="1250" dirty="0">
                <a:solidFill>
                  <a:srgbClr val="111827"/>
                </a:solidFill>
                <a:latin typeface="Aptos" pitchFamily="34" charset="0"/>
                <a:ea typeface="Aptos" pitchFamily="34" charset="-122"/>
                <a:cs typeface="Aptos" pitchFamily="34" charset="-120"/>
              </a:rPr>
              <a:t>Tailor to stakeholders</a:t>
            </a:r>
            <a:endParaRPr lang="en-US" sz="1250" dirty="0"/>
          </a:p>
        </p:txBody>
      </p:sp>
      <p:sp>
        <p:nvSpPr>
          <p:cNvPr id="25" name="Shape 23"/>
          <p:cNvSpPr/>
          <p:nvPr/>
        </p:nvSpPr>
        <p:spPr>
          <a:xfrm>
            <a:off x="914400" y="4672584"/>
            <a:ext cx="10241280" cy="0"/>
          </a:xfrm>
          <a:prstGeom prst="line">
            <a:avLst/>
          </a:prstGeom>
          <a:noFill/>
          <a:ln w="6350">
            <a:solidFill>
              <a:srgbClr val="E5E7EB"/>
            </a:solidFill>
            <a:prstDash val="solid"/>
          </a:ln>
        </p:spPr>
        <p:txBody>
          <a:bodyPr/>
          <a:lstStyle/>
          <a:p>
            <a:endParaRPr lang="en-US"/>
          </a:p>
        </p:txBody>
      </p:sp>
      <p:sp>
        <p:nvSpPr>
          <p:cNvPr id="26" name="Text 24"/>
          <p:cNvSpPr/>
          <p:nvPr/>
        </p:nvSpPr>
        <p:spPr>
          <a:xfrm>
            <a:off x="960120" y="4809744"/>
            <a:ext cx="685800" cy="274320"/>
          </a:xfrm>
          <a:prstGeom prst="rect">
            <a:avLst/>
          </a:prstGeom>
          <a:noFill/>
          <a:ln/>
        </p:spPr>
        <p:txBody>
          <a:bodyPr wrap="square" lIns="127" tIns="127" rIns="127" bIns="127" rtlCol="0" anchor="ctr"/>
          <a:lstStyle/>
          <a:p>
            <a:pPr marL="0" indent="0">
              <a:buNone/>
            </a:pPr>
            <a:r>
              <a:rPr lang="en-US" sz="1200" b="1" dirty="0">
                <a:solidFill>
                  <a:srgbClr val="F97316"/>
                </a:solidFill>
                <a:latin typeface="Aptos" pitchFamily="34" charset="0"/>
                <a:ea typeface="Aptos" pitchFamily="34" charset="-122"/>
                <a:cs typeface="Aptos" pitchFamily="34" charset="-120"/>
              </a:rPr>
              <a:t>37–42</a:t>
            </a:r>
            <a:endParaRPr lang="en-US" sz="1200" dirty="0"/>
          </a:p>
        </p:txBody>
      </p:sp>
      <p:sp>
        <p:nvSpPr>
          <p:cNvPr id="27" name="Text 25"/>
          <p:cNvSpPr/>
          <p:nvPr/>
        </p:nvSpPr>
        <p:spPr>
          <a:xfrm>
            <a:off x="1828800" y="4809744"/>
            <a:ext cx="8961120" cy="274320"/>
          </a:xfrm>
          <a:prstGeom prst="rect">
            <a:avLst/>
          </a:prstGeom>
          <a:noFill/>
          <a:ln/>
        </p:spPr>
        <p:txBody>
          <a:bodyPr wrap="square" lIns="127" tIns="127" rIns="127" bIns="127" rtlCol="0" anchor="ctr"/>
          <a:lstStyle/>
          <a:p>
            <a:pPr marL="0" indent="0">
              <a:buNone/>
            </a:pPr>
            <a:r>
              <a:rPr lang="en-US" sz="1250" dirty="0">
                <a:solidFill>
                  <a:srgbClr val="111827"/>
                </a:solidFill>
                <a:latin typeface="Aptos" pitchFamily="34" charset="0"/>
                <a:ea typeface="Aptos" pitchFamily="34" charset="-122"/>
                <a:cs typeface="Aptos" pitchFamily="34" charset="-120"/>
              </a:rPr>
              <a:t>Advance the opportunity</a:t>
            </a:r>
            <a:endParaRPr lang="en-US" sz="1250" dirty="0"/>
          </a:p>
        </p:txBody>
      </p:sp>
      <p:sp>
        <p:nvSpPr>
          <p:cNvPr id="28" name="Shape 26"/>
          <p:cNvSpPr/>
          <p:nvPr/>
        </p:nvSpPr>
        <p:spPr>
          <a:xfrm>
            <a:off x="914400" y="5157216"/>
            <a:ext cx="10241280" cy="0"/>
          </a:xfrm>
          <a:prstGeom prst="line">
            <a:avLst/>
          </a:prstGeom>
          <a:noFill/>
          <a:ln w="6350">
            <a:solidFill>
              <a:srgbClr val="E5E7EB"/>
            </a:solidFill>
            <a:prstDash val="solid"/>
          </a:ln>
        </p:spPr>
        <p:txBody>
          <a:bodyPr/>
          <a:lstStyle/>
          <a:p>
            <a:endParaRPr lang="en-US"/>
          </a:p>
        </p:txBody>
      </p:sp>
      <p:sp>
        <p:nvSpPr>
          <p:cNvPr id="29" name="Text 27"/>
          <p:cNvSpPr/>
          <p:nvPr/>
        </p:nvSpPr>
        <p:spPr>
          <a:xfrm>
            <a:off x="960120" y="5294376"/>
            <a:ext cx="685800" cy="274320"/>
          </a:xfrm>
          <a:prstGeom prst="rect">
            <a:avLst/>
          </a:prstGeom>
          <a:noFill/>
          <a:ln/>
        </p:spPr>
        <p:txBody>
          <a:bodyPr wrap="square" lIns="127" tIns="127" rIns="127" bIns="127" rtlCol="0" anchor="ctr"/>
          <a:lstStyle/>
          <a:p>
            <a:pPr marL="0" indent="0">
              <a:buNone/>
            </a:pPr>
            <a:r>
              <a:rPr lang="en-US" sz="1200" b="1" dirty="0">
                <a:solidFill>
                  <a:srgbClr val="F97316"/>
                </a:solidFill>
                <a:latin typeface="Aptos" pitchFamily="34" charset="0"/>
                <a:ea typeface="Aptos" pitchFamily="34" charset="-122"/>
                <a:cs typeface="Aptos" pitchFamily="34" charset="-120"/>
              </a:rPr>
              <a:t>42–45</a:t>
            </a:r>
            <a:endParaRPr lang="en-US" sz="1200" dirty="0"/>
          </a:p>
        </p:txBody>
      </p:sp>
      <p:sp>
        <p:nvSpPr>
          <p:cNvPr id="30" name="Text 28"/>
          <p:cNvSpPr/>
          <p:nvPr/>
        </p:nvSpPr>
        <p:spPr>
          <a:xfrm>
            <a:off x="1828800" y="5294376"/>
            <a:ext cx="8961120" cy="274320"/>
          </a:xfrm>
          <a:prstGeom prst="rect">
            <a:avLst/>
          </a:prstGeom>
          <a:noFill/>
          <a:ln/>
        </p:spPr>
        <p:txBody>
          <a:bodyPr wrap="square" lIns="127" tIns="127" rIns="127" bIns="127" rtlCol="0" anchor="ctr"/>
          <a:lstStyle/>
          <a:p>
            <a:pPr marL="0" indent="0">
              <a:buNone/>
            </a:pPr>
            <a:r>
              <a:rPr lang="en-US" sz="1250" dirty="0">
                <a:solidFill>
                  <a:srgbClr val="111827"/>
                </a:solidFill>
                <a:latin typeface="Aptos" pitchFamily="34" charset="0"/>
                <a:ea typeface="Aptos" pitchFamily="34" charset="-122"/>
                <a:cs typeface="Aptos" pitchFamily="34" charset="-120"/>
              </a:rPr>
              <a:t>Final response + close</a:t>
            </a:r>
            <a:endParaRPr lang="en-US" sz="1250" dirty="0"/>
          </a:p>
        </p:txBody>
      </p:sp>
      <p:sp>
        <p:nvSpPr>
          <p:cNvPr id="31" name="Shape 29"/>
          <p:cNvSpPr/>
          <p:nvPr/>
        </p:nvSpPr>
        <p:spPr>
          <a:xfrm>
            <a:off x="914400" y="5641848"/>
            <a:ext cx="10241280" cy="0"/>
          </a:xfrm>
          <a:prstGeom prst="line">
            <a:avLst/>
          </a:prstGeom>
          <a:noFill/>
          <a:ln w="6350">
            <a:solidFill>
              <a:srgbClr val="E5E7EB"/>
            </a:solidFill>
            <a:prstDash val="solid"/>
          </a:ln>
        </p:spPr>
        <p:txBody>
          <a:bodyPr/>
          <a:lstStyle/>
          <a:p>
            <a:endParaRPr lang="en-US"/>
          </a:p>
        </p:txBody>
      </p:sp>
      <p:sp>
        <p:nvSpPr>
          <p:cNvPr id="32" name="Text 30"/>
          <p:cNvSpPr/>
          <p:nvPr/>
        </p:nvSpPr>
        <p:spPr>
          <a:xfrm>
            <a:off x="960120" y="5870448"/>
            <a:ext cx="9875520" cy="256032"/>
          </a:xfrm>
          <a:prstGeom prst="rect">
            <a:avLst/>
          </a:prstGeom>
          <a:noFill/>
          <a:ln/>
        </p:spPr>
        <p:txBody>
          <a:bodyPr wrap="square" lIns="127" tIns="127" rIns="127" bIns="127" rtlCol="0" anchor="ctr"/>
          <a:lstStyle/>
          <a:p>
            <a:pPr marL="0" indent="0">
              <a:buNone/>
            </a:pPr>
            <a:r>
              <a:rPr lang="en-US" sz="1200" dirty="0">
                <a:solidFill>
                  <a:srgbClr val="334155"/>
                </a:solidFill>
                <a:latin typeface="Aptos" pitchFamily="34" charset="0"/>
                <a:ea typeface="Aptos" pitchFamily="34" charset="-122"/>
                <a:cs typeface="Aptos" pitchFamily="34" charset="-120"/>
              </a:rPr>
              <a:t>Note: This deck includes speaker notes for facilitation cues.</a:t>
            </a:r>
            <a:endParaRPr lang="en-US" sz="1200" dirty="0"/>
          </a:p>
        </p:txBody>
      </p:sp>
      <p:sp>
        <p:nvSpPr>
          <p:cNvPr id="33" name="Shape 31"/>
          <p:cNvSpPr/>
          <p:nvPr/>
        </p:nvSpPr>
        <p:spPr>
          <a:xfrm>
            <a:off x="502920" y="6473952"/>
            <a:ext cx="11155680" cy="0"/>
          </a:xfrm>
          <a:prstGeom prst="line">
            <a:avLst/>
          </a:prstGeom>
          <a:noFill/>
          <a:ln w="9525">
            <a:solidFill>
              <a:srgbClr val="334155">
                <a:alpha val="30000"/>
              </a:srgbClr>
            </a:solidFill>
            <a:prstDash val="solid"/>
          </a:ln>
        </p:spPr>
        <p:txBody>
          <a:bodyPr/>
          <a:lstStyle/>
          <a:p>
            <a:endParaRPr lang="en-US"/>
          </a:p>
        </p:txBody>
      </p:sp>
      <p:sp>
        <p:nvSpPr>
          <p:cNvPr id="34" name="Text 32"/>
          <p:cNvSpPr/>
          <p:nvPr/>
        </p:nvSpPr>
        <p:spPr>
          <a:xfrm>
            <a:off x="502920" y="6565392"/>
            <a:ext cx="5029200" cy="146304"/>
          </a:xfrm>
          <a:prstGeom prst="rect">
            <a:avLst/>
          </a:prstGeom>
          <a:noFill/>
          <a:ln/>
        </p:spPr>
        <p:txBody>
          <a:bodyPr wrap="square" rtlCol="0" anchor="ctr"/>
          <a:lstStyle/>
          <a:p>
            <a:pPr marL="0" indent="0">
              <a:buNone/>
            </a:pPr>
            <a:r>
              <a:rPr lang="en-US" sz="750" dirty="0">
                <a:solidFill>
                  <a:srgbClr val="334155"/>
                </a:solidFill>
                <a:latin typeface="Aptos" pitchFamily="34" charset="0"/>
                <a:ea typeface="Aptos" pitchFamily="34" charset="-122"/>
                <a:cs typeface="Aptos" pitchFamily="34" charset="-120"/>
              </a:rPr>
              <a:t>Appendix</a:t>
            </a:r>
            <a:endParaRPr lang="en-US" sz="750" dirty="0"/>
          </a:p>
        </p:txBody>
      </p:sp>
      <p:sp>
        <p:nvSpPr>
          <p:cNvPr id="35" name="Text 33"/>
          <p:cNvSpPr/>
          <p:nvPr/>
        </p:nvSpPr>
        <p:spPr>
          <a:xfrm>
            <a:off x="11018520" y="6565392"/>
            <a:ext cx="640080" cy="146304"/>
          </a:xfrm>
          <a:prstGeom prst="rect">
            <a:avLst/>
          </a:prstGeom>
          <a:noFill/>
          <a:ln/>
        </p:spPr>
        <p:txBody>
          <a:bodyPr wrap="square" rtlCol="0" anchor="ctr"/>
          <a:lstStyle/>
          <a:p>
            <a:pPr marL="0" indent="0" algn="r">
              <a:buNone/>
            </a:pPr>
            <a:r>
              <a:rPr lang="en-US" sz="750" dirty="0">
                <a:solidFill>
                  <a:srgbClr val="334155"/>
                </a:solidFill>
                <a:latin typeface="Aptos" pitchFamily="34" charset="0"/>
                <a:ea typeface="Aptos" pitchFamily="34" charset="-122"/>
                <a:cs typeface="Aptos" pitchFamily="34" charset="-120"/>
              </a:rPr>
              <a:t>18</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TotalTime>
  <Words>2125</Words>
  <Application>Microsoft Office PowerPoint</Application>
  <PresentationFormat>Widescreen</PresentationFormat>
  <Paragraphs>366</Paragraphs>
  <Slides>18</Slides>
  <Notes>18</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Portfolio training concept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Beyond the Robot: Selling Industrial Automation as a Business Outcome</dc:title>
  <dc:subject>Industrial automation sales training</dc:subject>
  <dc:creator>OpenAI</dc:creator>
  <cp:lastModifiedBy>Luke Richardson</cp:lastModifiedBy>
  <cp:revision>2</cp:revision>
  <dcterms:created xsi:type="dcterms:W3CDTF">2026-06-21T21:03:44Z</dcterms:created>
  <dcterms:modified xsi:type="dcterms:W3CDTF">2026-06-21T21:38:09Z</dcterms:modified>
</cp:coreProperties>
</file>